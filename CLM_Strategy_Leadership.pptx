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B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926080"/>
            <a:ext cx="3200400" cy="2217420"/>
          </a:xfrm>
          <a:prstGeom prst="rect">
            <a:avLst/>
          </a:prstGeom>
          <a:solidFill>
            <a:srgbClr val="056DAE">
              <a:alpha val="30000"/>
            </a:srgbClr>
          </a:solidFill>
          <a:ln w="12700">
            <a:solidFill>
              <a:srgbClr val="056DAE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8942832" cy="91440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Lifecycle Management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347472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23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Strategy — VM &amp; Container Certificate Management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|  Production Release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389120"/>
            <a:ext cx="832104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56DAE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45312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Senior Leadership  ·  Platform Engineering  ·  Application Owners  ·  Support Teams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0972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Certificate Management Can't Be Manual Anymore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 for CLM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896112"/>
            <a:ext cx="2788920" cy="1920240"/>
          </a:xfrm>
          <a:prstGeom prst="rect">
            <a:avLst/>
          </a:prstGeom>
          <a:solidFill>
            <a:srgbClr val="FDE8EC"/>
          </a:solidFill>
          <a:ln w="12700">
            <a:solidFill>
              <a:srgbClr val="C810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896112"/>
            <a:ext cx="278892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058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51+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84048" y="18105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Incidents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21488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MIMs directly attributed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handling since 2019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36976" y="896112"/>
            <a:ext cx="2788920" cy="1920240"/>
          </a:xfrm>
          <a:prstGeom prst="rect">
            <a:avLst/>
          </a:prstGeom>
          <a:solidFill>
            <a:srgbClr val="FFF8E6"/>
          </a:solidFill>
          <a:ln w="12700">
            <a:solidFill>
              <a:srgbClr val="92650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36976" y="896112"/>
            <a:ext cx="2788920" cy="64008"/>
          </a:xfrm>
          <a:prstGeom prst="rect">
            <a:avLst/>
          </a:prstGeom>
          <a:solidFill>
            <a:srgbClr val="92650A"/>
          </a:solidFill>
          <a:ln w="12700">
            <a:solidFill>
              <a:srgbClr val="9265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8416" y="10058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2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328416" y="18105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Downtime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28416" y="21488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total downtime caused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certificate-related failures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81344" y="896112"/>
            <a:ext cx="2788920" cy="1920240"/>
          </a:xfrm>
          <a:prstGeom prst="rect">
            <a:avLst/>
          </a:prstGeom>
          <a:solidFill>
            <a:srgbClr val="EBF4FB"/>
          </a:solidFill>
          <a:ln w="12700">
            <a:solidFill>
              <a:srgbClr val="003B7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81344" y="896112"/>
            <a:ext cx="2788920" cy="64008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10058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272784" y="18105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RTO Limit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72784" y="21488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unscheduled downtime per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system per year (MAS mandate)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2608" y="2971800"/>
            <a:ext cx="4315968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92608" y="2971800"/>
            <a:ext cx="4315968" cy="38404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299008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— Manual Process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9768" y="3438144"/>
            <a:ext cx="40690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centralised certificate inventory across servers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Renewals owned by individuals — single point of failure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hand-offs create delays and missed renewals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reprimand already issued (Citi Singapore Limited cited)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18888" y="2971800"/>
            <a:ext cx="4315968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18888" y="2971800"/>
            <a:ext cx="4315968" cy="384048"/>
          </a:xfrm>
          <a:prstGeom prst="rect">
            <a:avLst/>
          </a:prstGeom>
          <a:solidFill>
            <a:srgbClr val="92650A"/>
          </a:solidFill>
          <a:ln w="12700">
            <a:solidFill>
              <a:srgbClr val="9265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28616" y="299008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if Unaddressed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56048" y="3438144"/>
            <a:ext cx="40690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service outages from certificate expiry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exposure — further MAS enforcement action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Reputational risk with customers and counterparties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cost of manual incident response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0972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'Ideal State' Look Like?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best practices for enterprise certificate lifecycle management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896112"/>
            <a:ext cx="2724912" cy="1901952"/>
          </a:xfrm>
          <a:prstGeom prst="rect">
            <a:avLst/>
          </a:prstGeom>
          <a:solidFill>
            <a:srgbClr val="EBF4FB"/>
          </a:solidFill>
          <a:ln w="6350">
            <a:solidFill>
              <a:srgbClr val="D6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896112"/>
            <a:ext cx="73152" cy="1901952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896112"/>
            <a:ext cx="2724912" cy="402336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97840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Full Visibility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" y="1399032"/>
            <a:ext cx="252374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Complete, real-time inventory of all certificates across all environments — VMs, containers, trust stores, and external parties.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896112"/>
            <a:ext cx="2724912" cy="1901952"/>
          </a:xfrm>
          <a:prstGeom prst="rect">
            <a:avLst/>
          </a:prstGeom>
          <a:solidFill>
            <a:srgbClr val="EBF4FB"/>
          </a:solidFill>
          <a:ln w="6350">
            <a:solidFill>
              <a:srgbClr val="D6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896112"/>
            <a:ext cx="73152" cy="1901952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896112"/>
            <a:ext cx="2724912" cy="402336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36976" y="97840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Zero-Touch Renewal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36976" y="1399032"/>
            <a:ext cx="252374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are renewed automatically before expiry. No human trigger required. SLA-bound processes with auto-escalation.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25312" y="896112"/>
            <a:ext cx="2724912" cy="1901952"/>
          </a:xfrm>
          <a:prstGeom prst="rect">
            <a:avLst/>
          </a:prstGeom>
          <a:solidFill>
            <a:srgbClr val="EBF4FB"/>
          </a:solidFill>
          <a:ln w="6350">
            <a:solidFill>
              <a:srgbClr val="D6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25312" y="896112"/>
            <a:ext cx="73152" cy="1901952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25312" y="896112"/>
            <a:ext cx="2724912" cy="402336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53328" y="97840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Impact Awareness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53328" y="1399032"/>
            <a:ext cx="252374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knows which applications, APIs, and downstream services consume each certificate. No blind spots during renewal.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2608" y="2889504"/>
            <a:ext cx="2724912" cy="1901952"/>
          </a:xfrm>
          <a:prstGeom prst="rect">
            <a:avLst/>
          </a:prstGeom>
          <a:solidFill>
            <a:srgbClr val="EBF4FB"/>
          </a:solidFill>
          <a:ln w="6350">
            <a:solidFill>
              <a:srgbClr val="D6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92608" y="2889504"/>
            <a:ext cx="73152" cy="1901952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" y="2889504"/>
            <a:ext cx="2724912" cy="402336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297180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Seamless Deployment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0624" y="3392424"/>
            <a:ext cx="252374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certificates deployed with zero downtime. Old and new certificates coexist during transition. Trust store integrity maintained.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08960" y="2889504"/>
            <a:ext cx="2724912" cy="1901952"/>
          </a:xfrm>
          <a:prstGeom prst="rect">
            <a:avLst/>
          </a:prstGeom>
          <a:solidFill>
            <a:srgbClr val="EBF4FB"/>
          </a:solidFill>
          <a:ln w="6350">
            <a:solidFill>
              <a:srgbClr val="D6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08960" y="2889504"/>
            <a:ext cx="73152" cy="1901952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08960" y="2889504"/>
            <a:ext cx="2724912" cy="402336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36976" y="297180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Full Audit &amp; Compliance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36976" y="3392424"/>
            <a:ext cx="252374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 with full context. Regulatory reporting ready. Change management integration for all deployments.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25312" y="2889504"/>
            <a:ext cx="2724912" cy="1901952"/>
          </a:xfrm>
          <a:prstGeom prst="rect">
            <a:avLst/>
          </a:prstGeom>
          <a:solidFill>
            <a:srgbClr val="EBF4FB"/>
          </a:solidFill>
          <a:ln w="6350">
            <a:solidFill>
              <a:srgbClr val="D6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25312" y="2889504"/>
            <a:ext cx="73152" cy="1901952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25312" y="2889504"/>
            <a:ext cx="2724912" cy="402336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53328" y="297180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Proactive Governance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53328" y="3392424"/>
            <a:ext cx="252374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escalation paths, stakeholder notifications, and centralised policy enforcement. No reactive fire-fighting.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0972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CLM Measures Against Ideal State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assessment — current capabilities and known gaps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896112"/>
            <a:ext cx="2487168" cy="329184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0525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34640" y="896112"/>
            <a:ext cx="1078992" cy="329184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9504" y="9052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77640" y="896112"/>
            <a:ext cx="1078992" cy="329184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32504" y="9052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20640" y="896112"/>
            <a:ext cx="1078992" cy="329184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75504" y="9052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Legend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896112"/>
            <a:ext cx="2651760" cy="329184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8504" y="90525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(VM / Container)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2608" y="1280160"/>
            <a:ext cx="8622792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1426464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Visibility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07792" y="1408176"/>
            <a:ext cx="932688" cy="292608"/>
          </a:xfrm>
          <a:prstGeom prst="rect">
            <a:avLst/>
          </a:prstGeom>
          <a:solidFill>
            <a:srgbClr val="EBF7EE"/>
          </a:solidFill>
          <a:ln w="12700">
            <a:solidFill>
              <a:srgbClr val="9AE6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07792" y="1408176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6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041648" y="1408176"/>
            <a:ext cx="932688" cy="292608"/>
          </a:xfrm>
          <a:prstGeom prst="rect">
            <a:avLst/>
          </a:prstGeom>
          <a:solidFill>
            <a:srgbClr val="EBF4FB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41648" y="1408176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193792" y="131673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VM: AutoScan across all VMs; Trust Store integration; Intelligent Grouping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193792" y="158191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Container: HashiCorp Vault discovery live; OpenShift Route scanning in progress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92608" y="1892808"/>
            <a:ext cx="8622792" cy="566928"/>
          </a:xfrm>
          <a:prstGeom prst="rect">
            <a:avLst/>
          </a:prstGeom>
          <a:solidFill>
            <a:srgbClr val="F5F8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03911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 Renewal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907792" y="2020824"/>
            <a:ext cx="932688" cy="292608"/>
          </a:xfrm>
          <a:prstGeom prst="rect">
            <a:avLst/>
          </a:prstGeom>
          <a:solidFill>
            <a:srgbClr val="EBF7EE"/>
          </a:solidFill>
          <a:ln w="12700">
            <a:solidFill>
              <a:srgbClr val="9AE6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07792" y="202082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6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041648" y="2020824"/>
            <a:ext cx="932688" cy="292608"/>
          </a:xfrm>
          <a:prstGeom prst="rect">
            <a:avLst/>
          </a:prstGeom>
          <a:solidFill>
            <a:srgbClr val="FFF8E6"/>
          </a:solidFill>
          <a:ln w="12700">
            <a:solidFill>
              <a:srgbClr val="FBD38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41648" y="202082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193792" y="192938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VM: 60-day SLA, auto-renewal for all MSPKI certs via Venafi + CMP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193792" y="219456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Container: CMP renewal automated; code update requires PR approval (not yet fully zero-touch)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92608" y="2505456"/>
            <a:ext cx="8622792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265176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Awareness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907792" y="2633472"/>
            <a:ext cx="932688" cy="292608"/>
          </a:xfrm>
          <a:prstGeom prst="rect">
            <a:avLst/>
          </a:prstGeom>
          <a:solidFill>
            <a:srgbClr val="FFF8E6"/>
          </a:solidFill>
          <a:ln w="12700">
            <a:solidFill>
              <a:srgbClr val="FBD38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07792" y="263347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041648" y="2633472"/>
            <a:ext cx="932688" cy="292608"/>
          </a:xfrm>
          <a:prstGeom prst="rect">
            <a:avLst/>
          </a:prstGeom>
          <a:solidFill>
            <a:srgbClr val="FFF8E6"/>
          </a:solidFill>
          <a:ln w="12700">
            <a:solidFill>
              <a:srgbClr val="FBD38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41648" y="263347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193792" y="254203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VM: AppD traffic analysis for downstream impact; Dual-path server scanning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193792" y="280720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Container: Bitbucket repo scanning for OrderID patterns; some manual repo onboarding needed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92608" y="3118104"/>
            <a:ext cx="8622792" cy="566928"/>
          </a:xfrm>
          <a:prstGeom prst="rect">
            <a:avLst/>
          </a:prstGeom>
          <a:solidFill>
            <a:srgbClr val="F5F8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3264408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Deployment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907792" y="3246120"/>
            <a:ext cx="932688" cy="292608"/>
          </a:xfrm>
          <a:prstGeom prst="rect">
            <a:avLst/>
          </a:prstGeom>
          <a:solidFill>
            <a:srgbClr val="FFF8E6"/>
          </a:solidFill>
          <a:ln w="12700">
            <a:solidFill>
              <a:srgbClr val="FBD38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07792" y="3246120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041648" y="3246120"/>
            <a:ext cx="932688" cy="292608"/>
          </a:xfrm>
          <a:prstGeom prst="rect">
            <a:avLst/>
          </a:prstGeom>
          <a:solidFill>
            <a:srgbClr val="EBF4FB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41648" y="3246120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193792" y="315468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VM: Automated via Ansible Tower; old cert staged (not full seamless coexistence yet)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193792" y="341985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Container: PR-based deployment — application team merges; OpenShift restart automation planned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92608" y="3730752"/>
            <a:ext cx="8622792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" y="3877056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Compliance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907792" y="3858768"/>
            <a:ext cx="932688" cy="292608"/>
          </a:xfrm>
          <a:prstGeom prst="rect">
            <a:avLst/>
          </a:prstGeom>
          <a:solidFill>
            <a:srgbClr val="EBF7EE"/>
          </a:solidFill>
          <a:ln w="12700">
            <a:solidFill>
              <a:srgbClr val="9AE6B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07792" y="385876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6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041648" y="3858768"/>
            <a:ext cx="932688" cy="292608"/>
          </a:xfrm>
          <a:prstGeom prst="rect">
            <a:avLst/>
          </a:prstGeom>
          <a:solidFill>
            <a:srgbClr val="EBF7EE"/>
          </a:solidFill>
          <a:ln w="12700">
            <a:solidFill>
              <a:srgbClr val="9AE6B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041648" y="385876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6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193792" y="376732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VM: Full MongoDB audit log; SNOW CR integration; Change Management enforced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193792" y="403250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Container: All renewal and scan activities logged; notification history retained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92608" y="4343400"/>
            <a:ext cx="8622792" cy="566928"/>
          </a:xfrm>
          <a:prstGeom prst="rect">
            <a:avLst/>
          </a:prstGeom>
          <a:solidFill>
            <a:srgbClr val="F5F8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4048" y="4489704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Governance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907792" y="4471416"/>
            <a:ext cx="932688" cy="292608"/>
          </a:xfrm>
          <a:prstGeom prst="rect">
            <a:avLst/>
          </a:prstGeom>
          <a:solidFill>
            <a:srgbClr val="EBF7EE"/>
          </a:solidFill>
          <a:ln w="12700">
            <a:solidFill>
              <a:srgbClr val="9AE6B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07792" y="4471416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6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041648" y="4471416"/>
            <a:ext cx="932688" cy="292608"/>
          </a:xfrm>
          <a:prstGeom prst="rect">
            <a:avLst/>
          </a:prstGeom>
          <a:solidFill>
            <a:srgbClr val="FFF8E6"/>
          </a:solidFill>
          <a:ln w="12700">
            <a:solidFill>
              <a:srgbClr val="FBD38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041648" y="4471416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193792" y="437997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VM: 11 notification types; RBAC via CSI; escalation matrix configured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193792" y="464515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Container: Notification framework live; RBAC complete; policy enforcement expanding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834640" y="4892040"/>
            <a:ext cx="1051560" cy="201168"/>
          </a:xfrm>
          <a:prstGeom prst="rect">
            <a:avLst/>
          </a:prstGeom>
          <a:solidFill>
            <a:srgbClr val="EBF7EE"/>
          </a:solidFill>
          <a:ln w="12700">
            <a:solidFill>
              <a:srgbClr val="1A663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834640" y="489204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977640" y="4892040"/>
            <a:ext cx="1051560" cy="201168"/>
          </a:xfrm>
          <a:prstGeom prst="rect">
            <a:avLst/>
          </a:prstGeom>
          <a:solidFill>
            <a:srgbClr val="FFF8E6"/>
          </a:solidFill>
          <a:ln w="12700">
            <a:solidFill>
              <a:srgbClr val="92650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977640" y="489204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120640" y="4892040"/>
            <a:ext cx="1051560" cy="201168"/>
          </a:xfrm>
          <a:prstGeom prst="rect">
            <a:avLst/>
          </a:prstGeom>
          <a:solidFill>
            <a:srgbClr val="EBF4FB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20640" y="489204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0972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 Platform — One System, Two Workloads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platform serving both VM and Container certificate management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1371600"/>
            <a:ext cx="2743200" cy="109728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572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 Platform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0" y="195681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· Discovery · Renewal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· Audit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" y="1005840"/>
            <a:ext cx="2560320" cy="3474720"/>
          </a:xfrm>
          <a:prstGeom prst="rect">
            <a:avLst/>
          </a:prstGeom>
          <a:solidFill>
            <a:srgbClr val="EBF4FB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" y="1005840"/>
            <a:ext cx="2560320" cy="384048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0332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CERTIFICATES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1499616"/>
            <a:ext cx="2377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536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Tower / Lightning API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1938528"/>
            <a:ext cx="2377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9751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(Server Inventory)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2377440"/>
            <a:ext cx="2377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4140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NGC Vault (Certificate Store)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2816352"/>
            <a:ext cx="2377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8529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 / Venafi (Renewal)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3255264"/>
            <a:ext cx="2377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CR (Change Mgmt)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" y="3694176"/>
            <a:ext cx="2377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730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AppD (Impact Analysis)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" y="4133088"/>
            <a:ext cx="2377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169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WebSphere, Tomcat, Nginx…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91072" y="1005840"/>
            <a:ext cx="2560320" cy="3474720"/>
          </a:xfrm>
          <a:prstGeom prst="rect">
            <a:avLst/>
          </a:prstGeom>
          <a:solidFill>
            <a:srgbClr val="EBF4FB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91072" y="1005840"/>
            <a:ext cx="2560320" cy="384048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10332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CERTIFICATES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82512" y="1499616"/>
            <a:ext cx="2377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73952" y="1536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Vault (Discovery)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82512" y="1938528"/>
            <a:ext cx="2377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3952" y="19751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 API (Renewal)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82512" y="2377440"/>
            <a:ext cx="2377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73952" y="24140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Bitbucket API (Code Scan)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82512" y="2816352"/>
            <a:ext cx="2377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73952" y="28529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/ Kubernetes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82512" y="3255264"/>
            <a:ext cx="2377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73952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Automation (FID Auth)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82512" y="3694176"/>
            <a:ext cx="2377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3952" y="3730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(Audit + Config)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382512" y="4133088"/>
            <a:ext cx="2377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73952" y="4169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SMG / NGC / Script patterns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852928" y="1874520"/>
            <a:ext cx="347472" cy="54864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43600" y="1874520"/>
            <a:ext cx="347472" cy="54864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2608" y="4645152"/>
            <a:ext cx="8558784" cy="329184"/>
          </a:xfrm>
          <a:prstGeom prst="rect">
            <a:avLst/>
          </a:prstGeom>
          <a:solidFill>
            <a:srgbClr val="003B70">
              <a:alpha val="8000"/>
            </a:srgbClr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Services: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298448" y="4663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CSI Registry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807208" y="4663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RBAC &amp; Access Control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315968" y="4663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Notification Engine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824728" y="4663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MongoDB Audit Log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33488" y="4663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Change Management (SNOW)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0972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Certificate Journey — End to End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automated process: from repository to post-deployment validation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77824"/>
            <a:ext cx="1408176" cy="3950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77824"/>
            <a:ext cx="1408176" cy="5120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14400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13385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Inventory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1472184"/>
            <a:ext cx="1298448" cy="3264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CN, SAN, expiry tracked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Store integration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Grouping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(Master / Slave)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&amp; infra mapped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82496" y="1097280"/>
            <a:ext cx="45720" cy="91440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28216" y="877824"/>
            <a:ext cx="1408176" cy="3950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728216" y="877824"/>
            <a:ext cx="1408176" cy="51206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28216" y="914400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73936" y="113385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Trigger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92224" y="1472184"/>
            <a:ext cx="1298448" cy="3264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SLA enforced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Kickoff initiated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auto-renewal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60-day mark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if SLA at risk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(40 days)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36392" y="1097280"/>
            <a:ext cx="45720" cy="91440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82112" y="877824"/>
            <a:ext cx="1408176" cy="3950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82112" y="877824"/>
            <a:ext cx="1408176" cy="51206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82112" y="914400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27832" y="113385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46120" y="1472184"/>
            <a:ext cx="1298448" cy="3264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scanning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(Dual-path)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AppD traffic analysis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app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human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if needed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90288" y="1097280"/>
            <a:ext cx="45720" cy="91440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36008" y="877824"/>
            <a:ext cx="1408176" cy="3950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36008" y="877824"/>
            <a:ext cx="1408176" cy="5120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36008" y="914400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81728" y="113385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0016" y="1472184"/>
            <a:ext cx="1298448" cy="3264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from CA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(MSPKI)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Venafi / CMP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approval needed)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Staggered renewals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multi-instance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Risk-managed per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044184" y="1097280"/>
            <a:ext cx="45720" cy="91440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9904" y="877824"/>
            <a:ext cx="1408176" cy="3950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9904" y="877824"/>
            <a:ext cx="1408176" cy="512064"/>
          </a:xfrm>
          <a:prstGeom prst="rect">
            <a:avLst/>
          </a:prstGeom>
          <a:solidFill>
            <a:srgbClr val="1A6632"/>
          </a:solidFill>
          <a:ln w="12700">
            <a:solidFill>
              <a:srgbClr val="1A66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9904" y="914400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35624" y="113385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(Ansible)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53912" y="1472184"/>
            <a:ext cx="1298448" cy="3264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Tower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Lightning API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Store integrity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cert staged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cutover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enforced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(SNOW CR)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498080" y="1097280"/>
            <a:ext cx="45720" cy="91440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43800" y="877824"/>
            <a:ext cx="1408176" cy="3950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543800" y="877824"/>
            <a:ext cx="1408176" cy="512064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43800" y="914400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589520" y="113385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607808" y="1472184"/>
            <a:ext cx="1298448" cy="3264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cert install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Keystores updated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Post-deploy scan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cert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team validates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connections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92861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2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Step 6 — Connection and API call validation against new certificate remains the application team's responsibility (CLM validates installation &amp; keystores only)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0972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Certificate Journey — OpenShift / Kubernetes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discovery, renewal, and code-level update via PR workflow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408176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1408176" cy="5120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96696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216152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1554480"/>
            <a:ext cx="129844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Scheduler-based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check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expiry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found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HashiCorp Vault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82496" y="1179576"/>
            <a:ext cx="45720" cy="91440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28216" y="960120"/>
            <a:ext cx="1408176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728216" y="960120"/>
            <a:ext cx="1408176" cy="51206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28216" y="996696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73936" y="1216152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(CMP)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92224" y="1554480"/>
            <a:ext cx="129844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 API creates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request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Order ID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cert stored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Vault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36392" y="1179576"/>
            <a:ext cx="45720" cy="91440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82112" y="960120"/>
            <a:ext cx="1408176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82112" y="960120"/>
            <a:ext cx="1408176" cy="51206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82112" y="996696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27832" y="1216152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Scan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(BB)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46120" y="1554480"/>
            <a:ext cx="129844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Bitbucket repos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for Order ID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Java, YAML,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files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classified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(SMG / NGC / Script)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90288" y="1179576"/>
            <a:ext cx="45720" cy="91440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36008" y="960120"/>
            <a:ext cx="1408176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36008" y="960120"/>
            <a:ext cx="1408176" cy="5120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36008" y="996696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81728" y="1216152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0016" y="1554480"/>
            <a:ext cx="129844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 auth tested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BB repo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accessible: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auto-update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access: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alert sent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044184" y="1179576"/>
            <a:ext cx="45720" cy="91440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9904" y="960120"/>
            <a:ext cx="1408176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9904" y="960120"/>
            <a:ext cx="1408176" cy="512064"/>
          </a:xfrm>
          <a:prstGeom prst="rect">
            <a:avLst/>
          </a:prstGeom>
          <a:solidFill>
            <a:srgbClr val="1A6632"/>
          </a:solidFill>
          <a:ln w="12700">
            <a:solidFill>
              <a:srgbClr val="1A66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9904" y="996696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35624" y="1216152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Created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53912" y="1554480"/>
            <a:ext cx="129844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 updated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raised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reviewers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498080" y="1179576"/>
            <a:ext cx="45720" cy="91440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43800" y="960120"/>
            <a:ext cx="1408176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543800" y="960120"/>
            <a:ext cx="1408176" cy="512064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43800" y="996696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589520" y="1216152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607808" y="1554480"/>
            <a:ext cx="129844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notified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review PR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steps logged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MongoDB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4617720"/>
            <a:ext cx="8595360" cy="475488"/>
          </a:xfrm>
          <a:prstGeom prst="rect">
            <a:avLst/>
          </a:prstGeom>
          <a:solidFill>
            <a:srgbClr val="FFF8E6"/>
          </a:solidFill>
          <a:ln w="8890">
            <a:solidFill>
              <a:srgbClr val="92650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6542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Automation Complexity: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SMG Client (Properties)  —  Ideal, highest success rate  |  ⚠ NGC Client Classes  —  Medium complexity  |  ❌ NGC Script Commands  —  High complexity, manual fallback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0972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 — What CLM Does Not Do (Yet)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builds trust — these are active areas of improvement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32688"/>
            <a:ext cx="859536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1005840" cy="237744"/>
          </a:xfrm>
          <a:prstGeom prst="rect">
            <a:avLst/>
          </a:prstGeom>
          <a:solidFill>
            <a:srgbClr val="056DAE">
              <a:alpha val="15000"/>
            </a:srgbClr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155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89888" y="1115568"/>
            <a:ext cx="1188720" cy="237744"/>
          </a:xfrm>
          <a:prstGeom prst="rect">
            <a:avLst/>
          </a:prstGeom>
          <a:solidFill>
            <a:srgbClr val="92650A">
              <a:alpha val="12000"/>
            </a:srgbClr>
          </a:solidFill>
          <a:ln w="12700">
            <a:solidFill>
              <a:srgbClr val="9265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89888" y="11155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Medium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697480" y="9875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Certificate Coexistence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97480" y="12710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certificate is placed in a staged location during deployment. Direct, seamless coexistence of old and new certificates is not yet fully supported. Applications requiring both to function simultaneously need careful config management.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178040" y="127101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Under active engineering review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746504"/>
            <a:ext cx="8595360" cy="749808"/>
          </a:xfrm>
          <a:prstGeom prst="rect">
            <a:avLst/>
          </a:prstGeom>
          <a:solidFill>
            <a:srgbClr val="F5F8FC"/>
          </a:solidFill>
          <a:ln w="381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929384"/>
            <a:ext cx="1005840" cy="237744"/>
          </a:xfrm>
          <a:prstGeom prst="rect">
            <a:avLst/>
          </a:prstGeom>
          <a:solidFill>
            <a:srgbClr val="003B70">
              <a:alpha val="15000"/>
            </a:srgbClr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9293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+ Container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389888" y="1929384"/>
            <a:ext cx="1188720" cy="237744"/>
          </a:xfrm>
          <a:prstGeom prst="rect">
            <a:avLst/>
          </a:prstGeom>
          <a:solidFill>
            <a:srgbClr val="1A6632">
              <a:alpha val="12000"/>
            </a:srgbClr>
          </a:solidFill>
          <a:ln w="12700">
            <a:solidFill>
              <a:srgbClr val="1A66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89888" y="19293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6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Low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97480" y="1801368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Application-Level Connection Validation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97480" y="208483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 validates certificate installation and keystore updates via post-deployment scan. It does not directly test application connections or API calls leveraging the new certificate — that remains the application team's responsibility.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178040" y="20848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Responsibility shared with App Team — documented in onboarding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2560320"/>
            <a:ext cx="859536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743200"/>
            <a:ext cx="1005840" cy="237744"/>
          </a:xfrm>
          <a:prstGeom prst="rect">
            <a:avLst/>
          </a:prstGeom>
          <a:solidFill>
            <a:srgbClr val="056DAE">
              <a:alpha val="15000"/>
            </a:srgbClr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7432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389888" y="2743200"/>
            <a:ext cx="1188720" cy="237744"/>
          </a:xfrm>
          <a:prstGeom prst="rect">
            <a:avLst/>
          </a:prstGeom>
          <a:solidFill>
            <a:srgbClr val="92650A">
              <a:alpha val="12000"/>
            </a:srgbClr>
          </a:solidFill>
          <a:ln w="12700">
            <a:solidFill>
              <a:srgbClr val="9265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89888" y="27432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Medium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697480" y="2615184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AppD Traffic Dependency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697480" y="289864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assessment for downstream applications relies on AppD data. If AppD data is incomplete or the integration fails, the 'consuming application awareness' identification may be inaccurate.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178040" y="28986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Dual-path scanning added as mitigation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3374136"/>
            <a:ext cx="8595360" cy="749808"/>
          </a:xfrm>
          <a:prstGeom prst="rect">
            <a:avLst/>
          </a:prstGeom>
          <a:solidFill>
            <a:srgbClr val="F5F8FC"/>
          </a:solidFill>
          <a:ln w="381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557016"/>
            <a:ext cx="1005840" cy="237744"/>
          </a:xfrm>
          <a:prstGeom prst="rect">
            <a:avLst/>
          </a:prstGeom>
          <a:solidFill>
            <a:srgbClr val="7B1FA2">
              <a:alpha val="15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5570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389888" y="3557016"/>
            <a:ext cx="1188720" cy="237744"/>
          </a:xfrm>
          <a:prstGeom prst="rect">
            <a:avLst/>
          </a:prstGeom>
          <a:solidFill>
            <a:srgbClr val="92650A">
              <a:alpha val="12000"/>
            </a:srgbClr>
          </a:solidFill>
          <a:ln w="12700">
            <a:solidFill>
              <a:srgbClr val="9265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89888" y="35570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Medium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697480" y="3429000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PR — Not Fully Zero-Touch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697480" y="37124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certificate renewal requires a Pull Request to be reviewed and merged by the application team. This introduces a human step. Until merge, the certificate code reference is not updated in the running application.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178040" y="371246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Auto-merge capability on roadmap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4187952"/>
            <a:ext cx="859536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4370832"/>
            <a:ext cx="1005840" cy="237744"/>
          </a:xfrm>
          <a:prstGeom prst="rect">
            <a:avLst/>
          </a:prstGeom>
          <a:solidFill>
            <a:srgbClr val="056DAE">
              <a:alpha val="15000"/>
            </a:srgbClr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3708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389888" y="4370832"/>
            <a:ext cx="1188720" cy="237744"/>
          </a:xfrm>
          <a:prstGeom prst="rect">
            <a:avLst/>
          </a:prstGeom>
          <a:solidFill>
            <a:srgbClr val="C8102E">
              <a:alpha val="12000"/>
            </a:srgbClr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89888" y="43708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High (if SSH fails)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4242816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Connectivity Dependency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2697480" y="45262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AutoScan and certificate discovery depend entirely on Ansible SSH connectivity. If SSH keys are wrong, firewall blocks, or server is offline — certificate discovery fails silently for that server.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178040" y="45262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Improved error logging and alerting in place; requires correct SSH key deployment via SNOW CR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0972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— CSI Onboarding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application teams need to do to join CLM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828800" cy="2377440"/>
          </a:xfrm>
          <a:prstGeom prst="rect">
            <a:avLst/>
          </a:prstGeom>
          <a:solidFill>
            <a:srgbClr val="EBF4FB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1097280"/>
            <a:ext cx="731520" cy="731520"/>
          </a:xfrm>
          <a:prstGeom prst="ellipse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13385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19385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Access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Prod: CMP Marketplace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Dev/UAT: Email PFY DL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(SOEID, Role, Team, Reason)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0" y="1344168"/>
            <a:ext cx="320040" cy="54864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1005840"/>
            <a:ext cx="1828800" cy="2377440"/>
          </a:xfrm>
          <a:prstGeom prst="rect">
            <a:avLst/>
          </a:prstGeom>
          <a:solidFill>
            <a:srgbClr val="EBF4FB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097280"/>
            <a:ext cx="731520" cy="731520"/>
          </a:xfrm>
          <a:prstGeom prst="ellipse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13385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97480" y="19385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CSI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PFY Portal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97480" y="24688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CSI ID, Email DL,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DL, Primary SOEID,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Subscription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34840" y="1344168"/>
            <a:ext cx="320040" cy="54864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005840"/>
            <a:ext cx="1828800" cy="2377440"/>
          </a:xfrm>
          <a:prstGeom prst="rect">
            <a:avLst/>
          </a:prstGeom>
          <a:solidFill>
            <a:srgbClr val="EBF4FB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0" y="1097280"/>
            <a:ext cx="731520" cy="731520"/>
          </a:xfrm>
          <a:prstGeom prst="ellipse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113385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46320" y="19385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Keys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4688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SNOW CR for SA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deploy SSH keys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converge node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83680" y="1344168"/>
            <a:ext cx="320040" cy="54864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1005840"/>
            <a:ext cx="1828800" cy="2377440"/>
          </a:xfrm>
          <a:prstGeom prst="rect">
            <a:avLst/>
          </a:prstGeom>
          <a:solidFill>
            <a:srgbClr val="EBF4FB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52360" y="1097280"/>
            <a:ext cx="731520" cy="731520"/>
          </a:xfrm>
          <a:prstGeom prst="ellipse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113385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95160" y="19385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 Activates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95160" y="24688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 fetches inventory,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connectivity,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cert inventory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547872"/>
            <a:ext cx="8595360" cy="32004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5661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Critical fields for CSI Onboarding — get these right before starting: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950208"/>
            <a:ext cx="8595360" cy="246888"/>
          </a:xfrm>
          <a:prstGeom prst="rect">
            <a:avLst/>
          </a:prstGeom>
          <a:solidFill>
            <a:srgbClr val="EBF4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986784"/>
            <a:ext cx="685800" cy="182880"/>
          </a:xfrm>
          <a:prstGeom prst="rect">
            <a:avLst/>
          </a:prstGeom>
          <a:solidFill>
            <a:srgbClr val="C8102E">
              <a:alpha val="15000"/>
            </a:srgbClr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98678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024128" y="39867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DL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743200" y="3986784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 for cert deployment are assigned here. Wrong DL = missed deployments.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4224528"/>
            <a:ext cx="859536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4261104"/>
            <a:ext cx="685800" cy="182880"/>
          </a:xfrm>
          <a:prstGeom prst="rect">
            <a:avLst/>
          </a:prstGeom>
          <a:solidFill>
            <a:srgbClr val="C8102E">
              <a:alpha val="15000"/>
            </a:srgbClr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2611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024128" y="426110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Contact SOEID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743200" y="4261104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CMP procurements and CRs are raised to this ID.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4498848"/>
            <a:ext cx="8595360" cy="246888"/>
          </a:xfrm>
          <a:prstGeom prst="rect">
            <a:avLst/>
          </a:prstGeom>
          <a:solidFill>
            <a:srgbClr val="EBF4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4535424"/>
            <a:ext cx="685800" cy="182880"/>
          </a:xfrm>
          <a:prstGeom prst="rect">
            <a:avLst/>
          </a:prstGeom>
          <a:solidFill>
            <a:srgbClr val="C8102E">
              <a:alpha val="15000"/>
            </a:srgbClr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53542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024128" y="453542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Subscription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743200" y="4535424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CLM (cert mgmt), BCM (config), EOVS (vulnerability).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4773168"/>
            <a:ext cx="859536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4809744"/>
            <a:ext cx="685800" cy="182880"/>
          </a:xfrm>
          <a:prstGeom prst="rect">
            <a:avLst/>
          </a:prstGeom>
          <a:solidFill>
            <a:srgbClr val="1A6632">
              <a:alpha val="15000"/>
            </a:srgbClr>
          </a:solidFill>
          <a:ln w="12700">
            <a:solidFill>
              <a:srgbClr val="1A663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80974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6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024128" y="480974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Emails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743200" y="4809744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DLs for cert lifecycle notifications.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0972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Certificate Automation — Complexity by Usage Pattern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CLM handles different certificate embedding approaches in OpenShift microservices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914400"/>
            <a:ext cx="2834640" cy="3886200"/>
          </a:xfrm>
          <a:prstGeom prst="rect">
            <a:avLst/>
          </a:prstGeom>
          <a:solidFill>
            <a:srgbClr val="EBF7EE"/>
          </a:solidFill>
          <a:ln w="15240">
            <a:solidFill>
              <a:srgbClr val="1A66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914400"/>
            <a:ext cx="2834640" cy="502920"/>
          </a:xfrm>
          <a:prstGeom prst="rect">
            <a:avLst/>
          </a:prstGeom>
          <a:solidFill>
            <a:srgbClr val="1A6632"/>
          </a:solidFill>
          <a:ln w="12700">
            <a:solidFill>
              <a:srgbClr val="1A6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418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IDEAL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SMG Client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(Properties File)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" y="153619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2336" y="1792224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referenced via SMG Client configuration in .properties files using an Order ID.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2336" y="251460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CLM handles it: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2336" y="2770632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 scans for SMG patterns in property files, replaces Order ID automatically, creates PR.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2336" y="3730752"/>
            <a:ext cx="12344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1A66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3730752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High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737360" y="3730752"/>
            <a:ext cx="12344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1A66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3730752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Low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64408" y="914400"/>
            <a:ext cx="2834640" cy="3886200"/>
          </a:xfrm>
          <a:prstGeom prst="rect">
            <a:avLst/>
          </a:prstGeom>
          <a:solidFill>
            <a:srgbClr val="FFF8E6"/>
          </a:solidFill>
          <a:ln w="15240">
            <a:solidFill>
              <a:srgbClr val="92650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64408" y="914400"/>
            <a:ext cx="2834640" cy="502920"/>
          </a:xfrm>
          <a:prstGeom prst="rect">
            <a:avLst/>
          </a:prstGeom>
          <a:solidFill>
            <a:srgbClr val="92650A"/>
          </a:solidFill>
          <a:ln w="12700">
            <a:solidFill>
              <a:srgbClr val="9265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9418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MEDIUM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37560" y="12070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NGC Client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(Java Class Dependencies)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74136" y="153619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74136" y="1792224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loaded via NGC client Java classes (dynamic or static certificate methods).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74136" y="251460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CLM handles it: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74136" y="2770632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 scans for NGC class references, identifies variables, updates values, creates PR. Requires code pattern recognition.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74136" y="3730752"/>
            <a:ext cx="12344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9265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74136" y="3730752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Medium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3730752"/>
            <a:ext cx="12344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9265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730752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Medium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36208" y="914400"/>
            <a:ext cx="2834640" cy="3886200"/>
          </a:xfrm>
          <a:prstGeom prst="rect">
            <a:avLst/>
          </a:prstGeom>
          <a:solidFill>
            <a:srgbClr val="FDE8EC"/>
          </a:solidFill>
          <a:ln w="15240">
            <a:solidFill>
              <a:srgbClr val="C810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36208" y="914400"/>
            <a:ext cx="2834640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9418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COMPLEX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12070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NGC Script Commands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Direct Embed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45936" y="153619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45936" y="1792224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embedded via script commands, or raw cert data (BEGIN/END CERTIFICATE) directly in OpenShift Route YAML.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45936" y="251460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CLM handles it: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45936" y="2770632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automation. CLM identifies the location and sends manual update alert with new Order ID to the team. PR creation high risk.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45936" y="3730752"/>
            <a:ext cx="12344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45936" y="3730752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Low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680960" y="3730752"/>
            <a:ext cx="12344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0" y="3730752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High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92608" y="4919472"/>
            <a:ext cx="8558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Prioritise onboarding of SMG Client applications first — highest automation success rate. Phase in NGC and Script-based applications with dedicated engineering support.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0972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 Roadmap — Current, In Progress &amp; Planned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 and where we are heading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834640" cy="4069080"/>
          </a:xfrm>
          <a:prstGeom prst="rect">
            <a:avLst/>
          </a:prstGeom>
          <a:solidFill>
            <a:srgbClr val="EBF4FB"/>
          </a:solidFill>
          <a:ln w="6350">
            <a:solidFill>
              <a:srgbClr val="D6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2834640" cy="438912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418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 (March 2026)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" y="1435608"/>
            <a:ext cx="2606040" cy="3456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cert management — Production live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Auto-renewal for MAS &amp; HK resilience servers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Venafi integration — no approval needed for procurement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CRs (Deployment + Standard Read-Only)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notification types — full lifecycle coverage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onboarding — 8-step automated process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cert renewal — CMP + Bitbucket PR (POC validated)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55264" y="914400"/>
            <a:ext cx="2834640" cy="4069080"/>
          </a:xfrm>
          <a:prstGeom prst="rect">
            <a:avLst/>
          </a:prstGeom>
          <a:solidFill>
            <a:srgbClr val="EBF4FB"/>
          </a:solidFill>
          <a:ln w="6350">
            <a:solidFill>
              <a:srgbClr val="D6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55264" y="914400"/>
            <a:ext cx="2834640" cy="438912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6704" y="9418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1435608"/>
            <a:ext cx="2606040" cy="3456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Container: OpenShift Route YAML cert scanning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Container: Auto-merge PR capability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VM: Seamless coexistence (old + new cert simultaneously)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inventory report enhancements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BCM (Baseline Config Mgmt) module expansion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EOVS vulnerability assessment module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36208" y="914400"/>
            <a:ext cx="2834640" cy="4069080"/>
          </a:xfrm>
          <a:prstGeom prst="rect">
            <a:avLst/>
          </a:prstGeom>
          <a:solidFill>
            <a:srgbClr val="F5F8FC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36208" y="914400"/>
            <a:ext cx="2834640" cy="438912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9418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/ PLANNED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64224" y="1435608"/>
            <a:ext cx="2606040" cy="3456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Portal API integration (alternative to CMP)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(AWS Certificate Manager) provider support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API call validation post-deployment (App Team assist)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product support beyond current 10 products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onboarding without PFY team involvement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cert health dashboard for all CSIs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3B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1440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CLM — The Case in One Slide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960120"/>
            <a:ext cx="4160520" cy="117043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56DAE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0120"/>
            <a:ext cx="91440" cy="1170432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0515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a Proven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" y="1362456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51+ MIMs and 400+ hours of downtime is not a projection — it is history. CLM closes the gap between today's manual exposure and the automated ideal state.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60520" cy="117043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56DAE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960120"/>
            <a:ext cx="91440" cy="1170432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0515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First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362456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 renewal for VM servers is live. Container automation via PR workflow is validated. Human intervention is triggered only when systems cannot act autonomously.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2258568"/>
            <a:ext cx="4160520" cy="117043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56DAE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258568"/>
            <a:ext cx="91440" cy="1170432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23500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About Limitations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5216" y="2660904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 does not claim to solve everything. Application-level validation and seamless coexistence are known limitations with active mitigation and roadmap items.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258568"/>
            <a:ext cx="4160520" cy="117043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56DAE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258568"/>
            <a:ext cx="91440" cy="1170432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23500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Architecturally Sound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2660904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providers (CMP, Provisioning Portal, ACM). Full audit trail. RBAC. SNOW CR integration. Designed for extension — not a one-time tool.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3557016"/>
            <a:ext cx="4160520" cy="117043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56DAE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3557016"/>
            <a:ext cx="91440" cy="1170432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364845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Against Ideal State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5216" y="3959352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6 ideal state pillars are fully achieved or partially achieved today for VMs. Container maturity is accelerating with clear milestones.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557016"/>
            <a:ext cx="4160520" cy="117043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56DAE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557016"/>
            <a:ext cx="91440" cy="1170432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64845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Needs to Happen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56048" y="3959352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need to onboard their CSI, configure SNOW DL, and deploy SSH keys. CLM handles the rest. Adoption drives value.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4048" y="4800600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 is not a project. It is the platform for certificate lifecycle management at Citi.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CLM – Certificate Lifecycle Management Platform</dc:title>
  <dc:subject>PptxGenJS Presentation</dc:subject>
  <dc:creator>PptxGenJS</dc:creator>
  <cp:lastModifiedBy>PptxGenJS</cp:lastModifiedBy>
  <cp:revision>1</cp:revision>
  <dcterms:created xsi:type="dcterms:W3CDTF">2026-03-21T08:47:43Z</dcterms:created>
  <dcterms:modified xsi:type="dcterms:W3CDTF">2026-03-21T08:47:43Z</dcterms:modified>
</cp:coreProperties>
</file>