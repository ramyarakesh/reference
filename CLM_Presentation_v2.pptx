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91840"/>
            <a:ext cx="2560320" cy="1851660"/>
          </a:xfrm>
          <a:prstGeom prst="rect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Lifecycle Management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3840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Management – Production Rollout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52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Focus: VM Servers  |  March 2026  |  Containers session: TBD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3774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MIMs since 2019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3657600"/>
            <a:ext cx="23774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1752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downtime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657600"/>
            <a:ext cx="28346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675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4078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Go-Live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Application Owners  ·  Support Teams  ·  CSI Managers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201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~20–25 minutes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41248"/>
            <a:ext cx="475488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05256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914400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CLM — Business Case &amp; Numbers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0" y="9144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16736"/>
            <a:ext cx="8503920" cy="42976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316736"/>
            <a:ext cx="475488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80744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1389888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CLM + 9 Core Features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3840" y="1389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792224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792224"/>
            <a:ext cx="475488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856232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1865376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Renewal Journey (End-to-End)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63840" y="186537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267712"/>
            <a:ext cx="8503920" cy="42976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267712"/>
            <a:ext cx="475488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33172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2340864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&amp; Roles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63840" y="234086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743200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743200"/>
            <a:ext cx="475488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07208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2816352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 – Steps &amp; Fields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63840" y="281635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218688"/>
            <a:ext cx="8503920" cy="42976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18688"/>
            <a:ext cx="475488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282696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" y="3291840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Changed: Procurement + Automated CRs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63840" y="329184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694176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694176"/>
            <a:ext cx="475488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58184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6112" y="3767328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Types &amp; Frequency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37673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169664"/>
            <a:ext cx="8503920" cy="42976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169664"/>
            <a:ext cx="475488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233672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" y="4242816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863840" y="424281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CLM Matters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— the numbers are real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CLM — The Business Case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Incidents (MIMs)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attributed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handling issues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777240"/>
            <a:ext cx="2788920" cy="7315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8961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10128" y="1627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Downtime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9933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total downtime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issues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777240"/>
            <a:ext cx="2788920" cy="7315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8961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54496" y="1627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RTO Limit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19933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mandates max 4 hrs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unscheduled downtime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critical system per year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4343400" cy="214884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88920"/>
            <a:ext cx="4343400" cy="38404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07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Risk — Manual Processes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273552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system to track certificates across servers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depend on individuals — prone to human error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hand-offs cause inconsistency and delays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related MIMs directly impact customers and revenue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further MAS reprimand (Citi Singapore Limited cited)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2788920"/>
            <a:ext cx="4343400" cy="2148840"/>
          </a:xfrm>
          <a:prstGeom prst="rect">
            <a:avLst/>
          </a:prstGeom>
          <a:solidFill>
            <a:srgbClr val="F0FFF4"/>
          </a:solidFill>
          <a:ln w="19050">
            <a:solidFill>
              <a:srgbClr val="2767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2788920"/>
            <a:ext cx="4343400" cy="38404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807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CLM Fixes — Permanently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5192" y="3273552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discovery, renewal, and deployment of certificates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SLA enforcement with auto-renewal trigger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Grouping: Master/Slave instances tracked together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integrity maintained during deployment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process, and risk efficiency — all three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Automated. Systemic. Touch-less.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– What It Does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46888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9144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1444752"/>
            <a:ext cx="2240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automated, systemic certificate management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Touch-less lifecycle management: Issuance → Provisioning → Discovery → Inventory → Deployment → Monitoring → Renewal → Revocation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in non-prod environments this year in wealth tech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 in Production — March 2026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VM Servers (today) + Containers (next session)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777240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34640" y="777240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161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8686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of App &amp; Middleware distributed stack certificates from Servers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10328" y="777240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777240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161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8686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Private Key Renewal – Primary &amp; Secondary servers and locations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86016" y="777240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86016" y="777240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1161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51776" y="8686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or Expired Certificate Identify &amp; Cleanup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34640" y="21214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34640" y="2121408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25054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221284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renewals on all dependent touch points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10328" y="21214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0328" y="2121408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5054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221284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renewal of certs 60 days before expiry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86016" y="21214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86016" y="2121408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6016" y="25054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51776" y="221284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integration of certificates used for impact assessment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34640" y="3465576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834640" y="3465576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3849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0" y="3557016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discovery internal &amp; external party certificates expiring – alert upfront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10328" y="3465576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10328" y="3465576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3849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76088" y="3557016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renew the certificate on multi locations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86016" y="3465576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86016" y="3465576"/>
            <a:ext cx="32004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3849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51776" y="3557016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renewal with rectified label name mismatch on old and new certificate keystores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Renewal Journey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— from repository to 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Renewal – End-to-End Journey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1417320" cy="5303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346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Type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(if applicable)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Infrastructure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CIS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(CSI/Infrastructure)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date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9164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91640" y="749808"/>
            <a:ext cx="1417320" cy="53035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650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4650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Kickoff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at X Increments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period: at least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release buffer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(App/Infra)?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SLA enforcement: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SLA triggers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 process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749808"/>
            <a:ext cx="1417320" cy="53035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954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VMs — captures CN,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serial, SAN, expiry etc.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affected infra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services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 Traffic Analysis: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cert usage in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apps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identification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server/certificate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749808"/>
            <a:ext cx="1417320" cy="53035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7258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from Authority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Risk-Managed Staggered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across instances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Production/COB: separate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 + staggered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SLA adhered to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impact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076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749808"/>
            <a:ext cx="1417320" cy="530352"/>
          </a:xfrm>
          <a:prstGeom prst="rect">
            <a:avLst/>
          </a:prstGeom>
          <a:solidFill>
            <a:srgbClr val="7B341E"/>
          </a:solidFill>
          <a:ln w="12700">
            <a:solidFill>
              <a:srgbClr val="7B34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3562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Deployment: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certs/keystores to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servers/infra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Integrity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maintained; not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overridden during deploy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Plan: allows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old + new cert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4380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749808"/>
            <a:ext cx="1417320" cy="530352"/>
          </a:xfrm>
          <a:prstGeom prst="rect">
            <a:avLst/>
          </a:prstGeom>
          <a:solidFill>
            <a:srgbClr val="44337A"/>
          </a:solidFill>
          <a:ln w="12700">
            <a:solidFill>
              <a:srgbClr val="4433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9866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Certificate installed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Keystores updated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connections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API calls leverage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certificate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scan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installation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00200" y="950976"/>
            <a:ext cx="73152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950976"/>
            <a:ext cx="73152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950976"/>
            <a:ext cx="73152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950976"/>
            <a:ext cx="73152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950976"/>
            <a:ext cx="73152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&amp; Roles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PFY portal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— How to Get In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6052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CMP (Marketplace) request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marketplace.citigroup.net/product/23658_528754_GLOBAL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needed — portal order is sufficient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41605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UAT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1316736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to PFY DL with: SOEID, ROLE, TEAM NAME, REASON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DL: dl.gct.aspac.emea.devops.reflex.team@imcap.ap.ssmb.com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9443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PFY Portal Roles &amp; Privileges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401568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401568"/>
            <a:ext cx="13258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655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34655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user — read access to CSIs they own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822192"/>
            <a:ext cx="8595360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22192"/>
            <a:ext cx="1325880" cy="38404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86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CSI_ADMIN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perform all R/W activities for their own CSIs (except user management)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242816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242816"/>
            <a:ext cx="13258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06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PFY_ADMIN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4306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43068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user — all access except ISA admin functionality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663440"/>
            <a:ext cx="1325880" cy="384048"/>
          </a:xfrm>
          <a:prstGeom prst="rect">
            <a:avLst/>
          </a:prstGeom>
          <a:solidFill>
            <a:srgbClr val="44337A"/>
          </a:solidFill>
          <a:ln w="12700">
            <a:solidFill>
              <a:srgbClr val="4433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274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ISA_ADMIN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4727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37560" y="4727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admin — update passwords, add users with entitlements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fields, and what to prepare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 – 8-Step Process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1060704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15214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begins with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of CSI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 PFY portal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2588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25880" y="804672"/>
            <a:ext cx="1060704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115214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848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Sync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7160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sync from Drift,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sync from NGC Vault,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retrieval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2316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23160" y="804672"/>
            <a:ext cx="1060704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15768" y="115214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2316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6888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Prescan to determine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cert usage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Bitbucket repos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2044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804672"/>
            <a:ext cx="1060704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13048" y="115214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304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2044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6616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Connection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6616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connectivity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target servers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proceeding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804672"/>
            <a:ext cx="1060704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0328" y="115214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1772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→ Module Ops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Log failed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→ Report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1500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15000" y="804672"/>
            <a:ext cx="1060704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07608" y="115214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0760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1500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6072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6072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CLM: VM/Container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Discovery. BCM: Config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EOVS: Vuln Assessment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1228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12280" y="804672"/>
            <a:ext cx="1060704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04888" y="115214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0488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1228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5800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report 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sync findings 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assessments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90956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909560" y="804672"/>
            <a:ext cx="1060704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02168" y="115214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0216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90956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5528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95528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report 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status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3291840"/>
            <a:ext cx="86868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33192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Critical fields to prepare before onboarding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28600" y="3730752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8600" y="3730752"/>
            <a:ext cx="210312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2608" y="38039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ID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92608" y="40416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Unique CSI ID to onboard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423160" y="3730752"/>
            <a:ext cx="2103120" cy="594360"/>
          </a:xfrm>
          <a:prstGeom prst="rect">
            <a:avLst/>
          </a:prstGeom>
          <a:solidFill>
            <a:srgbClr val="E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23160" y="3730752"/>
            <a:ext cx="210312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87168" y="38039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Owner Team Email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487168" y="40416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Team primary email DL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17720" y="3730752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17720" y="3730752"/>
            <a:ext cx="210312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81728" y="38039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Name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681728" y="40416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Email distribution list name (specific prefix required)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812280" y="3730752"/>
            <a:ext cx="2103120" cy="594360"/>
          </a:xfrm>
          <a:prstGeom prst="rect">
            <a:avLst/>
          </a:prstGeom>
          <a:solidFill>
            <a:srgbClr val="E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12280" y="3730752"/>
            <a:ext cx="210312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76288" y="38039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 SOEID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876288" y="40416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All CMP and CRs raised to this SOEID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28600" y="4389120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600" y="4389120"/>
            <a:ext cx="210312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92608" y="4462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DL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9260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The team the Change Request (CR) will be assigned to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423160" y="4389120"/>
            <a:ext cx="2103120" cy="594360"/>
          </a:xfrm>
          <a:prstGeom prst="rect">
            <a:avLst/>
          </a:prstGeom>
          <a:solidFill>
            <a:srgbClr val="E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423160" y="4389120"/>
            <a:ext cx="210312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487168" y="4462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Subscription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248716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Which features apply: CLM, BCM, EOVS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617720" y="4389120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617720" y="4389120"/>
            <a:ext cx="21031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81728" y="4462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Emails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468172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 Additional DLs or individuals for notifications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812280" y="4389120"/>
            <a:ext cx="2103120" cy="594360"/>
          </a:xfrm>
          <a:prstGeom prst="rect">
            <a:avLst/>
          </a:prstGeom>
          <a:solidFill>
            <a:srgbClr val="E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12280" y="4389120"/>
            <a:ext cx="21031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76288" y="4462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Contacts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687628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 SOEID of escalation contacts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Automated Change Requests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Procurement &amp; Automated CRs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4160520"/>
          </a:xfrm>
          <a:prstGeom prst="rect">
            <a:avLst/>
          </a:prstGeom>
          <a:solidFill>
            <a:srgbClr val="FFF5F5"/>
          </a:solidFill>
          <a:ln w="19050">
            <a:solidFill>
              <a:srgbClr val="FEB2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88920" cy="420624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(Manual)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raised Marketplace order for cert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received approval request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step = delays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Confusion: teams didn't know what to approve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788920" cy="4160520"/>
          </a:xfrm>
          <a:prstGeom prst="rect">
            <a:avLst/>
          </a:prstGeom>
          <a:solidFill>
            <a:srgbClr val="F0FFF4"/>
          </a:solidFill>
          <a:ln w="19050">
            <a:solidFill>
              <a:srgbClr val="9AE6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2788920" cy="42062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(Venafi Integrated)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298448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needed to procure cert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is fully automated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still in place for deployment to target server paths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no longer get procurement approval requests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77724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777240"/>
            <a:ext cx="28346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1261872"/>
            <a:ext cx="2697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PFY auto-creates when cert needs deployment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your SNOW DL (from CSI onboarding)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approval required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862072"/>
            <a:ext cx="2834640" cy="2075688"/>
          </a:xfrm>
          <a:prstGeom prst="rect">
            <a:avLst/>
          </a:prstGeom>
          <a:solidFill>
            <a:srgbClr val="E0F4F8"/>
          </a:solidFill>
          <a:ln w="12700">
            <a:solidFill>
              <a:srgbClr val="BEE3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862072"/>
            <a:ext cx="283464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889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  (Read-Only)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3346704"/>
            <a:ext cx="2697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PFY auto-creates for server scan operations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required — read only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SNOW DL from CSI onboarding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cert status without impacting servers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notified, when, and why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Notification Types – Complete Spec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38404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notifications go to: App Owner · CSI Team DL · Notification emails configured in CSI · PFY team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207008"/>
            <a:ext cx="38404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" y="122529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207008"/>
            <a:ext cx="208483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2529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Type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207008"/>
            <a:ext cx="212140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122529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207008"/>
            <a:ext cx="17830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22529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93408" y="1207008"/>
            <a:ext cx="2212848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122529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60934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160934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60934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60934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3408" y="160934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" y="16642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Initiation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98064" y="16642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started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93208" y="1664208"/>
            <a:ext cx="1371600" cy="201168"/>
          </a:xfrm>
          <a:prstGeom prst="rect">
            <a:avLst/>
          </a:prstGeom>
          <a:solidFill>
            <a:srgbClr val="2B6CB0">
              <a:alpha val="20000"/>
            </a:srgbClr>
          </a:solidFill>
          <a:ln w="12700">
            <a:solidFill>
              <a:srgbClr val="2B6CB0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1664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48272" y="166420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1929384"/>
            <a:ext cx="3840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1929384"/>
            <a:ext cx="2084832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1929384"/>
            <a:ext cx="212140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1929384"/>
            <a:ext cx="1783080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3408" y="1929384"/>
            <a:ext cx="22128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" y="19842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" y="1984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Completion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98064" y="19842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completed (full success)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93208" y="1984248"/>
            <a:ext cx="1371600" cy="201168"/>
          </a:xfrm>
          <a:prstGeom prst="rect">
            <a:avLst/>
          </a:prstGeom>
          <a:solidFill>
            <a:srgbClr val="2B6CB0">
              <a:alpha val="20000"/>
            </a:srgbClr>
          </a:solidFill>
          <a:ln w="12700">
            <a:solidFill>
              <a:srgbClr val="2B6CB0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93208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48272" y="19842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224942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" y="224942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0" y="224942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224942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93408" y="224942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" y="23042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Completion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98064" y="23042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completed (partial success)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93208" y="2304288"/>
            <a:ext cx="1371600" cy="201168"/>
          </a:xfrm>
          <a:prstGeom prst="rect">
            <a:avLst/>
          </a:prstGeom>
          <a:solidFill>
            <a:srgbClr val="744210">
              <a:alpha val="20000"/>
            </a:srgbClr>
          </a:solidFill>
          <a:ln w="12700">
            <a:solidFill>
              <a:srgbClr val="744210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93208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48272" y="230428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2569464"/>
            <a:ext cx="3840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" y="2569464"/>
            <a:ext cx="2084832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0" y="2569464"/>
            <a:ext cx="212140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2569464"/>
            <a:ext cx="1783080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93408" y="2569464"/>
            <a:ext cx="22128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" y="26243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6656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Failure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98064" y="26243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failed completely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93208" y="2624328"/>
            <a:ext cx="1371600" cy="201168"/>
          </a:xfrm>
          <a:prstGeom prst="rect">
            <a:avLst/>
          </a:prstGeom>
          <a:solidFill>
            <a:srgbClr val="C05621">
              <a:alpha val="20000"/>
            </a:srgbClr>
          </a:solidFill>
          <a:ln w="12700">
            <a:solidFill>
              <a:srgbClr val="C05621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93208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748272" y="26243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28600" y="288950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" y="288950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0" y="288950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92040" y="288950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93408" y="288950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5176" y="29443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6656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Failure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798064" y="294436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step fails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093208" y="2944368"/>
            <a:ext cx="1371600" cy="201168"/>
          </a:xfrm>
          <a:prstGeom prst="rect">
            <a:avLst/>
          </a:prstGeom>
          <a:solidFill>
            <a:srgbClr val="C05621">
              <a:alpha val="20000"/>
            </a:srgbClr>
          </a:solidFill>
          <a:ln w="12700">
            <a:solidFill>
              <a:srgbClr val="C05621">
                <a:alpha val="5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93208" y="2944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748272" y="294436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step failure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28600" y="3209544"/>
            <a:ext cx="3840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792" y="3209544"/>
            <a:ext cx="2084832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43200" y="3209544"/>
            <a:ext cx="212140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92040" y="3209544"/>
            <a:ext cx="1783080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93408" y="3209544"/>
            <a:ext cx="22128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5176" y="32644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76656" y="3264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798064" y="32644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deadline passed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093208" y="3264408"/>
            <a:ext cx="1371600" cy="201168"/>
          </a:xfrm>
          <a:prstGeom prst="rect">
            <a:avLst/>
          </a:prstGeom>
          <a:solidFill>
            <a:srgbClr val="C53030">
              <a:alpha val="20000"/>
            </a:srgbClr>
          </a:solidFill>
          <a:ln w="12700">
            <a:solidFill>
              <a:srgbClr val="C53030">
                <a:alpha val="5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93208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748272" y="326440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breach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28600" y="352958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1792" y="352958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0" y="352958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92040" y="352958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693408" y="352958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5176" y="3584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76656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Success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2798064" y="35844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validates in Jira (Done)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093208" y="3584448"/>
            <a:ext cx="1371600" cy="201168"/>
          </a:xfrm>
          <a:prstGeom prst="rect">
            <a:avLst/>
          </a:prstGeom>
          <a:solidFill>
            <a:srgbClr val="2B6CB0">
              <a:alpha val="20000"/>
            </a:srgbClr>
          </a:solidFill>
          <a:ln w="12700">
            <a:solidFill>
              <a:srgbClr val="2B6CB0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93208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748272" y="3584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validation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28600" y="3849624"/>
            <a:ext cx="3840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21792" y="3849624"/>
            <a:ext cx="2084832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43200" y="3849624"/>
            <a:ext cx="212140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892040" y="3849624"/>
            <a:ext cx="1783080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93408" y="3849624"/>
            <a:ext cx="22128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65176" y="39044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76656" y="3904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Failure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2798064" y="39044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marks failed in Jira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093208" y="3904488"/>
            <a:ext cx="1371600" cy="201168"/>
          </a:xfrm>
          <a:prstGeom prst="rect">
            <a:avLst/>
          </a:prstGeom>
          <a:solidFill>
            <a:srgbClr val="C53030">
              <a:alpha val="20000"/>
            </a:srgbClr>
          </a:solidFill>
          <a:ln w="12700">
            <a:solidFill>
              <a:srgbClr val="C53030">
                <a:alpha val="5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93208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6748272" y="390448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validation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28600" y="416966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1792" y="416966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743200" y="416966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892040" y="416966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693408" y="416966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65176" y="42245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676656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Success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2798064" y="42245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completes successfully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093208" y="4224528"/>
            <a:ext cx="1371600" cy="201168"/>
          </a:xfrm>
          <a:prstGeom prst="rect">
            <a:avLst/>
          </a:prstGeom>
          <a:solidFill>
            <a:srgbClr val="2B6CB0">
              <a:alpha val="20000"/>
            </a:srgbClr>
          </a:solidFill>
          <a:ln w="12700">
            <a:solidFill>
              <a:srgbClr val="2B6CB0">
                <a:alpha val="5000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93208" y="4224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6748272" y="42245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retry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228600" y="4489704"/>
            <a:ext cx="3840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21792" y="4489704"/>
            <a:ext cx="2084832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43200" y="4489704"/>
            <a:ext cx="212140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892040" y="4489704"/>
            <a:ext cx="1783080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693408" y="4489704"/>
            <a:ext cx="2212848" cy="301752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65176" y="4544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676656" y="4544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Inventory Report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2798064" y="454456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5093208" y="4544568"/>
            <a:ext cx="1371600" cy="201168"/>
          </a:xfrm>
          <a:prstGeom prst="rect">
            <a:avLst/>
          </a:prstGeom>
          <a:solidFill>
            <a:srgbClr val="2B6CB0">
              <a:alpha val="20000"/>
            </a:srgbClr>
          </a:solidFill>
          <a:ln w="12700">
            <a:solidFill>
              <a:srgbClr val="2B6CB0">
                <a:alpha val="50000"/>
              </a:srgbClr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093208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125" name="Text 123"/>
          <p:cNvSpPr/>
          <p:nvPr/>
        </p:nvSpPr>
        <p:spPr>
          <a:xfrm>
            <a:off x="6748272" y="454456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Mon 9 AM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228600" y="480974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1792" y="480974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743200" y="480974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480974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93408" y="480974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65176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676656" y="4864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Escalation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2798064" y="48646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 exist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5093208" y="4864608"/>
            <a:ext cx="1371600" cy="201168"/>
          </a:xfrm>
          <a:prstGeom prst="rect">
            <a:avLst/>
          </a:prstGeom>
          <a:solidFill>
            <a:srgbClr val="C53030">
              <a:alpha val="20000"/>
            </a:srgbClr>
          </a:solidFill>
          <a:ln w="12700">
            <a:solidFill>
              <a:srgbClr val="C53030">
                <a:alpha val="50000"/>
              </a:srgbClr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93208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6748272" y="486460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Mon 10 AM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 — it starts with CSI onboarding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Remember These 5 Things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8778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is live in Production — March 2026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servers go live this March. Auto-renewal active for onboarded MAS and HK resilience servers.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230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23060"/>
            <a:ext cx="502920" cy="71323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602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16779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certificate approval requests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19888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 integration removes the manual procurement step. You won't receive approval emails anymore.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23160"/>
            <a:ext cx="502920" cy="7132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603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24780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DL is critical — configure it right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27889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CRs and escalations go to your SNOW DL. If it's wrong, your team won't receive deployment CRs.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232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2326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604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2781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access via CMP request (Production)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35890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Marketplace order to access the PFY portal. Dev/UAT access is via email to PFY DL.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23360"/>
            <a:ext cx="502920" cy="71323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605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" y="40782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are comprehensive — 11 types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43891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Renewal Initiation to Weekly Escalation, your team will always know the status of every cert.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3210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914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✓  (This Session)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3677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Management — covered. Auto-renewal live this March for MAS + HK resilience servers.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3210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91440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128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→  For All Teams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Raise CMP request for portal access  |  2. Onboard your CSI  |  3. Ensure SNOW DL is configured correctly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3210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9144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27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 (TBD)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46557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BB Project URLs — we will schedule a separate call. Watch for the invite.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3210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79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77640"/>
            <a:ext cx="91440" cy="777240"/>
          </a:xfrm>
          <a:prstGeom prst="rect">
            <a:avLst/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416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37997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questions in chat now — or reach out to the support team directly after the call.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CLM – Certificate Lifecycle Management</dc:title>
  <dc:subject>PptxGenJS Presentation</dc:subject>
  <dc:creator>PptxGenJS</dc:creator>
  <cp:lastModifiedBy>PptxGenJS</cp:lastModifiedBy>
  <cp:revision>1</cp:revision>
  <dcterms:created xsi:type="dcterms:W3CDTF">2026-03-17T16:48:16Z</dcterms:created>
  <dcterms:modified xsi:type="dcterms:W3CDTF">2026-03-17T16:48:16Z</dcterms:modified>
</cp:coreProperties>
</file>