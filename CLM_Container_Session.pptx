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everyone. Today we are focused specifically on CLM for Container certificates.
CLM automates the full certificate lifecycle for OpenShift workloads — from discovery in NGC Vault, to renewal, automated code updates via Pull Requests, and full notification and audit coverage.
Agenda for today:
- Why containers need this
- How CLM works — phase by phase
- What is automated vs what is not
- How to get started
- Roadmap
Questions are welcome throughout — or save them for the end.
[~20-25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WHY THE PROBLEM EXISTS
Start with context — why containers are different from VMs.
With VMs, the certificate lives on the filesystem. When it renews, we deploy the file to the server. Contained.
With containers it is more complex. The certificate is referenced in application code — a property file, a Java class, a script. Each reference points to an Order ID or Nickname that maps to the certificate in NGC Vault.
When a certificate renews and gets a new Order ID, every code file across every repository referencing the old Order ID must be updated. If 20 microservices reference the same cert — that is 20 code changes, 20 PRs, 20 reviews.
Without CLM: entirely manual. Teams miss renewals. Certificates expire. Services fail.
The left panel shows the manual path. The right panel shows what CLM delivers.
[Pause — let the before/after land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WHAT CLM DOES — OVERVIEW
Six capabilities. I will go into each in detail in the next slides.
1 Discovery — CLM connects to NGC Vault and builds a complete certificate inventory. NGC Vault is the single source of truth for containers. If a certificate is stored there, CLM knows about it.
2 SLA Enforcement — At 60 days before expiry, CLM starts the renewal process. Not a notification. An actual automated renewal. No human needs to press anything.
3 Code scan — CLM scans repositories for Order IDs and Nicknames. This is the impact step — it figures out which code files will need updating when the Order ID changes.
4 Automated PR — Instead of deploying to a server, CLM updates the code. It creates a feature branch, commits the updated Order ID, and raises a Pull Request. Your team reviews and merges.
5 Audit and SNOW — Everything logged. Every renewal, scan, PR creation recorded in MongoDB. SNOW CRs raised automatically. Team notified at every step.
6 Seamless coexistence — Old and new certs work together during the transition window. This means there is no hard cutover moment — applications using the old cert do not break while the PR is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THE FULL JOURNEY
Walk through each column left to right.
DISCOVERY: CLM connects to NGC Vault and pulls certificates for your CSI. Key point: if a certificate is NOT in NGC Vault, CLM cannot see it.
WARNING PERIOD: At 60 days before expiry, two things happen automatically — notifications go out, and the auto-renewal process starts. This is not a reminder email. It is the actual start of the renewal workflow.
IMPACT ASSESSMENT: CLM scans Bitbucket and GitHub for files referencing the certificate's Order ID or Nickname. Important: if repository URL is not configured during CSI onboarding, CLM will not know where to look.
CERTIFICATE RENEWAL: CLM submits the renewal request to MSPKI. New certificate issued. If same certificate runs across multiple instances with different expiry dates — each is treated independently.
DEPLOY CERTIFICATE: New cert stored in NGC Vault. If FID has write access — CLM creates feature branch, updates Order ID, raises PR. Old and new certs coexist during this window.
VALIDATE DEPLOYMENT: Post-deployment scan confirms installation. Keystores updated. API call validation is the Application Team's responsibility — outside CLM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DISCOVERY &amp; WARNING PERIOD
Left panel — Discovery:
CLM goes to NGC Vault and pulls down every certificate associated with your CSI.
Key point: NGC Vault is the anchor. If the cert is not there, CLM does not know about it. We will come back to this when discussing coverage.
Discovery runs on a schedule — continuous from day one of onboarding.
The limitation: if you forget to provide Bitbucket or GitHub repository URLs during onboarding, CLM will not know where to scan for code references. That is a gap your team needs to close.
[Pause — check for questions before right panel]
Right panel — Warning Period:
At 60 days before expiry, CLM does not send a reminder email. It starts the renewal process automatically.
There is a 2-release buffer built in — coordination time for any application-side changes.
If automation fails and PFY has not completed renewal by 40 days to expiry — CLM suggests manual renewal. If SLA deadline passes entirely — a Critical notification fires.
Recipients are whoever you configured during CSI onboarding. If the right people are not receiving notifications — check the CSI notification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IMPACT ASSESSMENT &amp; RENEWAL
Left panel — Impact Assessment:
Once CLM knows a renewal is happening, it needs to figure out what is affected. For containers that means code.
CLM scans repositories — Bitbucket and GitHub — searching for the old Order ID and the certificate Nickname. Any file containing these references needs to be updated with the new Order ID.
If CLM FID has write access: handles the update automatically in the next phase. If not: sends the team a detailed email — old Order ID, new Order ID, list of files.
The coverage gap: if a repo was not configured at onboarding — CLM does not scan it. That is a gap your team needs to own.
[Pause for questions on code scanning approach]
Right panel — Certificate Renewal:
The renewal itself happens in parallel. CLM submits the renewal request to MSPKI Certificate Authority.
No approval needed. Fully automated. No Marketplace order, no manual approval from your team.
Staggered renewal is important for microservice architectures. If 5 instances of the same logical certificate have different expiry dates — CLM renews each on its own 60-day timeline. They do not all renew at once.
Once the new cert is issued, it goes back into NGC Vault with a new Order ID — and that triggers the code update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DEPLOYMENT — THE PR WORKFLOW
This is the most container-specific part of CLM — the PR workflow.
Step 1 — New cert in NGC Vault:
The new certificate is already in NGC Vault. The old cert is still there too — both valid. Seamless coexistence means there is no hard cutover. Applications using the old cert do not break while the PR is pending.
Step 2 — Repo scan complete:
CLM already scanned the repositories and knows exactly which files need updating.
Step 3 — FID write access check:
This is the decision point. CLM's Functional ID needs write access to the repository. Write access = fully automated. No write access = manual fallback.
Steps 4, 5, 6 — Automated path:
CLM creates a branch — name includes timestamp for uniqueness. Updates the Order ID in identified files. Commits with a standardised message. Raises a PR — title, description, reviewers all pre-populated.
Your team's only job: review the PR and merge it.
No-access path — red panel:
If FID does not have write access: CLM sends a detailed email. It tells the team exactly which files to update, what the old Order ID was, and what the new one is. Manual — but fully guided.
Action item for teams: grant CLM FID write access to your repositories during onboarding. That is what determines whether this is fully automated or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COVERAGE
This is one of the most important slides. Be explicit.
LEFT PANEL — What CLM covers:
If your certificate is stored in NGC Vault and your code references it using Order ID or Nickname — CLM owns it end-to-end. Discovery, renewal, code update, notification, audit. All automated.
The only human step in the ideal case is reviewing and merging the PR.
RIGHT PANEL — What CLM does NOT cover:
If your certificate is embedded as raw cert data — a BEGIN/END CERTIFICATE block pasted directly into an OpenShift Route YAML, or hard-coded in a shell script — CLM cannot manage it.
Why? CLM's entire automation is anchored to NGC Vault. The certificate needs to be in NGC Vault with an Order ID for CLM to track and renew it. If it is just bytes in a YAML file — there is no Order ID, no Vault entry, no hook for CLM.
What CLM will do: if it happens to scan that repo and finds an embedded cert, it will flag it and send an alert. But the renewal and update are fully manual.
Recommendation: if you have embedded certificates, migrate them to NGC Vault and reference them via Order ID. That is how you get the full automation benefit.
[Check if anyone has this pattern in their application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NOTIFICATIONS
CLM sends 11 types of notifications. Your team will never be surprised by a certificate expiry.
Priority levels:
- Info (blue): informational — renewal started, renewal completed. No action needed.
- Warning/Alert (amber): something needs attention but is not critical yet. Partial completion, a step failed.
- Critical (red): requires immediate action. SLA Breach and Validation Failure are the ones you never want to receive without acting.
Key notifications to highlight:
#6 SLA Breach: This means the 60-day window has passed without successful renewal. When this fires, escalation is immediate. Do not ignore this notification.
#10 Weekly Inventory Report: Every Monday at 9 AM, a full view of all certificates associated with your CSI — their status and approaching expiries. Build this into your weekly review.
#11 Weekly Escalation: Monday 10 AM, only if there are critical unresolved issues. Same-day action required.
Recipients: All 11 types go to App Owner, CSI Team DL, and any additional notification emails configured during onboarding. If the right people are not receiving these — check your CSI notification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CSI ONBOARDING
Four steps. Once done, CLM takes over.
Step 1 — Access:
Production access: raise a Marketplace CMP request.
Dev/UAT: email the PFY DL with SOEID, role, team name, and reason.
Step 2 — Onboard CSI:
Most important step. Register your application in the PFY portal. Provide team email DL, SNOW DL, primary contact SOEID, and — critically for containers — your Bitbucket and GitHub repository URLs.
The repository URL is what tells CLM where to scan for certificate references. If you forget this — CLM discovers your certs but cannot scan your code.
Step 3 — FID Write Access:
Container-specific. CLM needs a Functional ID with write access to your repositories to create PRs automatically. Without this, every code update falls to the manual path.
Sort this out upfront. Grant the FID write access before onboarding — and you get full automation from day one.
Step 4 — CLM activates:
Once steps 1-3 are done: CLM connects to NGC Vault, builds your certificate inventory, starts 60-day SLA monitoring, and begins scanning your code. Automatically.
Critical fields — bottom table:
Highlight three fields specifically: SNOW DL, Repo URL, and FID Write Access. These three determine the quality of automation you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CLM vs IDEAL STATE
Being transparent about where containers stand.
FULL VISIBILITY — Achieved:
For certificates in NGC Vault, we have complete inventory. The scope qualifier is important: certs embedded in YAML or scripts are outside CLM view. Known gap, not a surprise.
ZERO-TOUCH RENEWAL — Achieved:
Renewal is fully automated. Code update PR is auto-created if FID has write access. The only human step is merging the PR.
IMPACT AWARENESS — Partial:
We scan repositories for cert references. But only repos we know about. If the repo URL was not configured at onboarding — that repo is invisible to CLM. Your team's responsibility to close.
AUTOMATED IN GREENZONE TIME — Partial:
The cert is in NGC Vault immediately. The PR is created automatically. But until the PR is merged, the running application still uses the old cert. Auto-merge is on the roadmap.
AUDIT AND COMPLIANCE — Achieved:
Complete. MongoDB log, SNOW CR, 11 notification types.
PROACTIVE GOVERNANCE — Achieved:
RBAC, escalation, notifications all fully live.
Summary: 4 of 6 pillars fully achieved today. The two partial pillars have clear paths — repo URL configuration closes Impact Awareness gap; auto-merge closes the Greenzone Time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ROADMAP
Left — What is live now:
Everything in the left column is in production today. The core end-to-end lifecycle — discover, renew, scan, PR, notify, audit — is live.
If your CSI is onboarded with the correct repo URLs and FID write access, this is working for you right now.
Middle — In progress:
GitHub is being added alongside Bitbucket — teams using GitHub will get the same automated scanning and PR creation.
OpenShift Route YAML scanning is in progress — this will extend CLM's reach to some of the embedded cert patterns not covered today.
Auto-merge is on the roadmap — when this ships, the PR merge step goes away and the entire workflow becomes fully zero-touch.
Right — Future:
The further items include alternative cert providers, connection validation, and eventually handling the embedded cert patterns currently outside CLM scope.
The embedded YAML certificate handling is the item that will close the remaining gap in Full Visibility.
[Questions on roadmap priorities are welcome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SUMMARY &amp; NEXT STEPS
Closing. Six things to walk out with.
1. What CLM delivers:
End-to-end. From the moment a certificate is in NGC Vault to the moment the PR is merged — CLM handles it. No manual tracking, no missed renewals.
2. What CLM does not cover:
Be honest with yourself. If your team has certificates embedded in YAML or scripts — those are not managed by CLM today. Either migrate them to NGC Vault, or own the manual renewal process.
3. What determines automation quality:
Three fields during onboarding determine whether you get full automated experience or a degraded one. Repository URL, FID write access, and SNOW DL. Your team's responsibility to get right.
4. 4 of 6 ideal state pillars:
Close to the ideal state. Gaps are known, bounded, and actively being addressed.
5. Next session:
GitHub integration, OpenShift Route scanning, and auto-merge. Separate invite to follow.
6. Your next action:
Three steps: Raise CMP request. Onboard CSI with repo URLs and FID access. CLM starts automatically.
[Open for final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56DAE"/>
          </a:solidFill>
          <a:ln w="12700">
            <a:solidFill>
              <a:srgbClr val="056DAE"/>
            </a:solidFill>
            <a:prstDash val="solid"/>
          </a:ln>
        </p:spPr>
      </p:sp>
      <p:sp>
        <p:nvSpPr>
          <p:cNvPr id="3" name="Shape 1"/>
          <p:cNvSpPr/>
          <p:nvPr/>
        </p:nvSpPr>
        <p:spPr>
          <a:xfrm>
            <a:off x="201168" y="0"/>
            <a:ext cx="8942832" cy="73152"/>
          </a:xfrm>
          <a:prstGeom prst="rect">
            <a:avLst/>
          </a:prstGeom>
          <a:solidFill>
            <a:srgbClr val="056DAE"/>
          </a:solidFill>
          <a:ln w="12700">
            <a:solidFill>
              <a:srgbClr val="056DAE"/>
            </a:solidFill>
            <a:prstDash val="solid"/>
          </a:ln>
        </p:spPr>
      </p:sp>
      <p:sp>
        <p:nvSpPr>
          <p:cNvPr id="4" name="Shape 2"/>
          <p:cNvSpPr/>
          <p:nvPr/>
        </p:nvSpPr>
        <p:spPr>
          <a:xfrm>
            <a:off x="5486400" y="2560320"/>
            <a:ext cx="3657600" cy="2583180"/>
          </a:xfrm>
          <a:prstGeom prst="rect">
            <a:avLst/>
          </a:prstGeom>
          <a:solidFill>
            <a:srgbClr val="056DAE">
              <a:alpha val="28000"/>
            </a:srgbClr>
          </a:solidFill>
          <a:ln w="12700">
            <a:solidFill>
              <a:srgbClr val="056DAE">
                <a:alpha val="28000"/>
              </a:srgbClr>
            </a:solidFill>
            <a:prstDash val="solid"/>
          </a:ln>
        </p:spPr>
      </p:sp>
      <p:sp>
        <p:nvSpPr>
          <p:cNvPr id="5" name="Text 3"/>
          <p:cNvSpPr/>
          <p:nvPr/>
        </p:nvSpPr>
        <p:spPr>
          <a:xfrm>
            <a:off x="457200" y="365760"/>
            <a:ext cx="5486400" cy="114300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CLM</a:t>
            </a:r>
            <a:endParaRPr lang="en-US" sz="8000" dirty="0"/>
          </a:p>
        </p:txBody>
      </p:sp>
      <p:sp>
        <p:nvSpPr>
          <p:cNvPr id="6" name="Text 4"/>
          <p:cNvSpPr/>
          <p:nvPr/>
        </p:nvSpPr>
        <p:spPr>
          <a:xfrm>
            <a:off x="457200" y="1481328"/>
            <a:ext cx="8229600" cy="475488"/>
          </a:xfrm>
          <a:prstGeom prst="rect">
            <a:avLst/>
          </a:prstGeom>
          <a:noFill/>
          <a:ln/>
        </p:spPr>
        <p:txBody>
          <a:bodyPr wrap="square" lIns="0" tIns="0" rIns="0" bIns="0" rtlCol="0" anchor="ctr"/>
          <a:lstStyle/>
          <a:p>
            <a:pPr indent="0" marL="0">
              <a:buNone/>
            </a:pPr>
            <a:r>
              <a:rPr lang="en-US" sz="2200" dirty="0">
                <a:solidFill>
                  <a:srgbClr val="D6E8F5"/>
                </a:solidFill>
                <a:latin typeface="Calibri" pitchFamily="34" charset="0"/>
                <a:ea typeface="Calibri" pitchFamily="34" charset="-122"/>
                <a:cs typeface="Calibri" pitchFamily="34" charset="-120"/>
              </a:rPr>
              <a:t>Container Certificate Management</a:t>
            </a:r>
            <a:endParaRPr lang="en-US" sz="2200" dirty="0"/>
          </a:p>
        </p:txBody>
      </p:sp>
      <p:sp>
        <p:nvSpPr>
          <p:cNvPr id="7" name="Shape 5"/>
          <p:cNvSpPr/>
          <p:nvPr/>
        </p:nvSpPr>
        <p:spPr>
          <a:xfrm>
            <a:off x="457200" y="2103120"/>
            <a:ext cx="4114800" cy="54864"/>
          </a:xfrm>
          <a:prstGeom prst="rect">
            <a:avLst/>
          </a:prstGeom>
          <a:solidFill>
            <a:srgbClr val="056DAE"/>
          </a:solidFill>
          <a:ln w="12700">
            <a:solidFill>
              <a:srgbClr val="056DAE"/>
            </a:solidFill>
            <a:prstDash val="solid"/>
          </a:ln>
        </p:spPr>
      </p:sp>
      <p:sp>
        <p:nvSpPr>
          <p:cNvPr id="8" name="Text 6"/>
          <p:cNvSpPr/>
          <p:nvPr/>
        </p:nvSpPr>
        <p:spPr>
          <a:xfrm>
            <a:off x="457200" y="2304288"/>
            <a:ext cx="7772400" cy="640080"/>
          </a:xfrm>
          <a:prstGeom prst="rect">
            <a:avLst/>
          </a:prstGeom>
          <a:noFill/>
          <a:ln/>
        </p:spPr>
        <p:txBody>
          <a:bodyPr wrap="square" lIns="0" tIns="0" rIns="0" bIns="0" rtlCol="0" anchor="ctr"/>
          <a:lstStyle/>
          <a:p>
            <a:pPr indent="0" marL="0">
              <a:buNone/>
            </a:pPr>
            <a:r>
              <a:rPr lang="en-US" sz="1500" dirty="0">
                <a:solidFill>
                  <a:srgbClr val="D6E8F5"/>
                </a:solidFill>
                <a:latin typeface="Calibri" pitchFamily="34" charset="0"/>
                <a:ea typeface="Calibri" pitchFamily="34" charset="-122"/>
                <a:cs typeface="Calibri" pitchFamily="34" charset="-120"/>
              </a:rPr>
              <a:t>End-to-end automated certificate lifecycle management</a:t>
            </a:r>
            <a:endParaRPr lang="en-US" sz="1500" dirty="0"/>
          </a:p>
          <a:p>
            <a:pPr indent="0" marL="0">
              <a:buNone/>
            </a:pPr>
            <a:r>
              <a:rPr lang="en-US" sz="1500" dirty="0">
                <a:solidFill>
                  <a:srgbClr val="D6E8F5"/>
                </a:solidFill>
                <a:latin typeface="Calibri" pitchFamily="34" charset="0"/>
                <a:ea typeface="Calibri" pitchFamily="34" charset="-122"/>
                <a:cs typeface="Calibri" pitchFamily="34" charset="-120"/>
              </a:rPr>
              <a:t>for OpenShift container workloads</a:t>
            </a:r>
            <a:endParaRPr lang="en-US" sz="1500" dirty="0"/>
          </a:p>
        </p:txBody>
      </p:sp>
      <p:sp>
        <p:nvSpPr>
          <p:cNvPr id="9" name="Shape 7"/>
          <p:cNvSpPr/>
          <p:nvPr/>
        </p:nvSpPr>
        <p:spPr>
          <a:xfrm>
            <a:off x="457200" y="3200400"/>
            <a:ext cx="2011680" cy="694944"/>
          </a:xfrm>
          <a:prstGeom prst="rect">
            <a:avLst/>
          </a:prstGeom>
          <a:solidFill>
            <a:srgbClr val="FFFFFF">
              <a:alpha val="12000"/>
            </a:srgbClr>
          </a:solidFill>
          <a:ln w="12700">
            <a:solidFill>
              <a:srgbClr val="056DAE">
                <a:alpha val="50000"/>
              </a:srgbClr>
            </a:solidFill>
            <a:prstDash val="solid"/>
          </a:ln>
        </p:spPr>
      </p:sp>
      <p:sp>
        <p:nvSpPr>
          <p:cNvPr id="10" name="Text 8"/>
          <p:cNvSpPr/>
          <p:nvPr/>
        </p:nvSpPr>
        <p:spPr>
          <a:xfrm>
            <a:off x="457200" y="3227832"/>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NGC Vault</a:t>
            </a:r>
            <a:endParaRPr lang="en-US" sz="1100" dirty="0"/>
          </a:p>
        </p:txBody>
      </p:sp>
      <p:sp>
        <p:nvSpPr>
          <p:cNvPr id="11" name="Text 9"/>
          <p:cNvSpPr/>
          <p:nvPr/>
        </p:nvSpPr>
        <p:spPr>
          <a:xfrm>
            <a:off x="457200" y="3520440"/>
            <a:ext cx="2011680" cy="256032"/>
          </a:xfrm>
          <a:prstGeom prst="rect">
            <a:avLst/>
          </a:prstGeom>
          <a:noFill/>
          <a:ln/>
        </p:spPr>
        <p:txBody>
          <a:bodyPr wrap="square" lIns="0" tIns="0" rIns="0" bIns="0" rtlCol="0" anchor="ctr"/>
          <a:lstStyle/>
          <a:p>
            <a:pPr algn="ctr" indent="0" marL="0">
              <a:buNone/>
            </a:pPr>
            <a:r>
              <a:rPr lang="en-US" sz="950" dirty="0">
                <a:solidFill>
                  <a:srgbClr val="D6E8F5"/>
                </a:solidFill>
                <a:latin typeface="Calibri" pitchFamily="34" charset="0"/>
                <a:ea typeface="Calibri" pitchFamily="34" charset="-122"/>
                <a:cs typeface="Calibri" pitchFamily="34" charset="-120"/>
              </a:rPr>
              <a:t>Discovery</a:t>
            </a:r>
            <a:endParaRPr lang="en-US" sz="950" dirty="0"/>
          </a:p>
        </p:txBody>
      </p:sp>
      <p:sp>
        <p:nvSpPr>
          <p:cNvPr id="12" name="Shape 10"/>
          <p:cNvSpPr/>
          <p:nvPr/>
        </p:nvSpPr>
        <p:spPr>
          <a:xfrm>
            <a:off x="2633472" y="3200400"/>
            <a:ext cx="2011680" cy="694944"/>
          </a:xfrm>
          <a:prstGeom prst="rect">
            <a:avLst/>
          </a:prstGeom>
          <a:solidFill>
            <a:srgbClr val="FFFFFF">
              <a:alpha val="12000"/>
            </a:srgbClr>
          </a:solidFill>
          <a:ln w="12700">
            <a:solidFill>
              <a:srgbClr val="056DAE">
                <a:alpha val="50000"/>
              </a:srgbClr>
            </a:solidFill>
            <a:prstDash val="solid"/>
          </a:ln>
        </p:spPr>
      </p:sp>
      <p:sp>
        <p:nvSpPr>
          <p:cNvPr id="13" name="Text 11"/>
          <p:cNvSpPr/>
          <p:nvPr/>
        </p:nvSpPr>
        <p:spPr>
          <a:xfrm>
            <a:off x="2633472" y="3227832"/>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Bitbucket / GitHub</a:t>
            </a:r>
            <a:endParaRPr lang="en-US" sz="1100" dirty="0"/>
          </a:p>
        </p:txBody>
      </p:sp>
      <p:sp>
        <p:nvSpPr>
          <p:cNvPr id="14" name="Text 12"/>
          <p:cNvSpPr/>
          <p:nvPr/>
        </p:nvSpPr>
        <p:spPr>
          <a:xfrm>
            <a:off x="2633472" y="3520440"/>
            <a:ext cx="2011680" cy="256032"/>
          </a:xfrm>
          <a:prstGeom prst="rect">
            <a:avLst/>
          </a:prstGeom>
          <a:noFill/>
          <a:ln/>
        </p:spPr>
        <p:txBody>
          <a:bodyPr wrap="square" lIns="0" tIns="0" rIns="0" bIns="0" rtlCol="0" anchor="ctr"/>
          <a:lstStyle/>
          <a:p>
            <a:pPr algn="ctr" indent="0" marL="0">
              <a:buNone/>
            </a:pPr>
            <a:r>
              <a:rPr lang="en-US" sz="950" dirty="0">
                <a:solidFill>
                  <a:srgbClr val="D6E8F5"/>
                </a:solidFill>
                <a:latin typeface="Calibri" pitchFamily="34" charset="0"/>
                <a:ea typeface="Calibri" pitchFamily="34" charset="-122"/>
                <a:cs typeface="Calibri" pitchFamily="34" charset="-120"/>
              </a:rPr>
              <a:t>Code Scanning</a:t>
            </a:r>
            <a:endParaRPr lang="en-US" sz="950" dirty="0"/>
          </a:p>
        </p:txBody>
      </p:sp>
      <p:sp>
        <p:nvSpPr>
          <p:cNvPr id="15" name="Shape 13"/>
          <p:cNvSpPr/>
          <p:nvPr/>
        </p:nvSpPr>
        <p:spPr>
          <a:xfrm>
            <a:off x="4809744" y="3200400"/>
            <a:ext cx="2011680" cy="694944"/>
          </a:xfrm>
          <a:prstGeom prst="rect">
            <a:avLst/>
          </a:prstGeom>
          <a:solidFill>
            <a:srgbClr val="FFFFFF">
              <a:alpha val="12000"/>
            </a:srgbClr>
          </a:solidFill>
          <a:ln w="12700">
            <a:solidFill>
              <a:srgbClr val="056DAE">
                <a:alpha val="50000"/>
              </a:srgbClr>
            </a:solidFill>
            <a:prstDash val="solid"/>
          </a:ln>
        </p:spPr>
      </p:sp>
      <p:sp>
        <p:nvSpPr>
          <p:cNvPr id="16" name="Text 14"/>
          <p:cNvSpPr/>
          <p:nvPr/>
        </p:nvSpPr>
        <p:spPr>
          <a:xfrm>
            <a:off x="4809744" y="3227832"/>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MSPKI CA</a:t>
            </a:r>
            <a:endParaRPr lang="en-US" sz="1100" dirty="0"/>
          </a:p>
        </p:txBody>
      </p:sp>
      <p:sp>
        <p:nvSpPr>
          <p:cNvPr id="17" name="Text 15"/>
          <p:cNvSpPr/>
          <p:nvPr/>
        </p:nvSpPr>
        <p:spPr>
          <a:xfrm>
            <a:off x="4809744" y="3520440"/>
            <a:ext cx="2011680" cy="256032"/>
          </a:xfrm>
          <a:prstGeom prst="rect">
            <a:avLst/>
          </a:prstGeom>
          <a:noFill/>
          <a:ln/>
        </p:spPr>
        <p:txBody>
          <a:bodyPr wrap="square" lIns="0" tIns="0" rIns="0" bIns="0" rtlCol="0" anchor="ctr"/>
          <a:lstStyle/>
          <a:p>
            <a:pPr algn="ctr" indent="0" marL="0">
              <a:buNone/>
            </a:pPr>
            <a:r>
              <a:rPr lang="en-US" sz="950" dirty="0">
                <a:solidFill>
                  <a:srgbClr val="D6E8F5"/>
                </a:solidFill>
                <a:latin typeface="Calibri" pitchFamily="34" charset="0"/>
                <a:ea typeface="Calibri" pitchFamily="34" charset="-122"/>
                <a:cs typeface="Calibri" pitchFamily="34" charset="-120"/>
              </a:rPr>
              <a:t>Renewal</a:t>
            </a:r>
            <a:endParaRPr lang="en-US" sz="950" dirty="0"/>
          </a:p>
        </p:txBody>
      </p:sp>
      <p:sp>
        <p:nvSpPr>
          <p:cNvPr id="18" name="Shape 16"/>
          <p:cNvSpPr/>
          <p:nvPr/>
        </p:nvSpPr>
        <p:spPr>
          <a:xfrm>
            <a:off x="6986016" y="3200400"/>
            <a:ext cx="2011680" cy="694944"/>
          </a:xfrm>
          <a:prstGeom prst="rect">
            <a:avLst/>
          </a:prstGeom>
          <a:solidFill>
            <a:srgbClr val="FFFFFF">
              <a:alpha val="12000"/>
            </a:srgbClr>
          </a:solidFill>
          <a:ln w="12700">
            <a:solidFill>
              <a:srgbClr val="056DAE">
                <a:alpha val="50000"/>
              </a:srgbClr>
            </a:solidFill>
            <a:prstDash val="solid"/>
          </a:ln>
        </p:spPr>
      </p:sp>
      <p:sp>
        <p:nvSpPr>
          <p:cNvPr id="19" name="Text 17"/>
          <p:cNvSpPr/>
          <p:nvPr/>
        </p:nvSpPr>
        <p:spPr>
          <a:xfrm>
            <a:off x="6986016" y="3227832"/>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Auto PR</a:t>
            </a:r>
            <a:endParaRPr lang="en-US" sz="1100" dirty="0"/>
          </a:p>
        </p:txBody>
      </p:sp>
      <p:sp>
        <p:nvSpPr>
          <p:cNvPr id="20" name="Text 18"/>
          <p:cNvSpPr/>
          <p:nvPr/>
        </p:nvSpPr>
        <p:spPr>
          <a:xfrm>
            <a:off x="6986016" y="3520440"/>
            <a:ext cx="2011680" cy="256032"/>
          </a:xfrm>
          <a:prstGeom prst="rect">
            <a:avLst/>
          </a:prstGeom>
          <a:noFill/>
          <a:ln/>
        </p:spPr>
        <p:txBody>
          <a:bodyPr wrap="square" lIns="0" tIns="0" rIns="0" bIns="0" rtlCol="0" anchor="ctr"/>
          <a:lstStyle/>
          <a:p>
            <a:pPr algn="ctr" indent="0" marL="0">
              <a:buNone/>
            </a:pPr>
            <a:r>
              <a:rPr lang="en-US" sz="950" dirty="0">
                <a:solidFill>
                  <a:srgbClr val="D6E8F5"/>
                </a:solidFill>
                <a:latin typeface="Calibri" pitchFamily="34" charset="0"/>
                <a:ea typeface="Calibri" pitchFamily="34" charset="-122"/>
                <a:cs typeface="Calibri" pitchFamily="34" charset="-120"/>
              </a:rPr>
              <a:t>Deployment</a:t>
            </a:r>
            <a:endParaRPr lang="en-US" sz="950" dirty="0"/>
          </a:p>
        </p:txBody>
      </p:sp>
      <p:sp>
        <p:nvSpPr>
          <p:cNvPr id="21" name="Text 19"/>
          <p:cNvSpPr/>
          <p:nvPr/>
        </p:nvSpPr>
        <p:spPr>
          <a:xfrm>
            <a:off x="457200" y="4736592"/>
            <a:ext cx="8321040" cy="228600"/>
          </a:xfrm>
          <a:prstGeom prst="rect">
            <a:avLst/>
          </a:prstGeom>
          <a:noFill/>
          <a:ln/>
        </p:spPr>
        <p:txBody>
          <a:bodyPr wrap="square" lIns="0" tIns="0" rIns="0" bIns="0" rtlCol="0" anchor="ctr"/>
          <a:lstStyle/>
          <a:p>
            <a:pPr indent="0" marL="0">
              <a:buNone/>
            </a:pPr>
            <a:r>
              <a:rPr lang="en-US" sz="1000" dirty="0">
                <a:solidFill>
                  <a:srgbClr val="8294A8"/>
                </a:solidFill>
                <a:latin typeface="Calibri" pitchFamily="34" charset="0"/>
                <a:ea typeface="Calibri" pitchFamily="34" charset="-122"/>
                <a:cs typeface="Calibri" pitchFamily="34" charset="-120"/>
              </a:rPr>
              <a:t>Audience: Application Owners  ·  CSI Managers  ·  Support Teams  ·  Senior Leadership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Why Container Certificate Management Needs Automation</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Certificates in containers are more complex — and more fragile — than VM certificates</a:t>
            </a:r>
            <a:endParaRPr lang="en-US" sz="1050" dirty="0"/>
          </a:p>
        </p:txBody>
      </p:sp>
      <p:sp>
        <p:nvSpPr>
          <p:cNvPr id="6" name="Shape 4"/>
          <p:cNvSpPr/>
          <p:nvPr/>
        </p:nvSpPr>
        <p:spPr>
          <a:xfrm>
            <a:off x="292608" y="886968"/>
            <a:ext cx="2788920" cy="1719072"/>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92608" y="886968"/>
            <a:ext cx="2788920" cy="384048"/>
          </a:xfrm>
          <a:prstGeom prst="rect">
            <a:avLst/>
          </a:prstGeom>
          <a:solidFill>
            <a:srgbClr val="1565C0"/>
          </a:solidFill>
          <a:ln w="12700">
            <a:solidFill>
              <a:srgbClr val="1565C0"/>
            </a:solidFill>
            <a:prstDash val="solid"/>
          </a:ln>
        </p:spPr>
      </p:sp>
      <p:sp>
        <p:nvSpPr>
          <p:cNvPr id="8" name="Text 6"/>
          <p:cNvSpPr/>
          <p:nvPr/>
        </p:nvSpPr>
        <p:spPr>
          <a:xfrm>
            <a:off x="402336" y="914400"/>
            <a:ext cx="263347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Certificates stored multiple ways</a:t>
            </a:r>
            <a:endParaRPr lang="en-US" sz="1100" dirty="0"/>
          </a:p>
        </p:txBody>
      </p:sp>
      <p:sp>
        <p:nvSpPr>
          <p:cNvPr id="9" name="Text 7"/>
          <p:cNvSpPr/>
          <p:nvPr/>
        </p:nvSpPr>
        <p:spPr>
          <a:xfrm>
            <a:off x="402336" y="1371600"/>
            <a:ext cx="2633472" cy="117043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Containers reference certificates via NGC Vault Order IDs, embedded in YAML files, or hard-coded in scripts. Each pattern has different automation complexity.</a:t>
            </a:r>
            <a:endParaRPr lang="en-US" sz="950" dirty="0"/>
          </a:p>
        </p:txBody>
      </p:sp>
      <p:sp>
        <p:nvSpPr>
          <p:cNvPr id="10" name="Shape 8"/>
          <p:cNvSpPr/>
          <p:nvPr/>
        </p:nvSpPr>
        <p:spPr>
          <a:xfrm>
            <a:off x="3236976" y="886968"/>
            <a:ext cx="2788920" cy="1719072"/>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11" name="Shape 9"/>
          <p:cNvSpPr/>
          <p:nvPr/>
        </p:nvSpPr>
        <p:spPr>
          <a:xfrm>
            <a:off x="3236976" y="886968"/>
            <a:ext cx="2788920" cy="384048"/>
          </a:xfrm>
          <a:prstGeom prst="rect">
            <a:avLst/>
          </a:prstGeom>
          <a:solidFill>
            <a:srgbClr val="056DAE"/>
          </a:solidFill>
          <a:ln w="12700">
            <a:solidFill>
              <a:srgbClr val="056DAE"/>
            </a:solidFill>
            <a:prstDash val="solid"/>
          </a:ln>
        </p:spPr>
      </p:sp>
      <p:sp>
        <p:nvSpPr>
          <p:cNvPr id="12" name="Text 10"/>
          <p:cNvSpPr/>
          <p:nvPr/>
        </p:nvSpPr>
        <p:spPr>
          <a:xfrm>
            <a:off x="3346704" y="914400"/>
            <a:ext cx="263347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Distributed code references</a:t>
            </a:r>
            <a:endParaRPr lang="en-US" sz="1100" dirty="0"/>
          </a:p>
        </p:txBody>
      </p:sp>
      <p:sp>
        <p:nvSpPr>
          <p:cNvPr id="13" name="Text 11"/>
          <p:cNvSpPr/>
          <p:nvPr/>
        </p:nvSpPr>
        <p:spPr>
          <a:xfrm>
            <a:off x="3346704" y="1371600"/>
            <a:ext cx="2633472" cy="117043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When a certificate renews and gets a new Order ID, every code file referencing the old Order ID must be updated — across potentially dozens of repositories.</a:t>
            </a:r>
            <a:endParaRPr lang="en-US" sz="950" dirty="0"/>
          </a:p>
        </p:txBody>
      </p:sp>
      <p:sp>
        <p:nvSpPr>
          <p:cNvPr id="14" name="Shape 12"/>
          <p:cNvSpPr/>
          <p:nvPr/>
        </p:nvSpPr>
        <p:spPr>
          <a:xfrm>
            <a:off x="6181344" y="886968"/>
            <a:ext cx="2788920" cy="1719072"/>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6181344" y="886968"/>
            <a:ext cx="2788920" cy="384048"/>
          </a:xfrm>
          <a:prstGeom prst="rect">
            <a:avLst/>
          </a:prstGeom>
          <a:solidFill>
            <a:srgbClr val="003B70"/>
          </a:solidFill>
          <a:ln w="12700">
            <a:solidFill>
              <a:srgbClr val="003B70"/>
            </a:solidFill>
            <a:prstDash val="solid"/>
          </a:ln>
        </p:spPr>
      </p:sp>
      <p:sp>
        <p:nvSpPr>
          <p:cNvPr id="16" name="Text 14"/>
          <p:cNvSpPr/>
          <p:nvPr/>
        </p:nvSpPr>
        <p:spPr>
          <a:xfrm>
            <a:off x="6291072" y="914400"/>
            <a:ext cx="263347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Multiple teams, one certificate</a:t>
            </a:r>
            <a:endParaRPr lang="en-US" sz="1100" dirty="0"/>
          </a:p>
        </p:txBody>
      </p:sp>
      <p:sp>
        <p:nvSpPr>
          <p:cNvPr id="17" name="Text 15"/>
          <p:cNvSpPr/>
          <p:nvPr/>
        </p:nvSpPr>
        <p:spPr>
          <a:xfrm>
            <a:off x="6291072" y="1371600"/>
            <a:ext cx="2633472" cy="117043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The same certificate may be consumed by multiple microservices maintained by different teams. A missed renewal impacts all of them simultaneously.</a:t>
            </a:r>
            <a:endParaRPr lang="en-US" sz="950" dirty="0"/>
          </a:p>
        </p:txBody>
      </p:sp>
      <p:sp>
        <p:nvSpPr>
          <p:cNvPr id="18" name="Shape 16"/>
          <p:cNvSpPr/>
          <p:nvPr/>
        </p:nvSpPr>
        <p:spPr>
          <a:xfrm>
            <a:off x="292608" y="2788920"/>
            <a:ext cx="4297680" cy="2148840"/>
          </a:xfrm>
          <a:prstGeom prst="rect">
            <a:avLst/>
          </a:prstGeom>
          <a:solidFill>
            <a:srgbClr val="FDE8EC"/>
          </a:solidFill>
          <a:ln w="10160">
            <a:solidFill>
              <a:srgbClr val="C8102E"/>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292608" y="2788920"/>
            <a:ext cx="4297680" cy="384048"/>
          </a:xfrm>
          <a:prstGeom prst="rect">
            <a:avLst/>
          </a:prstGeom>
          <a:solidFill>
            <a:srgbClr val="C8102E"/>
          </a:solidFill>
          <a:ln w="12700">
            <a:solidFill>
              <a:srgbClr val="C8102E"/>
            </a:solidFill>
            <a:prstDash val="solid"/>
          </a:ln>
        </p:spPr>
      </p:sp>
      <p:sp>
        <p:nvSpPr>
          <p:cNvPr id="20" name="Text 18"/>
          <p:cNvSpPr/>
          <p:nvPr/>
        </p:nvSpPr>
        <p:spPr>
          <a:xfrm>
            <a:off x="402336" y="2807208"/>
            <a:ext cx="4114800"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Without CLM — Manual Process</a:t>
            </a:r>
            <a:endParaRPr lang="en-US" sz="1150" dirty="0"/>
          </a:p>
        </p:txBody>
      </p:sp>
      <p:sp>
        <p:nvSpPr>
          <p:cNvPr id="21" name="Text 19"/>
          <p:cNvSpPr/>
          <p:nvPr/>
        </p:nvSpPr>
        <p:spPr>
          <a:xfrm>
            <a:off x="420624" y="3255264"/>
            <a:ext cx="4114800" cy="1609344"/>
          </a:xfrm>
          <a:prstGeom prst="rect">
            <a:avLst/>
          </a:prstGeom>
          <a:noFill/>
          <a:ln/>
        </p:spPr>
        <p:txBody>
          <a:bodyPr wrap="square" rtlCol="0" anchor="ctr"/>
          <a:lstStyle/>
          <a:p>
            <a:pPr marL="342900" indent="-342900">
              <a:spcAft>
                <a:spcPts val="500"/>
              </a:spcAft>
              <a:buSzPct val="100000"/>
              <a:buChar char="•"/>
            </a:pPr>
            <a:r>
              <a:rPr lang="en-US" sz="1050" dirty="0">
                <a:solidFill>
                  <a:srgbClr val="1A2B40"/>
                </a:solidFill>
                <a:latin typeface="Calibri" pitchFamily="34" charset="0"/>
                <a:ea typeface="Calibri" pitchFamily="34" charset="-122"/>
                <a:cs typeface="Calibri" pitchFamily="34" charset="-120"/>
              </a:rPr>
              <a:t>Track expiry manually across all container workloads</a:t>
            </a:r>
            <a:endParaRPr lang="en-US" sz="1050" dirty="0"/>
          </a:p>
          <a:p>
            <a:pPr marL="342900" indent="-342900">
              <a:spcAft>
                <a:spcPts val="500"/>
              </a:spcAft>
              <a:buSzPct val="100000"/>
              <a:buChar char="•"/>
            </a:pPr>
            <a:r>
              <a:rPr lang="en-US" sz="1050" dirty="0">
                <a:solidFill>
                  <a:srgbClr val="1A2B40"/>
                </a:solidFill>
                <a:latin typeface="Calibri" pitchFamily="34" charset="0"/>
                <a:ea typeface="Calibri" pitchFamily="34" charset="-122"/>
                <a:cs typeface="Calibri" pitchFamily="34" charset="-120"/>
              </a:rPr>
              <a:t>Manually update Order IDs in every codebase after renewal</a:t>
            </a:r>
            <a:endParaRPr lang="en-US" sz="1050" dirty="0"/>
          </a:p>
          <a:p>
            <a:pPr marL="342900" indent="-342900">
              <a:spcAft>
                <a:spcPts val="500"/>
              </a:spcAft>
              <a:buSzPct val="100000"/>
              <a:buChar char="•"/>
            </a:pPr>
            <a:r>
              <a:rPr lang="en-US" sz="1050" dirty="0">
                <a:solidFill>
                  <a:srgbClr val="1A2B40"/>
                </a:solidFill>
                <a:latin typeface="Calibri" pitchFamily="34" charset="0"/>
                <a:ea typeface="Calibri" pitchFamily="34" charset="-122"/>
                <a:cs typeface="Calibri" pitchFamily="34" charset="-120"/>
              </a:rPr>
              <a:t>No central view of which microservices are at risk</a:t>
            </a:r>
            <a:endParaRPr lang="en-US" sz="1050" dirty="0"/>
          </a:p>
          <a:p>
            <a:pPr marL="342900" indent="-342900">
              <a:buSzPct val="100000"/>
              <a:buChar char="•"/>
            </a:pPr>
            <a:r>
              <a:rPr lang="en-US" sz="1050" dirty="0">
                <a:solidFill>
                  <a:srgbClr val="1A2B40"/>
                </a:solidFill>
                <a:latin typeface="Calibri" pitchFamily="34" charset="0"/>
                <a:ea typeface="Calibri" pitchFamily="34" charset="-122"/>
                <a:cs typeface="Calibri" pitchFamily="34" charset="-120"/>
              </a:rPr>
              <a:t>Certificates expire → services fail → incidents raised</a:t>
            </a:r>
            <a:endParaRPr lang="en-US" sz="1050" dirty="0"/>
          </a:p>
        </p:txBody>
      </p:sp>
      <p:sp>
        <p:nvSpPr>
          <p:cNvPr id="22" name="Shape 20"/>
          <p:cNvSpPr/>
          <p:nvPr/>
        </p:nvSpPr>
        <p:spPr>
          <a:xfrm>
            <a:off x="4828032" y="2788920"/>
            <a:ext cx="4041648" cy="2148840"/>
          </a:xfrm>
          <a:prstGeom prst="rect">
            <a:avLst/>
          </a:prstGeom>
          <a:solidFill>
            <a:srgbClr val="EBF7EE"/>
          </a:solidFill>
          <a:ln w="10160">
            <a:solidFill>
              <a:srgbClr val="1A6632"/>
            </a:solidFill>
            <a:prstDash val="solid"/>
          </a:ln>
          <a:effectLst>
            <a:outerShdw sx="100000" sy="100000" kx="0" ky="0" algn="bl" rotWithShape="0" blurRad="63500" dist="25400" dir="8100000">
              <a:srgbClr val="000000">
                <a:alpha val="7000"/>
              </a:srgbClr>
            </a:outerShdw>
          </a:effectLst>
        </p:spPr>
      </p:sp>
      <p:sp>
        <p:nvSpPr>
          <p:cNvPr id="23" name="Shape 21"/>
          <p:cNvSpPr/>
          <p:nvPr/>
        </p:nvSpPr>
        <p:spPr>
          <a:xfrm>
            <a:off x="4828032" y="2788920"/>
            <a:ext cx="4041648" cy="384048"/>
          </a:xfrm>
          <a:prstGeom prst="rect">
            <a:avLst/>
          </a:prstGeom>
          <a:solidFill>
            <a:srgbClr val="1A6632"/>
          </a:solidFill>
          <a:ln w="12700">
            <a:solidFill>
              <a:srgbClr val="1A6632"/>
            </a:solidFill>
            <a:prstDash val="solid"/>
          </a:ln>
        </p:spPr>
      </p:sp>
      <p:sp>
        <p:nvSpPr>
          <p:cNvPr id="24" name="Text 22"/>
          <p:cNvSpPr/>
          <p:nvPr/>
        </p:nvSpPr>
        <p:spPr>
          <a:xfrm>
            <a:off x="4937760" y="2807208"/>
            <a:ext cx="3840480"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With CLM — Automated &amp; Governed</a:t>
            </a:r>
            <a:endParaRPr lang="en-US" sz="1150" dirty="0"/>
          </a:p>
        </p:txBody>
      </p:sp>
      <p:sp>
        <p:nvSpPr>
          <p:cNvPr id="25" name="Text 23"/>
          <p:cNvSpPr/>
          <p:nvPr/>
        </p:nvSpPr>
        <p:spPr>
          <a:xfrm>
            <a:off x="4956048" y="3255264"/>
            <a:ext cx="3840480" cy="1609344"/>
          </a:xfrm>
          <a:prstGeom prst="rect">
            <a:avLst/>
          </a:prstGeom>
          <a:noFill/>
          <a:ln/>
        </p:spPr>
        <p:txBody>
          <a:bodyPr wrap="square" rtlCol="0" anchor="ctr"/>
          <a:lstStyle/>
          <a:p>
            <a:pPr marL="342900" indent="-342900">
              <a:spcAft>
                <a:spcPts val="500"/>
              </a:spcAft>
              <a:buSzPct val="100000"/>
              <a:buChar char="•"/>
            </a:pPr>
            <a:r>
              <a:rPr lang="en-US" sz="1050" dirty="0">
                <a:solidFill>
                  <a:srgbClr val="1A2B40"/>
                </a:solidFill>
                <a:latin typeface="Calibri" pitchFamily="34" charset="0"/>
                <a:ea typeface="Calibri" pitchFamily="34" charset="-122"/>
                <a:cs typeface="Calibri" pitchFamily="34" charset="-120"/>
              </a:rPr>
              <a:t>Certificates discovered automatically from NGC Vault</a:t>
            </a:r>
            <a:endParaRPr lang="en-US" sz="1050" dirty="0"/>
          </a:p>
          <a:p>
            <a:pPr marL="342900" indent="-342900">
              <a:spcAft>
                <a:spcPts val="500"/>
              </a:spcAft>
              <a:buSzPct val="100000"/>
              <a:buChar char="•"/>
            </a:pPr>
            <a:r>
              <a:rPr lang="en-US" sz="1050" dirty="0">
                <a:solidFill>
                  <a:srgbClr val="1A2B40"/>
                </a:solidFill>
                <a:latin typeface="Calibri" pitchFamily="34" charset="0"/>
                <a:ea typeface="Calibri" pitchFamily="34" charset="-122"/>
                <a:cs typeface="Calibri" pitchFamily="34" charset="-120"/>
              </a:rPr>
              <a:t>Renewal triggered at 60-day SLA — no human prompt</a:t>
            </a:r>
            <a:endParaRPr lang="en-US" sz="1050" dirty="0"/>
          </a:p>
          <a:p>
            <a:pPr marL="342900" indent="-342900">
              <a:spcAft>
                <a:spcPts val="500"/>
              </a:spcAft>
              <a:buSzPct val="100000"/>
              <a:buChar char="•"/>
            </a:pPr>
            <a:r>
              <a:rPr lang="en-US" sz="1050" dirty="0">
                <a:solidFill>
                  <a:srgbClr val="1A2B40"/>
                </a:solidFill>
                <a:latin typeface="Calibri" pitchFamily="34" charset="0"/>
                <a:ea typeface="Calibri" pitchFamily="34" charset="-122"/>
                <a:cs typeface="Calibri" pitchFamily="34" charset="-120"/>
              </a:rPr>
              <a:t>Code updated automatically via PR in Bitbucket/GitHub</a:t>
            </a:r>
            <a:endParaRPr lang="en-US" sz="1050" dirty="0"/>
          </a:p>
          <a:p>
            <a:pPr marL="342900" indent="-342900">
              <a:buSzPct val="100000"/>
              <a:buChar char="•"/>
            </a:pPr>
            <a:r>
              <a:rPr lang="en-US" sz="1050" dirty="0">
                <a:solidFill>
                  <a:srgbClr val="1A2B40"/>
                </a:solidFill>
                <a:latin typeface="Calibri" pitchFamily="34" charset="0"/>
                <a:ea typeface="Calibri" pitchFamily="34" charset="-122"/>
                <a:cs typeface="Calibri" pitchFamily="34" charset="-120"/>
              </a:rPr>
              <a:t>Full audit trail, notifications, and SNOW CR for every action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What CLM Does for Container Certificates</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Six capabilities — from discovery to governance — all automated</a:t>
            </a:r>
            <a:endParaRPr lang="en-US" sz="1050" dirty="0"/>
          </a:p>
        </p:txBody>
      </p:sp>
      <p:sp>
        <p:nvSpPr>
          <p:cNvPr id="6" name="Shape 4"/>
          <p:cNvSpPr/>
          <p:nvPr/>
        </p:nvSpPr>
        <p:spPr>
          <a:xfrm>
            <a:off x="292608" y="886968"/>
            <a:ext cx="2724912" cy="1901952"/>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92608" y="886968"/>
            <a:ext cx="2724912" cy="402336"/>
          </a:xfrm>
          <a:prstGeom prst="rect">
            <a:avLst/>
          </a:prstGeom>
          <a:solidFill>
            <a:srgbClr val="003B70"/>
          </a:solidFill>
          <a:ln w="12700">
            <a:solidFill>
              <a:srgbClr val="003B70"/>
            </a:solidFill>
            <a:prstDash val="solid"/>
          </a:ln>
        </p:spPr>
      </p:sp>
      <p:sp>
        <p:nvSpPr>
          <p:cNvPr id="8" name="Text 6"/>
          <p:cNvSpPr/>
          <p:nvPr/>
        </p:nvSpPr>
        <p:spPr>
          <a:xfrm>
            <a:off x="402336" y="960120"/>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1  Centralised Discovery</a:t>
            </a:r>
            <a:endParaRPr lang="en-US" sz="1150" dirty="0"/>
          </a:p>
        </p:txBody>
      </p:sp>
      <p:sp>
        <p:nvSpPr>
          <p:cNvPr id="9" name="Text 7"/>
          <p:cNvSpPr/>
          <p:nvPr/>
        </p:nvSpPr>
        <p:spPr>
          <a:xfrm>
            <a:off x="402336" y="1399032"/>
            <a:ext cx="2542032" cy="130759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Discovers all certificates from NGC Vault. Builds complete inventory — CN, Order ID, Nickname, expiry, owner, and affected CSI.</a:t>
            </a:r>
            <a:endParaRPr lang="en-US" sz="950" dirty="0"/>
          </a:p>
        </p:txBody>
      </p:sp>
      <p:sp>
        <p:nvSpPr>
          <p:cNvPr id="10" name="Shape 8"/>
          <p:cNvSpPr/>
          <p:nvPr/>
        </p:nvSpPr>
        <p:spPr>
          <a:xfrm>
            <a:off x="3108960" y="886968"/>
            <a:ext cx="2724912" cy="1901952"/>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1" name="Shape 9"/>
          <p:cNvSpPr/>
          <p:nvPr/>
        </p:nvSpPr>
        <p:spPr>
          <a:xfrm>
            <a:off x="3108960" y="886968"/>
            <a:ext cx="2724912" cy="402336"/>
          </a:xfrm>
          <a:prstGeom prst="rect">
            <a:avLst/>
          </a:prstGeom>
          <a:solidFill>
            <a:srgbClr val="1565C0"/>
          </a:solidFill>
          <a:ln w="12700">
            <a:solidFill>
              <a:srgbClr val="1565C0"/>
            </a:solidFill>
            <a:prstDash val="solid"/>
          </a:ln>
        </p:spPr>
      </p:sp>
      <p:sp>
        <p:nvSpPr>
          <p:cNvPr id="12" name="Text 10"/>
          <p:cNvSpPr/>
          <p:nvPr/>
        </p:nvSpPr>
        <p:spPr>
          <a:xfrm>
            <a:off x="3218688" y="960120"/>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2  60-Day SLA Enforcement</a:t>
            </a:r>
            <a:endParaRPr lang="en-US" sz="1150" dirty="0"/>
          </a:p>
        </p:txBody>
      </p:sp>
      <p:sp>
        <p:nvSpPr>
          <p:cNvPr id="13" name="Text 11"/>
          <p:cNvSpPr/>
          <p:nvPr/>
        </p:nvSpPr>
        <p:spPr>
          <a:xfrm>
            <a:off x="3218688" y="1399032"/>
            <a:ext cx="2542032" cy="130759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Monitors every certificate. 60 days before expiry — auto-renewal triggered automatically. No human prompt required. Staggered for multi-instance certs.</a:t>
            </a:r>
            <a:endParaRPr lang="en-US" sz="950" dirty="0"/>
          </a:p>
        </p:txBody>
      </p:sp>
      <p:sp>
        <p:nvSpPr>
          <p:cNvPr id="14" name="Shape 12"/>
          <p:cNvSpPr/>
          <p:nvPr/>
        </p:nvSpPr>
        <p:spPr>
          <a:xfrm>
            <a:off x="5925312" y="886968"/>
            <a:ext cx="2724912" cy="1901952"/>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5925312" y="886968"/>
            <a:ext cx="2724912" cy="402336"/>
          </a:xfrm>
          <a:prstGeom prst="rect">
            <a:avLst/>
          </a:prstGeom>
          <a:solidFill>
            <a:srgbClr val="056DAE"/>
          </a:solidFill>
          <a:ln w="12700">
            <a:solidFill>
              <a:srgbClr val="056DAE"/>
            </a:solidFill>
            <a:prstDash val="solid"/>
          </a:ln>
        </p:spPr>
      </p:sp>
      <p:sp>
        <p:nvSpPr>
          <p:cNvPr id="16" name="Text 14"/>
          <p:cNvSpPr/>
          <p:nvPr/>
        </p:nvSpPr>
        <p:spPr>
          <a:xfrm>
            <a:off x="6035040" y="960120"/>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3  Code-Centric Impact Scan</a:t>
            </a:r>
            <a:endParaRPr lang="en-US" sz="1150" dirty="0"/>
          </a:p>
        </p:txBody>
      </p:sp>
      <p:sp>
        <p:nvSpPr>
          <p:cNvPr id="17" name="Text 15"/>
          <p:cNvSpPr/>
          <p:nvPr/>
        </p:nvSpPr>
        <p:spPr>
          <a:xfrm>
            <a:off x="6035040" y="1399032"/>
            <a:ext cx="2542032" cy="130759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Scans Bitbucket and GitHub repositories for Order ID and Nickname references. Identifies every file and application consuming the certificate.</a:t>
            </a:r>
            <a:endParaRPr lang="en-US" sz="950" dirty="0"/>
          </a:p>
        </p:txBody>
      </p:sp>
      <p:sp>
        <p:nvSpPr>
          <p:cNvPr id="18" name="Shape 16"/>
          <p:cNvSpPr/>
          <p:nvPr/>
        </p:nvSpPr>
        <p:spPr>
          <a:xfrm>
            <a:off x="292608" y="2880360"/>
            <a:ext cx="2724912" cy="1901952"/>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292608" y="2880360"/>
            <a:ext cx="2724912" cy="402336"/>
          </a:xfrm>
          <a:prstGeom prst="rect">
            <a:avLst/>
          </a:prstGeom>
          <a:solidFill>
            <a:srgbClr val="00838F"/>
          </a:solidFill>
          <a:ln w="12700">
            <a:solidFill>
              <a:srgbClr val="00838F"/>
            </a:solidFill>
            <a:prstDash val="solid"/>
          </a:ln>
        </p:spPr>
      </p:sp>
      <p:sp>
        <p:nvSpPr>
          <p:cNvPr id="20" name="Text 18"/>
          <p:cNvSpPr/>
          <p:nvPr/>
        </p:nvSpPr>
        <p:spPr>
          <a:xfrm>
            <a:off x="402336" y="2953512"/>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4  Automated PR Creation</a:t>
            </a:r>
            <a:endParaRPr lang="en-US" sz="1150" dirty="0"/>
          </a:p>
        </p:txBody>
      </p:sp>
      <p:sp>
        <p:nvSpPr>
          <p:cNvPr id="21" name="Text 19"/>
          <p:cNvSpPr/>
          <p:nvPr/>
        </p:nvSpPr>
        <p:spPr>
          <a:xfrm>
            <a:off x="402336" y="3392424"/>
            <a:ext cx="2542032" cy="130759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If CLM FID has write access: creates feature branch, updates Order ID, raises Pull Request automatically. Commit message, PR title and reviewers all set.</a:t>
            </a:r>
            <a:endParaRPr lang="en-US" sz="950" dirty="0"/>
          </a:p>
        </p:txBody>
      </p:sp>
      <p:sp>
        <p:nvSpPr>
          <p:cNvPr id="22" name="Shape 20"/>
          <p:cNvSpPr/>
          <p:nvPr/>
        </p:nvSpPr>
        <p:spPr>
          <a:xfrm>
            <a:off x="3108960" y="2880360"/>
            <a:ext cx="2724912" cy="1901952"/>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23" name="Shape 21"/>
          <p:cNvSpPr/>
          <p:nvPr/>
        </p:nvSpPr>
        <p:spPr>
          <a:xfrm>
            <a:off x="3108960" y="2880360"/>
            <a:ext cx="2724912" cy="402336"/>
          </a:xfrm>
          <a:prstGeom prst="rect">
            <a:avLst/>
          </a:prstGeom>
          <a:solidFill>
            <a:srgbClr val="1A6632"/>
          </a:solidFill>
          <a:ln w="12700">
            <a:solidFill>
              <a:srgbClr val="1A6632"/>
            </a:solidFill>
            <a:prstDash val="solid"/>
          </a:ln>
        </p:spPr>
      </p:sp>
      <p:sp>
        <p:nvSpPr>
          <p:cNvPr id="24" name="Text 22"/>
          <p:cNvSpPr/>
          <p:nvPr/>
        </p:nvSpPr>
        <p:spPr>
          <a:xfrm>
            <a:off x="3218688" y="2953512"/>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5  Full Audit &amp; SNOW CR</a:t>
            </a:r>
            <a:endParaRPr lang="en-US" sz="1150" dirty="0"/>
          </a:p>
        </p:txBody>
      </p:sp>
      <p:sp>
        <p:nvSpPr>
          <p:cNvPr id="25" name="Text 23"/>
          <p:cNvSpPr/>
          <p:nvPr/>
        </p:nvSpPr>
        <p:spPr>
          <a:xfrm>
            <a:off x="3218688" y="3392424"/>
            <a:ext cx="2542032" cy="130759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Every action logged to MongoDB. SNOW Change Request raised for all deployments. 11 notification types covering the full lifecycle.</a:t>
            </a:r>
            <a:endParaRPr lang="en-US" sz="950" dirty="0"/>
          </a:p>
        </p:txBody>
      </p:sp>
      <p:sp>
        <p:nvSpPr>
          <p:cNvPr id="26" name="Shape 24"/>
          <p:cNvSpPr/>
          <p:nvPr/>
        </p:nvSpPr>
        <p:spPr>
          <a:xfrm>
            <a:off x="5925312" y="2880360"/>
            <a:ext cx="2724912" cy="1901952"/>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27" name="Shape 25"/>
          <p:cNvSpPr/>
          <p:nvPr/>
        </p:nvSpPr>
        <p:spPr>
          <a:xfrm>
            <a:off x="5925312" y="2880360"/>
            <a:ext cx="2724912" cy="402336"/>
          </a:xfrm>
          <a:prstGeom prst="rect">
            <a:avLst/>
          </a:prstGeom>
          <a:solidFill>
            <a:srgbClr val="00376A"/>
          </a:solidFill>
          <a:ln w="12700">
            <a:solidFill>
              <a:srgbClr val="00376A"/>
            </a:solidFill>
            <a:prstDash val="solid"/>
          </a:ln>
        </p:spPr>
      </p:sp>
      <p:sp>
        <p:nvSpPr>
          <p:cNvPr id="28" name="Text 26"/>
          <p:cNvSpPr/>
          <p:nvPr/>
        </p:nvSpPr>
        <p:spPr>
          <a:xfrm>
            <a:off x="6035040" y="2953512"/>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6  Seamless Coexistence</a:t>
            </a:r>
            <a:endParaRPr lang="en-US" sz="1150" dirty="0"/>
          </a:p>
        </p:txBody>
      </p:sp>
      <p:sp>
        <p:nvSpPr>
          <p:cNvPr id="29" name="Text 27"/>
          <p:cNvSpPr/>
          <p:nvPr/>
        </p:nvSpPr>
        <p:spPr>
          <a:xfrm>
            <a:off x="6035040" y="3392424"/>
            <a:ext cx="2542032" cy="1307592"/>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Old and new certificates function concurrently during transition. No application downtime or forced restart required to switch over.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Certificate Renewal Business Journey — Containers</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End-to-end: Discovery from NGC Vault → SLA management → Code scanning → PR update → Validation</a:t>
            </a:r>
            <a:endParaRPr lang="en-US" sz="1050" dirty="0"/>
          </a:p>
        </p:txBody>
      </p:sp>
      <p:sp>
        <p:nvSpPr>
          <p:cNvPr id="6" name="Shape 4"/>
          <p:cNvSpPr/>
          <p:nvPr/>
        </p:nvSpPr>
        <p:spPr>
          <a:xfrm>
            <a:off x="274320" y="886968"/>
            <a:ext cx="1417320" cy="3977640"/>
          </a:xfrm>
          <a:prstGeom prst="rect">
            <a:avLst/>
          </a:prstGeom>
          <a:solidFill>
            <a:srgbClr val="FFFFFF"/>
          </a:solidFill>
          <a:ln w="5080">
            <a:solidFill>
              <a:srgbClr val="E2E8F0"/>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74320" y="886968"/>
            <a:ext cx="1417320" cy="475488"/>
          </a:xfrm>
          <a:prstGeom prst="rect">
            <a:avLst/>
          </a:prstGeom>
          <a:solidFill>
            <a:srgbClr val="1565C0"/>
          </a:solidFill>
          <a:ln w="12700">
            <a:solidFill>
              <a:srgbClr val="1565C0"/>
            </a:solidFill>
            <a:prstDash val="solid"/>
          </a:ln>
        </p:spPr>
      </p:sp>
      <p:sp>
        <p:nvSpPr>
          <p:cNvPr id="8" name="Text 6"/>
          <p:cNvSpPr/>
          <p:nvPr/>
        </p:nvSpPr>
        <p:spPr>
          <a:xfrm>
            <a:off x="310896" y="960120"/>
            <a:ext cx="1362456"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DISCOVERY</a:t>
            </a:r>
            <a:endParaRPr lang="en-US" sz="850" dirty="0"/>
          </a:p>
        </p:txBody>
      </p:sp>
      <p:sp>
        <p:nvSpPr>
          <p:cNvPr id="9" name="Text 7"/>
          <p:cNvSpPr/>
          <p:nvPr/>
        </p:nvSpPr>
        <p:spPr>
          <a:xfrm>
            <a:off x="329184" y="14538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Centralised Discovery: </a:t>
            </a:r>
            <a:pPr indent="0" marL="0">
              <a:buNone/>
            </a:pPr>
            <a:r>
              <a:rPr lang="en-US" sz="850" dirty="0">
                <a:solidFill>
                  <a:srgbClr val="1A2B40"/>
                </a:solidFill>
                <a:latin typeface="Calibri" pitchFamily="34" charset="0"/>
                <a:ea typeface="Calibri" pitchFamily="34" charset="-122"/>
                <a:cs typeface="Calibri" pitchFamily="34" charset="-120"/>
              </a:rPr>
              <a:t>Discovers all certificates directly from the NGC Vault, simplifying inventory management.</a:t>
            </a:r>
            <a:endParaRPr lang="en-US" sz="850" dirty="0"/>
          </a:p>
        </p:txBody>
      </p:sp>
      <p:sp>
        <p:nvSpPr>
          <p:cNvPr id="10" name="Text 8"/>
          <p:cNvSpPr/>
          <p:nvPr/>
        </p:nvSpPr>
        <p:spPr>
          <a:xfrm>
            <a:off x="329184" y="23682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Coverage: </a:t>
            </a:r>
            <a:pPr indent="0" marL="0">
              <a:buNone/>
            </a:pPr>
            <a:r>
              <a:rPr lang="en-US" sz="850" dirty="0">
                <a:solidFill>
                  <a:srgbClr val="1A2B40"/>
                </a:solidFill>
                <a:latin typeface="Calibri" pitchFamily="34" charset="0"/>
                <a:ea typeface="Calibri" pitchFamily="34" charset="-122"/>
                <a:cs typeface="Calibri" pitchFamily="34" charset="-120"/>
              </a:rPr>
              <a:t>Only certificates stored in NGC Vault and referenced by Order ID or Nickname are covered by CLM automation.</a:t>
            </a:r>
            <a:endParaRPr lang="en-US" sz="850" dirty="0"/>
          </a:p>
        </p:txBody>
      </p:sp>
      <p:sp>
        <p:nvSpPr>
          <p:cNvPr id="11" name="Shape 9"/>
          <p:cNvSpPr/>
          <p:nvPr/>
        </p:nvSpPr>
        <p:spPr>
          <a:xfrm>
            <a:off x="1691640" y="1088136"/>
            <a:ext cx="45720" cy="91440"/>
          </a:xfrm>
          <a:prstGeom prst="rect">
            <a:avLst/>
          </a:prstGeom>
          <a:solidFill>
            <a:srgbClr val="056DAE"/>
          </a:solidFill>
          <a:ln w="12700">
            <a:solidFill>
              <a:srgbClr val="056DAE"/>
            </a:solidFill>
            <a:prstDash val="solid"/>
          </a:ln>
        </p:spPr>
      </p:sp>
      <p:sp>
        <p:nvSpPr>
          <p:cNvPr id="12" name="Shape 10"/>
          <p:cNvSpPr/>
          <p:nvPr/>
        </p:nvSpPr>
        <p:spPr>
          <a:xfrm>
            <a:off x="1737360" y="886968"/>
            <a:ext cx="1417320" cy="3977640"/>
          </a:xfrm>
          <a:prstGeom prst="rect">
            <a:avLst/>
          </a:prstGeom>
          <a:solidFill>
            <a:srgbClr val="FFFFFF"/>
          </a:solidFill>
          <a:ln w="5080">
            <a:solidFill>
              <a:srgbClr val="E2E8F0"/>
            </a:solidFill>
            <a:prstDash val="solid"/>
          </a:ln>
          <a:effectLst>
            <a:outerShdw sx="100000" sy="100000" kx="0" ky="0" algn="bl" rotWithShape="0" blurRad="63500" dist="25400" dir="8100000">
              <a:srgbClr val="000000">
                <a:alpha val="7000"/>
              </a:srgbClr>
            </a:outerShdw>
          </a:effectLst>
        </p:spPr>
      </p:sp>
      <p:sp>
        <p:nvSpPr>
          <p:cNvPr id="13" name="Shape 11"/>
          <p:cNvSpPr/>
          <p:nvPr/>
        </p:nvSpPr>
        <p:spPr>
          <a:xfrm>
            <a:off x="1737360" y="886968"/>
            <a:ext cx="1417320" cy="475488"/>
          </a:xfrm>
          <a:prstGeom prst="rect">
            <a:avLst/>
          </a:prstGeom>
          <a:solidFill>
            <a:srgbClr val="0277BD"/>
          </a:solidFill>
          <a:ln w="12700">
            <a:solidFill>
              <a:srgbClr val="0277BD"/>
            </a:solidFill>
            <a:prstDash val="solid"/>
          </a:ln>
        </p:spPr>
      </p:sp>
      <p:sp>
        <p:nvSpPr>
          <p:cNvPr id="14" name="Text 12"/>
          <p:cNvSpPr/>
          <p:nvPr/>
        </p:nvSpPr>
        <p:spPr>
          <a:xfrm>
            <a:off x="1773936" y="960120"/>
            <a:ext cx="1362456"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WARNING PERIOD</a:t>
            </a:r>
            <a:endParaRPr lang="en-US" sz="850" dirty="0"/>
          </a:p>
        </p:txBody>
      </p:sp>
      <p:sp>
        <p:nvSpPr>
          <p:cNvPr id="15" name="Text 13"/>
          <p:cNvSpPr/>
          <p:nvPr/>
        </p:nvSpPr>
        <p:spPr>
          <a:xfrm>
            <a:off x="1792224" y="14538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Automated SLA Enforcement: </a:t>
            </a:r>
            <a:pPr indent="0" marL="0">
              <a:buNone/>
            </a:pPr>
            <a:r>
              <a:rPr lang="en-US" sz="850" dirty="0">
                <a:solidFill>
                  <a:srgbClr val="1A2B40"/>
                </a:solidFill>
                <a:latin typeface="Calibri" pitchFamily="34" charset="0"/>
                <a:ea typeface="Calibri" pitchFamily="34" charset="-122"/>
                <a:cs typeface="Calibri" pitchFamily="34" charset="-120"/>
              </a:rPr>
              <a:t>A 60-day SLA before expiry triggers notifications to users.</a:t>
            </a:r>
            <a:endParaRPr lang="en-US" sz="850" dirty="0"/>
          </a:p>
        </p:txBody>
      </p:sp>
      <p:sp>
        <p:nvSpPr>
          <p:cNvPr id="16" name="Text 14"/>
          <p:cNvSpPr/>
          <p:nvPr/>
        </p:nvSpPr>
        <p:spPr>
          <a:xfrm>
            <a:off x="1792224" y="2203704"/>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Proactive Auto-Renewal: </a:t>
            </a:r>
            <a:pPr indent="0" marL="0">
              <a:buNone/>
            </a:pPr>
            <a:r>
              <a:rPr lang="en-US" sz="850" dirty="0">
                <a:solidFill>
                  <a:srgbClr val="1A2B40"/>
                </a:solidFill>
                <a:latin typeface="Calibri" pitchFamily="34" charset="0"/>
                <a:ea typeface="Calibri" pitchFamily="34" charset="-122"/>
                <a:cs typeface="Calibri" pitchFamily="34" charset="-120"/>
              </a:rPr>
              <a:t>Auto-renewal processes initiated automatically on the 60th day before expiry.</a:t>
            </a:r>
            <a:endParaRPr lang="en-US" sz="850" dirty="0"/>
          </a:p>
        </p:txBody>
      </p:sp>
      <p:sp>
        <p:nvSpPr>
          <p:cNvPr id="17" name="Shape 15"/>
          <p:cNvSpPr/>
          <p:nvPr/>
        </p:nvSpPr>
        <p:spPr>
          <a:xfrm>
            <a:off x="3154680" y="1088136"/>
            <a:ext cx="45720" cy="91440"/>
          </a:xfrm>
          <a:prstGeom prst="rect">
            <a:avLst/>
          </a:prstGeom>
          <a:solidFill>
            <a:srgbClr val="056DAE"/>
          </a:solidFill>
          <a:ln w="12700">
            <a:solidFill>
              <a:srgbClr val="056DAE"/>
            </a:solidFill>
            <a:prstDash val="solid"/>
          </a:ln>
        </p:spPr>
      </p:sp>
      <p:sp>
        <p:nvSpPr>
          <p:cNvPr id="18" name="Shape 16"/>
          <p:cNvSpPr/>
          <p:nvPr/>
        </p:nvSpPr>
        <p:spPr>
          <a:xfrm>
            <a:off x="3200400" y="886968"/>
            <a:ext cx="1417320" cy="3977640"/>
          </a:xfrm>
          <a:prstGeom prst="rect">
            <a:avLst/>
          </a:prstGeom>
          <a:solidFill>
            <a:srgbClr val="FFFFFF"/>
          </a:solidFill>
          <a:ln w="5080">
            <a:solidFill>
              <a:srgbClr val="E2E8F0"/>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3200400" y="886968"/>
            <a:ext cx="1417320" cy="475488"/>
          </a:xfrm>
          <a:prstGeom prst="rect">
            <a:avLst/>
          </a:prstGeom>
          <a:solidFill>
            <a:srgbClr val="00838F"/>
          </a:solidFill>
          <a:ln w="12700">
            <a:solidFill>
              <a:srgbClr val="00838F"/>
            </a:solidFill>
            <a:prstDash val="solid"/>
          </a:ln>
        </p:spPr>
      </p:sp>
      <p:sp>
        <p:nvSpPr>
          <p:cNvPr id="20" name="Text 18"/>
          <p:cNvSpPr/>
          <p:nvPr/>
        </p:nvSpPr>
        <p:spPr>
          <a:xfrm>
            <a:off x="3236976" y="960120"/>
            <a:ext cx="1362456"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IMPACT ASSESSMENT</a:t>
            </a:r>
            <a:endParaRPr lang="en-US" sz="850" dirty="0"/>
          </a:p>
        </p:txBody>
      </p:sp>
      <p:sp>
        <p:nvSpPr>
          <p:cNvPr id="21" name="Text 19"/>
          <p:cNvSpPr/>
          <p:nvPr/>
        </p:nvSpPr>
        <p:spPr>
          <a:xfrm>
            <a:off x="3255264" y="14538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Code-Centric Identification: </a:t>
            </a:r>
            <a:pPr indent="0" marL="0">
              <a:buNone/>
            </a:pPr>
            <a:r>
              <a:rPr lang="en-US" sz="850" dirty="0">
                <a:solidFill>
                  <a:srgbClr val="1A2B40"/>
                </a:solidFill>
                <a:latin typeface="Calibri" pitchFamily="34" charset="0"/>
                <a:ea typeface="Calibri" pitchFamily="34" charset="-122"/>
                <a:cs typeface="Calibri" pitchFamily="34" charset="-120"/>
              </a:rPr>
              <a:t>Scans Bitbucket repositories for certificate references (Order ID and Nickname) to determine usage.</a:t>
            </a:r>
            <a:endParaRPr lang="en-US" sz="850" dirty="0"/>
          </a:p>
        </p:txBody>
      </p:sp>
      <p:sp>
        <p:nvSpPr>
          <p:cNvPr id="22" name="Text 20"/>
          <p:cNvSpPr/>
          <p:nvPr/>
        </p:nvSpPr>
        <p:spPr>
          <a:xfrm>
            <a:off x="3255264" y="23682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Post-Renewal Human Interaction: </a:t>
            </a:r>
            <a:pPr indent="0" marL="0">
              <a:buNone/>
            </a:pPr>
            <a:r>
              <a:rPr lang="en-US" sz="850" dirty="0">
                <a:solidFill>
                  <a:srgbClr val="1A2B40"/>
                </a:solidFill>
                <a:latin typeface="Calibri" pitchFamily="34" charset="0"/>
                <a:ea typeface="Calibri" pitchFamily="34" charset="-122"/>
                <a:cs typeface="Calibri" pitchFamily="34" charset="-120"/>
              </a:rPr>
              <a:t>Mails stakeholders for manual code updates if CLM lacks write access.</a:t>
            </a:r>
            <a:endParaRPr lang="en-US" sz="850" dirty="0"/>
          </a:p>
        </p:txBody>
      </p:sp>
      <p:sp>
        <p:nvSpPr>
          <p:cNvPr id="23" name="Text 21"/>
          <p:cNvSpPr/>
          <p:nvPr/>
        </p:nvSpPr>
        <p:spPr>
          <a:xfrm>
            <a:off x="3255264" y="3118104"/>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Onboarded App Awareness: </a:t>
            </a:r>
            <a:pPr indent="0" marL="0">
              <a:buNone/>
            </a:pPr>
            <a:r>
              <a:rPr lang="en-US" sz="850" dirty="0">
                <a:solidFill>
                  <a:srgbClr val="1A2B40"/>
                </a:solidFill>
                <a:latin typeface="Calibri" pitchFamily="34" charset="0"/>
                <a:ea typeface="Calibri" pitchFamily="34" charset="-122"/>
                <a:cs typeface="Calibri" pitchFamily="34" charset="-120"/>
              </a:rPr>
              <a:t>Notifies consuming app repos about renewals. Note: if repo URL not configured, coverage may be incomplete.</a:t>
            </a:r>
            <a:endParaRPr lang="en-US" sz="850" dirty="0"/>
          </a:p>
        </p:txBody>
      </p:sp>
      <p:sp>
        <p:nvSpPr>
          <p:cNvPr id="24" name="Shape 22"/>
          <p:cNvSpPr/>
          <p:nvPr/>
        </p:nvSpPr>
        <p:spPr>
          <a:xfrm>
            <a:off x="4617720" y="1088136"/>
            <a:ext cx="45720" cy="91440"/>
          </a:xfrm>
          <a:prstGeom prst="rect">
            <a:avLst/>
          </a:prstGeom>
          <a:solidFill>
            <a:srgbClr val="056DAE"/>
          </a:solidFill>
          <a:ln w="12700">
            <a:solidFill>
              <a:srgbClr val="056DAE"/>
            </a:solidFill>
            <a:prstDash val="solid"/>
          </a:ln>
        </p:spPr>
      </p:sp>
      <p:sp>
        <p:nvSpPr>
          <p:cNvPr id="25" name="Shape 23"/>
          <p:cNvSpPr/>
          <p:nvPr/>
        </p:nvSpPr>
        <p:spPr>
          <a:xfrm>
            <a:off x="4663440" y="886968"/>
            <a:ext cx="1417320" cy="3977640"/>
          </a:xfrm>
          <a:prstGeom prst="rect">
            <a:avLst/>
          </a:prstGeom>
          <a:solidFill>
            <a:srgbClr val="FFFFFF"/>
          </a:solidFill>
          <a:ln w="5080">
            <a:solidFill>
              <a:srgbClr val="E2E8F0"/>
            </a:solidFill>
            <a:prstDash val="solid"/>
          </a:ln>
          <a:effectLst>
            <a:outerShdw sx="100000" sy="100000" kx="0" ky="0" algn="bl" rotWithShape="0" blurRad="63500" dist="25400" dir="8100000">
              <a:srgbClr val="000000">
                <a:alpha val="7000"/>
              </a:srgbClr>
            </a:outerShdw>
          </a:effectLst>
        </p:spPr>
      </p:sp>
      <p:sp>
        <p:nvSpPr>
          <p:cNvPr id="26" name="Shape 24"/>
          <p:cNvSpPr/>
          <p:nvPr/>
        </p:nvSpPr>
        <p:spPr>
          <a:xfrm>
            <a:off x="4663440" y="886968"/>
            <a:ext cx="1417320" cy="475488"/>
          </a:xfrm>
          <a:prstGeom prst="rect">
            <a:avLst/>
          </a:prstGeom>
          <a:solidFill>
            <a:srgbClr val="2E7D32"/>
          </a:solidFill>
          <a:ln w="12700">
            <a:solidFill>
              <a:srgbClr val="2E7D32"/>
            </a:solidFill>
            <a:prstDash val="solid"/>
          </a:ln>
        </p:spPr>
      </p:sp>
      <p:sp>
        <p:nvSpPr>
          <p:cNvPr id="27" name="Text 25"/>
          <p:cNvSpPr/>
          <p:nvPr/>
        </p:nvSpPr>
        <p:spPr>
          <a:xfrm>
            <a:off x="4700016" y="960120"/>
            <a:ext cx="1362456"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CERTIFICATE RENEWAL</a:t>
            </a:r>
            <a:endParaRPr lang="en-US" sz="850" dirty="0"/>
          </a:p>
        </p:txBody>
      </p:sp>
      <p:sp>
        <p:nvSpPr>
          <p:cNvPr id="28" name="Text 26"/>
          <p:cNvSpPr/>
          <p:nvPr/>
        </p:nvSpPr>
        <p:spPr>
          <a:xfrm>
            <a:off x="4718304" y="14538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Renewal: </a:t>
            </a:r>
            <a:pPr indent="0" marL="0">
              <a:buNone/>
            </a:pPr>
            <a:r>
              <a:rPr lang="en-US" sz="850" dirty="0">
                <a:solidFill>
                  <a:srgbClr val="1A2B40"/>
                </a:solidFill>
                <a:latin typeface="Calibri" pitchFamily="34" charset="0"/>
                <a:ea typeface="Calibri" pitchFamily="34" charset="-122"/>
                <a:cs typeface="Calibri" pitchFamily="34" charset="-120"/>
              </a:rPr>
              <a:t>All MSPKI certificates are renewed.</a:t>
            </a:r>
            <a:endParaRPr lang="en-US" sz="850" dirty="0"/>
          </a:p>
        </p:txBody>
      </p:sp>
      <p:sp>
        <p:nvSpPr>
          <p:cNvPr id="29" name="Text 27"/>
          <p:cNvSpPr/>
          <p:nvPr/>
        </p:nvSpPr>
        <p:spPr>
          <a:xfrm>
            <a:off x="4718304" y="2020824"/>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Risk-Managed Staggered Renewals: </a:t>
            </a:r>
            <a:pPr indent="0" marL="0">
              <a:buNone/>
            </a:pPr>
            <a:r>
              <a:rPr lang="en-US" sz="850" dirty="0">
                <a:solidFill>
                  <a:srgbClr val="1A2B40"/>
                </a:solidFill>
                <a:latin typeface="Calibri" pitchFamily="34" charset="0"/>
                <a:ea typeface="Calibri" pitchFamily="34" charset="-122"/>
                <a:cs typeface="Calibri" pitchFamily="34" charset="-120"/>
              </a:rPr>
              <a:t>Same cert across instances with different expiry dates treated independently — 60-day SLA per instance to minimise cascading risk.</a:t>
            </a:r>
            <a:endParaRPr lang="en-US" sz="850" dirty="0"/>
          </a:p>
        </p:txBody>
      </p:sp>
      <p:sp>
        <p:nvSpPr>
          <p:cNvPr id="30" name="Shape 28"/>
          <p:cNvSpPr/>
          <p:nvPr/>
        </p:nvSpPr>
        <p:spPr>
          <a:xfrm>
            <a:off x="6080760" y="1088136"/>
            <a:ext cx="45720" cy="91440"/>
          </a:xfrm>
          <a:prstGeom prst="rect">
            <a:avLst/>
          </a:prstGeom>
          <a:solidFill>
            <a:srgbClr val="056DAE"/>
          </a:solidFill>
          <a:ln w="12700">
            <a:solidFill>
              <a:srgbClr val="056DAE"/>
            </a:solidFill>
            <a:prstDash val="solid"/>
          </a:ln>
        </p:spPr>
      </p:sp>
      <p:sp>
        <p:nvSpPr>
          <p:cNvPr id="31" name="Shape 29"/>
          <p:cNvSpPr/>
          <p:nvPr/>
        </p:nvSpPr>
        <p:spPr>
          <a:xfrm>
            <a:off x="6126480" y="886968"/>
            <a:ext cx="1417320" cy="3977640"/>
          </a:xfrm>
          <a:prstGeom prst="rect">
            <a:avLst/>
          </a:prstGeom>
          <a:solidFill>
            <a:srgbClr val="FFFFFF"/>
          </a:solidFill>
          <a:ln w="5080">
            <a:solidFill>
              <a:srgbClr val="E2E8F0"/>
            </a:solidFill>
            <a:prstDash val="solid"/>
          </a:ln>
          <a:effectLst>
            <a:outerShdw sx="100000" sy="100000" kx="0" ky="0" algn="bl" rotWithShape="0" blurRad="63500" dist="25400" dir="8100000">
              <a:srgbClr val="000000">
                <a:alpha val="7000"/>
              </a:srgbClr>
            </a:outerShdw>
          </a:effectLst>
        </p:spPr>
      </p:sp>
      <p:sp>
        <p:nvSpPr>
          <p:cNvPr id="32" name="Shape 30"/>
          <p:cNvSpPr/>
          <p:nvPr/>
        </p:nvSpPr>
        <p:spPr>
          <a:xfrm>
            <a:off x="6126480" y="886968"/>
            <a:ext cx="1417320" cy="475488"/>
          </a:xfrm>
          <a:prstGeom prst="rect">
            <a:avLst/>
          </a:prstGeom>
          <a:solidFill>
            <a:srgbClr val="1A5C2A"/>
          </a:solidFill>
          <a:ln w="12700">
            <a:solidFill>
              <a:srgbClr val="1A5C2A"/>
            </a:solidFill>
            <a:prstDash val="solid"/>
          </a:ln>
        </p:spPr>
      </p:sp>
      <p:sp>
        <p:nvSpPr>
          <p:cNvPr id="33" name="Text 31"/>
          <p:cNvSpPr/>
          <p:nvPr/>
        </p:nvSpPr>
        <p:spPr>
          <a:xfrm>
            <a:off x="6163056" y="960120"/>
            <a:ext cx="1362456"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DEPLOY CERTIFICATE</a:t>
            </a:r>
            <a:endParaRPr lang="en-US" sz="850" dirty="0"/>
          </a:p>
        </p:txBody>
      </p:sp>
      <p:sp>
        <p:nvSpPr>
          <p:cNvPr id="34" name="Text 32"/>
          <p:cNvSpPr/>
          <p:nvPr/>
        </p:nvSpPr>
        <p:spPr>
          <a:xfrm>
            <a:off x="6181344" y="14538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NGC Vault Availability: </a:t>
            </a:r>
            <a:pPr indent="0" marL="0">
              <a:buNone/>
            </a:pPr>
            <a:r>
              <a:rPr lang="en-US" sz="850" dirty="0">
                <a:solidFill>
                  <a:srgbClr val="1A2B40"/>
                </a:solidFill>
                <a:latin typeface="Calibri" pitchFamily="34" charset="0"/>
                <a:ea typeface="Calibri" pitchFamily="34" charset="-122"/>
                <a:cs typeface="Calibri" pitchFamily="34" charset="-120"/>
              </a:rPr>
              <a:t>Renewed certificates made available directly in the NGC Vault.</a:t>
            </a:r>
            <a:endParaRPr lang="en-US" sz="850" dirty="0"/>
          </a:p>
        </p:txBody>
      </p:sp>
      <p:sp>
        <p:nvSpPr>
          <p:cNvPr id="35" name="Text 33"/>
          <p:cNvSpPr/>
          <p:nvPr/>
        </p:nvSpPr>
        <p:spPr>
          <a:xfrm>
            <a:off x="6181344" y="2203704"/>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Automated Code Updates: </a:t>
            </a:r>
            <a:pPr indent="0" marL="0">
              <a:buNone/>
            </a:pPr>
            <a:r>
              <a:rPr lang="en-US" sz="850" dirty="0">
                <a:solidFill>
                  <a:srgbClr val="1A2B40"/>
                </a:solidFill>
                <a:latin typeface="Calibri" pitchFamily="34" charset="0"/>
                <a:ea typeface="Calibri" pitchFamily="34" charset="-122"/>
                <a:cs typeface="Calibri" pitchFamily="34" charset="-120"/>
              </a:rPr>
              <a:t>If CLM FID has write access, code-level changes automatically implemented in feature branches.</a:t>
            </a:r>
            <a:endParaRPr lang="en-US" sz="850" dirty="0"/>
          </a:p>
        </p:txBody>
      </p:sp>
      <p:sp>
        <p:nvSpPr>
          <p:cNvPr id="36" name="Text 34"/>
          <p:cNvSpPr/>
          <p:nvPr/>
        </p:nvSpPr>
        <p:spPr>
          <a:xfrm>
            <a:off x="6181344" y="3118104"/>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Seamless Coexistence: </a:t>
            </a:r>
            <a:pPr indent="0" marL="0">
              <a:buNone/>
            </a:pPr>
            <a:r>
              <a:rPr lang="en-US" sz="850" dirty="0">
                <a:solidFill>
                  <a:srgbClr val="1A2B40"/>
                </a:solidFill>
                <a:latin typeface="Calibri" pitchFamily="34" charset="0"/>
                <a:ea typeface="Calibri" pitchFamily="34" charset="-122"/>
                <a:cs typeface="Calibri" pitchFamily="34" charset="-120"/>
              </a:rPr>
              <a:t>Both old and new certificates function concurrently — ensuring a smooth transition.</a:t>
            </a:r>
            <a:endParaRPr lang="en-US" sz="850" dirty="0"/>
          </a:p>
        </p:txBody>
      </p:sp>
      <p:sp>
        <p:nvSpPr>
          <p:cNvPr id="37" name="Shape 35"/>
          <p:cNvSpPr/>
          <p:nvPr/>
        </p:nvSpPr>
        <p:spPr>
          <a:xfrm>
            <a:off x="7543800" y="1088136"/>
            <a:ext cx="45720" cy="91440"/>
          </a:xfrm>
          <a:prstGeom prst="rect">
            <a:avLst/>
          </a:prstGeom>
          <a:solidFill>
            <a:srgbClr val="056DAE"/>
          </a:solidFill>
          <a:ln w="12700">
            <a:solidFill>
              <a:srgbClr val="056DAE"/>
            </a:solidFill>
            <a:prstDash val="solid"/>
          </a:ln>
        </p:spPr>
      </p:sp>
      <p:sp>
        <p:nvSpPr>
          <p:cNvPr id="38" name="Shape 36"/>
          <p:cNvSpPr/>
          <p:nvPr/>
        </p:nvSpPr>
        <p:spPr>
          <a:xfrm>
            <a:off x="7589520" y="886968"/>
            <a:ext cx="1417320" cy="3977640"/>
          </a:xfrm>
          <a:prstGeom prst="rect">
            <a:avLst/>
          </a:prstGeom>
          <a:solidFill>
            <a:srgbClr val="FFFFFF"/>
          </a:solidFill>
          <a:ln w="5080">
            <a:solidFill>
              <a:srgbClr val="E2E8F0"/>
            </a:solidFill>
            <a:prstDash val="solid"/>
          </a:ln>
          <a:effectLst>
            <a:outerShdw sx="100000" sy="100000" kx="0" ky="0" algn="bl" rotWithShape="0" blurRad="63500" dist="25400" dir="8100000">
              <a:srgbClr val="000000">
                <a:alpha val="7000"/>
              </a:srgbClr>
            </a:outerShdw>
          </a:effectLst>
        </p:spPr>
      </p:sp>
      <p:sp>
        <p:nvSpPr>
          <p:cNvPr id="39" name="Shape 37"/>
          <p:cNvSpPr/>
          <p:nvPr/>
        </p:nvSpPr>
        <p:spPr>
          <a:xfrm>
            <a:off x="7589520" y="886968"/>
            <a:ext cx="1417320" cy="475488"/>
          </a:xfrm>
          <a:prstGeom prst="rect">
            <a:avLst/>
          </a:prstGeom>
          <a:solidFill>
            <a:srgbClr val="003B70"/>
          </a:solidFill>
          <a:ln w="12700">
            <a:solidFill>
              <a:srgbClr val="003B70"/>
            </a:solidFill>
            <a:prstDash val="solid"/>
          </a:ln>
        </p:spPr>
      </p:sp>
      <p:sp>
        <p:nvSpPr>
          <p:cNvPr id="40" name="Text 38"/>
          <p:cNvSpPr/>
          <p:nvPr/>
        </p:nvSpPr>
        <p:spPr>
          <a:xfrm>
            <a:off x="7626096" y="960120"/>
            <a:ext cx="1362456"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VALIDATE DEPLOYMENT</a:t>
            </a:r>
            <a:endParaRPr lang="en-US" sz="850" dirty="0"/>
          </a:p>
        </p:txBody>
      </p:sp>
      <p:sp>
        <p:nvSpPr>
          <p:cNvPr id="41" name="Text 39"/>
          <p:cNvSpPr/>
          <p:nvPr/>
        </p:nvSpPr>
        <p:spPr>
          <a:xfrm>
            <a:off x="7644384" y="14538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Installation Validation: </a:t>
            </a:r>
            <a:pPr indent="0" marL="0">
              <a:buNone/>
            </a:pPr>
            <a:r>
              <a:rPr lang="en-US" sz="850" dirty="0">
                <a:solidFill>
                  <a:srgbClr val="1A2B40"/>
                </a:solidFill>
                <a:latin typeface="Calibri" pitchFamily="34" charset="0"/>
                <a:ea typeface="Calibri" pitchFamily="34" charset="-122"/>
                <a:cs typeface="Calibri" pitchFamily="34" charset="-120"/>
              </a:rPr>
              <a:t>Validates new certificate installation by running a post-deployment scan.</a:t>
            </a:r>
            <a:endParaRPr lang="en-US" sz="850" dirty="0"/>
          </a:p>
        </p:txBody>
      </p:sp>
      <p:sp>
        <p:nvSpPr>
          <p:cNvPr id="42" name="Text 40"/>
          <p:cNvSpPr/>
          <p:nvPr/>
        </p:nvSpPr>
        <p:spPr>
          <a:xfrm>
            <a:off x="7644384" y="2368296"/>
            <a:ext cx="1325880" cy="9144"/>
          </a:xfrm>
          <a:prstGeom prst="rect">
            <a:avLst/>
          </a:prstGeom>
          <a:noFill/>
          <a:ln/>
        </p:spPr>
        <p:txBody>
          <a:bodyPr wrap="square" lIns="0" tIns="0" rIns="0" bIns="0" rtlCol="0" anchor="ctr"/>
          <a:lstStyle/>
          <a:p>
            <a:pPr indent="0" marL="0">
              <a:buNone/>
            </a:pPr>
            <a:r>
              <a:rPr lang="en-US" sz="850" b="1" dirty="0">
                <a:solidFill>
                  <a:srgbClr val="003B70"/>
                </a:solidFill>
                <a:latin typeface="Calibri" pitchFamily="34" charset="0"/>
                <a:ea typeface="Calibri" pitchFamily="34" charset="-122"/>
                <a:cs typeface="Calibri" pitchFamily="34" charset="-120"/>
              </a:rPr>
              <a:t>Limited CLM Scope: </a:t>
            </a:r>
            <a:pPr indent="0" marL="0">
              <a:buNone/>
            </a:pPr>
            <a:r>
              <a:rPr lang="en-US" sz="850" dirty="0">
                <a:solidFill>
                  <a:srgbClr val="1A2B40"/>
                </a:solidFill>
                <a:latin typeface="Calibri" pitchFamily="34" charset="0"/>
                <a:ea typeface="Calibri" pitchFamily="34" charset="-122"/>
                <a:cs typeface="Calibri" pitchFamily="34" charset="-120"/>
              </a:rPr>
              <a:t>Connection and API call validation are not directly performed by CLM — Application Team responsibility.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Phase 1 &amp; 2: Discovery and Warning Period — How It Works</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What happens from onboarding until the renewal window opens</a:t>
            </a:r>
            <a:endParaRPr lang="en-US" sz="1050" dirty="0"/>
          </a:p>
        </p:txBody>
      </p:sp>
      <p:sp>
        <p:nvSpPr>
          <p:cNvPr id="6" name="Shape 4"/>
          <p:cNvSpPr/>
          <p:nvPr/>
        </p:nvSpPr>
        <p:spPr>
          <a:xfrm>
            <a:off x="292608" y="868680"/>
            <a:ext cx="4251960" cy="4224528"/>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92608" y="868680"/>
            <a:ext cx="4251960" cy="384048"/>
          </a:xfrm>
          <a:prstGeom prst="rect">
            <a:avLst/>
          </a:prstGeom>
          <a:solidFill>
            <a:srgbClr val="1565C0"/>
          </a:solidFill>
          <a:ln w="12700">
            <a:solidFill>
              <a:srgbClr val="1565C0"/>
            </a:solidFill>
            <a:prstDash val="solid"/>
          </a:ln>
        </p:spPr>
      </p:sp>
      <p:sp>
        <p:nvSpPr>
          <p:cNvPr id="8" name="Text 6"/>
          <p:cNvSpPr/>
          <p:nvPr/>
        </p:nvSpPr>
        <p:spPr>
          <a:xfrm>
            <a:off x="384048" y="886968"/>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Phase 1: Discovery</a:t>
            </a:r>
            <a:endParaRPr lang="en-US" sz="1200" dirty="0"/>
          </a:p>
        </p:txBody>
      </p:sp>
      <p:sp>
        <p:nvSpPr>
          <p:cNvPr id="9" name="Shape 7"/>
          <p:cNvSpPr/>
          <p:nvPr/>
        </p:nvSpPr>
        <p:spPr>
          <a:xfrm>
            <a:off x="384048" y="1325880"/>
            <a:ext cx="4087368" cy="237744"/>
          </a:xfrm>
          <a:prstGeom prst="rect">
            <a:avLst/>
          </a:prstGeom>
          <a:solidFill>
            <a:srgbClr val="003B70">
              <a:alpha val="12000"/>
            </a:srgbClr>
          </a:solidFill>
          <a:ln w="12700">
            <a:solidFill>
              <a:srgbClr val="D6E8F5"/>
            </a:solidFill>
            <a:prstDash val="solid"/>
          </a:ln>
        </p:spPr>
      </p:sp>
      <p:sp>
        <p:nvSpPr>
          <p:cNvPr id="10" name="Text 8"/>
          <p:cNvSpPr/>
          <p:nvPr/>
        </p:nvSpPr>
        <p:spPr>
          <a:xfrm>
            <a:off x="438912" y="1362456"/>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does CLM discover?</a:t>
            </a:r>
            <a:endParaRPr lang="en-US" sz="950" dirty="0"/>
          </a:p>
        </p:txBody>
      </p:sp>
      <p:sp>
        <p:nvSpPr>
          <p:cNvPr id="11" name="Text 9"/>
          <p:cNvSpPr/>
          <p:nvPr/>
        </p:nvSpPr>
        <p:spPr>
          <a:xfrm>
            <a:off x="420624" y="1600200"/>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queries NGC Vault for all certificates associated with your CSI. Captures: Order ID, Nickname, CN, SANs, Expiry Date, Certificate Type, Owner, Affected CSI. Tracked continuously from onboarding.</a:t>
            </a:r>
            <a:endParaRPr lang="en-US" sz="900" dirty="0"/>
          </a:p>
        </p:txBody>
      </p:sp>
      <p:sp>
        <p:nvSpPr>
          <p:cNvPr id="12" name="Shape 10"/>
          <p:cNvSpPr/>
          <p:nvPr/>
        </p:nvSpPr>
        <p:spPr>
          <a:xfrm>
            <a:off x="384048" y="2313432"/>
            <a:ext cx="4087368" cy="237744"/>
          </a:xfrm>
          <a:prstGeom prst="rect">
            <a:avLst/>
          </a:prstGeom>
          <a:solidFill>
            <a:srgbClr val="003B70">
              <a:alpha val="12000"/>
            </a:srgbClr>
          </a:solidFill>
          <a:ln w="12700">
            <a:solidFill>
              <a:srgbClr val="D6E8F5"/>
            </a:solidFill>
            <a:prstDash val="solid"/>
          </a:ln>
        </p:spPr>
      </p:sp>
      <p:sp>
        <p:nvSpPr>
          <p:cNvPr id="13" name="Text 11"/>
          <p:cNvSpPr/>
          <p:nvPr/>
        </p:nvSpPr>
        <p:spPr>
          <a:xfrm>
            <a:off x="438912" y="2350008"/>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How often?</a:t>
            </a:r>
            <a:endParaRPr lang="en-US" sz="950" dirty="0"/>
          </a:p>
        </p:txBody>
      </p:sp>
      <p:sp>
        <p:nvSpPr>
          <p:cNvPr id="14" name="Text 12"/>
          <p:cNvSpPr/>
          <p:nvPr/>
        </p:nvSpPr>
        <p:spPr>
          <a:xfrm>
            <a:off x="420624" y="2587752"/>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Discovery runs on a scheduled basis — periodic automated scan. Real-time inventory maintained from day one of onboarding.</a:t>
            </a:r>
            <a:endParaRPr lang="en-US" sz="900" dirty="0"/>
          </a:p>
        </p:txBody>
      </p:sp>
      <p:sp>
        <p:nvSpPr>
          <p:cNvPr id="15" name="Shape 13"/>
          <p:cNvSpPr/>
          <p:nvPr/>
        </p:nvSpPr>
        <p:spPr>
          <a:xfrm>
            <a:off x="384048" y="3099816"/>
            <a:ext cx="4087368" cy="237744"/>
          </a:xfrm>
          <a:prstGeom prst="rect">
            <a:avLst/>
          </a:prstGeom>
          <a:solidFill>
            <a:srgbClr val="003B70">
              <a:alpha val="12000"/>
            </a:srgbClr>
          </a:solidFill>
          <a:ln w="12700">
            <a:solidFill>
              <a:srgbClr val="D6E8F5"/>
            </a:solidFill>
            <a:prstDash val="solid"/>
          </a:ln>
        </p:spPr>
      </p:sp>
      <p:sp>
        <p:nvSpPr>
          <p:cNvPr id="16" name="Text 14"/>
          <p:cNvSpPr/>
          <p:nvPr/>
        </p:nvSpPr>
        <p:spPr>
          <a:xfrm>
            <a:off x="438912" y="3136392"/>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is NOT discovered?</a:t>
            </a:r>
            <a:endParaRPr lang="en-US" sz="950" dirty="0"/>
          </a:p>
        </p:txBody>
      </p:sp>
      <p:sp>
        <p:nvSpPr>
          <p:cNvPr id="17" name="Text 15"/>
          <p:cNvSpPr/>
          <p:nvPr/>
        </p:nvSpPr>
        <p:spPr>
          <a:xfrm>
            <a:off x="420624" y="3374136"/>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Certificates embedded directly in OpenShift Route YAML files or hard-coded in shell scripts are NOT discovered. Coverage is limited to NGC Vault certificates referenced via Order ID or Nickname.</a:t>
            </a:r>
            <a:endParaRPr lang="en-US" sz="900" dirty="0"/>
          </a:p>
        </p:txBody>
      </p:sp>
      <p:sp>
        <p:nvSpPr>
          <p:cNvPr id="18" name="Shape 16"/>
          <p:cNvSpPr/>
          <p:nvPr/>
        </p:nvSpPr>
        <p:spPr>
          <a:xfrm>
            <a:off x="384048" y="4087368"/>
            <a:ext cx="4087368" cy="237744"/>
          </a:xfrm>
          <a:prstGeom prst="rect">
            <a:avLst/>
          </a:prstGeom>
          <a:solidFill>
            <a:srgbClr val="003B70">
              <a:alpha val="12000"/>
            </a:srgbClr>
          </a:solidFill>
          <a:ln w="12700">
            <a:solidFill>
              <a:srgbClr val="D6E8F5"/>
            </a:solidFill>
            <a:prstDash val="solid"/>
          </a:ln>
        </p:spPr>
      </p:sp>
      <p:sp>
        <p:nvSpPr>
          <p:cNvPr id="19" name="Text 17"/>
          <p:cNvSpPr/>
          <p:nvPr/>
        </p:nvSpPr>
        <p:spPr>
          <a:xfrm>
            <a:off x="438912" y="4123944"/>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Limitation: repo URL</a:t>
            </a:r>
            <a:endParaRPr lang="en-US" sz="950" dirty="0"/>
          </a:p>
        </p:txBody>
      </p:sp>
      <p:sp>
        <p:nvSpPr>
          <p:cNvPr id="20" name="Text 18"/>
          <p:cNvSpPr/>
          <p:nvPr/>
        </p:nvSpPr>
        <p:spPr>
          <a:xfrm>
            <a:off x="420624" y="4361688"/>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If repository URLs are not configured during CSI onboarding, CLM cannot scan those codebases. Impact assessment will be incomplete for those repos.</a:t>
            </a:r>
            <a:endParaRPr lang="en-US" sz="900" dirty="0"/>
          </a:p>
        </p:txBody>
      </p:sp>
      <p:sp>
        <p:nvSpPr>
          <p:cNvPr id="21" name="Shape 19"/>
          <p:cNvSpPr/>
          <p:nvPr/>
        </p:nvSpPr>
        <p:spPr>
          <a:xfrm>
            <a:off x="4727448" y="868680"/>
            <a:ext cx="4251960" cy="4224528"/>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22" name="Shape 20"/>
          <p:cNvSpPr/>
          <p:nvPr/>
        </p:nvSpPr>
        <p:spPr>
          <a:xfrm>
            <a:off x="4727448" y="868680"/>
            <a:ext cx="4251960" cy="384048"/>
          </a:xfrm>
          <a:prstGeom prst="rect">
            <a:avLst/>
          </a:prstGeom>
          <a:solidFill>
            <a:srgbClr val="0277BD"/>
          </a:solidFill>
          <a:ln w="12700">
            <a:solidFill>
              <a:srgbClr val="0277BD"/>
            </a:solidFill>
            <a:prstDash val="solid"/>
          </a:ln>
        </p:spPr>
      </p:sp>
      <p:sp>
        <p:nvSpPr>
          <p:cNvPr id="23" name="Text 21"/>
          <p:cNvSpPr/>
          <p:nvPr/>
        </p:nvSpPr>
        <p:spPr>
          <a:xfrm>
            <a:off x="4818888" y="886968"/>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Phase 2: Warning Period</a:t>
            </a:r>
            <a:endParaRPr lang="en-US" sz="1200" dirty="0"/>
          </a:p>
        </p:txBody>
      </p:sp>
      <p:sp>
        <p:nvSpPr>
          <p:cNvPr id="24" name="Shape 22"/>
          <p:cNvSpPr/>
          <p:nvPr/>
        </p:nvSpPr>
        <p:spPr>
          <a:xfrm>
            <a:off x="4818888" y="1325880"/>
            <a:ext cx="4087368" cy="237744"/>
          </a:xfrm>
          <a:prstGeom prst="rect">
            <a:avLst/>
          </a:prstGeom>
          <a:solidFill>
            <a:srgbClr val="003B70">
              <a:alpha val="12000"/>
            </a:srgbClr>
          </a:solidFill>
          <a:ln w="12700">
            <a:solidFill>
              <a:srgbClr val="D6E8F5"/>
            </a:solidFill>
            <a:prstDash val="solid"/>
          </a:ln>
        </p:spPr>
      </p:sp>
      <p:sp>
        <p:nvSpPr>
          <p:cNvPr id="25" name="Text 23"/>
          <p:cNvSpPr/>
          <p:nvPr/>
        </p:nvSpPr>
        <p:spPr>
          <a:xfrm>
            <a:off x="4873752" y="1362456"/>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When does the warning trigger?</a:t>
            </a:r>
            <a:endParaRPr lang="en-US" sz="950" dirty="0"/>
          </a:p>
        </p:txBody>
      </p:sp>
      <p:sp>
        <p:nvSpPr>
          <p:cNvPr id="26" name="Text 24"/>
          <p:cNvSpPr/>
          <p:nvPr/>
        </p:nvSpPr>
        <p:spPr>
          <a:xfrm>
            <a:off x="4855464" y="1600200"/>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At 60 days before expiry — CLM initiates Renewal Kickoff. Warning period provides at least a 2-release buffer (App/Infra), giving teams time to plan.</a:t>
            </a:r>
            <a:endParaRPr lang="en-US" sz="900" dirty="0"/>
          </a:p>
        </p:txBody>
      </p:sp>
      <p:sp>
        <p:nvSpPr>
          <p:cNvPr id="27" name="Shape 25"/>
          <p:cNvSpPr/>
          <p:nvPr/>
        </p:nvSpPr>
        <p:spPr>
          <a:xfrm>
            <a:off x="4818888" y="2313432"/>
            <a:ext cx="4087368" cy="237744"/>
          </a:xfrm>
          <a:prstGeom prst="rect">
            <a:avLst/>
          </a:prstGeom>
          <a:solidFill>
            <a:srgbClr val="003B70">
              <a:alpha val="12000"/>
            </a:srgbClr>
          </a:solidFill>
          <a:ln w="12700">
            <a:solidFill>
              <a:srgbClr val="D6E8F5"/>
            </a:solidFill>
            <a:prstDash val="solid"/>
          </a:ln>
        </p:spPr>
      </p:sp>
      <p:sp>
        <p:nvSpPr>
          <p:cNvPr id="28" name="Text 26"/>
          <p:cNvSpPr/>
          <p:nvPr/>
        </p:nvSpPr>
        <p:spPr>
          <a:xfrm>
            <a:off x="4873752" y="2350008"/>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happens automatically?</a:t>
            </a:r>
            <a:endParaRPr lang="en-US" sz="950" dirty="0"/>
          </a:p>
        </p:txBody>
      </p:sp>
      <p:sp>
        <p:nvSpPr>
          <p:cNvPr id="29" name="Text 27"/>
          <p:cNvSpPr/>
          <p:nvPr/>
        </p:nvSpPr>
        <p:spPr>
          <a:xfrm>
            <a:off x="4855464" y="2587752"/>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Automated SLA Enforcement: Notifications sent to stakeholders. Proactive Auto-Renewal: The renewal process starts automatically on the 60th day — no human input needed.</a:t>
            </a:r>
            <a:endParaRPr lang="en-US" sz="900" dirty="0"/>
          </a:p>
        </p:txBody>
      </p:sp>
      <p:sp>
        <p:nvSpPr>
          <p:cNvPr id="30" name="Shape 28"/>
          <p:cNvSpPr/>
          <p:nvPr/>
        </p:nvSpPr>
        <p:spPr>
          <a:xfrm>
            <a:off x="4818888" y="3300984"/>
            <a:ext cx="4087368" cy="237744"/>
          </a:xfrm>
          <a:prstGeom prst="rect">
            <a:avLst/>
          </a:prstGeom>
          <a:solidFill>
            <a:srgbClr val="003B70">
              <a:alpha val="12000"/>
            </a:srgbClr>
          </a:solidFill>
          <a:ln w="12700">
            <a:solidFill>
              <a:srgbClr val="D6E8F5"/>
            </a:solidFill>
            <a:prstDash val="solid"/>
          </a:ln>
        </p:spPr>
      </p:sp>
      <p:sp>
        <p:nvSpPr>
          <p:cNvPr id="31" name="Text 29"/>
          <p:cNvSpPr/>
          <p:nvPr/>
        </p:nvSpPr>
        <p:spPr>
          <a:xfrm>
            <a:off x="4873752" y="3337560"/>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if auto-renewal fails?</a:t>
            </a:r>
            <a:endParaRPr lang="en-US" sz="950" dirty="0"/>
          </a:p>
        </p:txBody>
      </p:sp>
      <p:sp>
        <p:nvSpPr>
          <p:cNvPr id="32" name="Text 30"/>
          <p:cNvSpPr/>
          <p:nvPr/>
        </p:nvSpPr>
        <p:spPr>
          <a:xfrm>
            <a:off x="4855464" y="3575304"/>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If PFY fails to complete renewal within 20 days (before 40 days to expiry): manual renewal suggestion sent. If SLA deadline passes: Critical-level SLA Breach notification sent to Business Owner, CSI Team, and PFY team.</a:t>
            </a:r>
            <a:endParaRPr lang="en-US" sz="900" dirty="0"/>
          </a:p>
        </p:txBody>
      </p:sp>
      <p:sp>
        <p:nvSpPr>
          <p:cNvPr id="33" name="Shape 31"/>
          <p:cNvSpPr/>
          <p:nvPr/>
        </p:nvSpPr>
        <p:spPr>
          <a:xfrm>
            <a:off x="4818888" y="4288536"/>
            <a:ext cx="4087368" cy="237744"/>
          </a:xfrm>
          <a:prstGeom prst="rect">
            <a:avLst/>
          </a:prstGeom>
          <a:solidFill>
            <a:srgbClr val="003B70">
              <a:alpha val="12000"/>
            </a:srgbClr>
          </a:solidFill>
          <a:ln w="12700">
            <a:solidFill>
              <a:srgbClr val="D6E8F5"/>
            </a:solidFill>
            <a:prstDash val="solid"/>
          </a:ln>
        </p:spPr>
      </p:sp>
      <p:sp>
        <p:nvSpPr>
          <p:cNvPr id="34" name="Text 32"/>
          <p:cNvSpPr/>
          <p:nvPr/>
        </p:nvSpPr>
        <p:spPr>
          <a:xfrm>
            <a:off x="4873752" y="4325112"/>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Notification recipients</a:t>
            </a:r>
            <a:endParaRPr lang="en-US" sz="950" dirty="0"/>
          </a:p>
        </p:txBody>
      </p:sp>
      <p:sp>
        <p:nvSpPr>
          <p:cNvPr id="35" name="Text 33"/>
          <p:cNvSpPr/>
          <p:nvPr/>
        </p:nvSpPr>
        <p:spPr>
          <a:xfrm>
            <a:off x="4855464" y="4562856"/>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App Owner · CSI Team DL · Notification emails configured in CSI · PFY team. All configured during CSI onboarding. Ensure these are correct.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Phase 3 &amp; 4: Impact Assessment and Certificate Renewal</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How CLM finds every code reference and obtains the new certificate from the Authority</a:t>
            </a:r>
            <a:endParaRPr lang="en-US" sz="1050" dirty="0"/>
          </a:p>
        </p:txBody>
      </p:sp>
      <p:sp>
        <p:nvSpPr>
          <p:cNvPr id="6" name="Shape 4"/>
          <p:cNvSpPr/>
          <p:nvPr/>
        </p:nvSpPr>
        <p:spPr>
          <a:xfrm>
            <a:off x="292608" y="868680"/>
            <a:ext cx="4251960" cy="4224528"/>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92608" y="868680"/>
            <a:ext cx="4251960" cy="384048"/>
          </a:xfrm>
          <a:prstGeom prst="rect">
            <a:avLst/>
          </a:prstGeom>
          <a:solidFill>
            <a:srgbClr val="00838F"/>
          </a:solidFill>
          <a:ln w="12700">
            <a:solidFill>
              <a:srgbClr val="00838F"/>
            </a:solidFill>
            <a:prstDash val="solid"/>
          </a:ln>
        </p:spPr>
      </p:sp>
      <p:sp>
        <p:nvSpPr>
          <p:cNvPr id="8" name="Text 6"/>
          <p:cNvSpPr/>
          <p:nvPr/>
        </p:nvSpPr>
        <p:spPr>
          <a:xfrm>
            <a:off x="384048" y="886968"/>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Phase 3: Impact Assessment</a:t>
            </a:r>
            <a:endParaRPr lang="en-US" sz="1200" dirty="0"/>
          </a:p>
        </p:txBody>
      </p:sp>
      <p:sp>
        <p:nvSpPr>
          <p:cNvPr id="9" name="Shape 7"/>
          <p:cNvSpPr/>
          <p:nvPr/>
        </p:nvSpPr>
        <p:spPr>
          <a:xfrm>
            <a:off x="384048" y="1325880"/>
            <a:ext cx="4087368" cy="237744"/>
          </a:xfrm>
          <a:prstGeom prst="rect">
            <a:avLst/>
          </a:prstGeom>
          <a:solidFill>
            <a:srgbClr val="003B70">
              <a:alpha val="12000"/>
            </a:srgbClr>
          </a:solidFill>
          <a:ln w="12700">
            <a:solidFill>
              <a:srgbClr val="D6E8F5"/>
            </a:solidFill>
            <a:prstDash val="solid"/>
          </a:ln>
        </p:spPr>
      </p:sp>
      <p:sp>
        <p:nvSpPr>
          <p:cNvPr id="10" name="Text 8"/>
          <p:cNvSpPr/>
          <p:nvPr/>
        </p:nvSpPr>
        <p:spPr>
          <a:xfrm>
            <a:off x="438912" y="1362456"/>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is impact assessment?</a:t>
            </a:r>
            <a:endParaRPr lang="en-US" sz="950" dirty="0"/>
          </a:p>
        </p:txBody>
      </p:sp>
      <p:sp>
        <p:nvSpPr>
          <p:cNvPr id="11" name="Text 9"/>
          <p:cNvSpPr/>
          <p:nvPr/>
        </p:nvSpPr>
        <p:spPr>
          <a:xfrm>
            <a:off x="420624" y="1600200"/>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identifies every piece of application code that references the certificate being renewed. If those references are not updated after renewal, the app will break when the old cert is eventually revoked.</a:t>
            </a:r>
            <a:endParaRPr lang="en-US" sz="900" dirty="0"/>
          </a:p>
        </p:txBody>
      </p:sp>
      <p:sp>
        <p:nvSpPr>
          <p:cNvPr id="12" name="Shape 10"/>
          <p:cNvSpPr/>
          <p:nvPr/>
        </p:nvSpPr>
        <p:spPr>
          <a:xfrm>
            <a:off x="384048" y="2313432"/>
            <a:ext cx="4087368" cy="237744"/>
          </a:xfrm>
          <a:prstGeom prst="rect">
            <a:avLst/>
          </a:prstGeom>
          <a:solidFill>
            <a:srgbClr val="003B70">
              <a:alpha val="12000"/>
            </a:srgbClr>
          </a:solidFill>
          <a:ln w="12700">
            <a:solidFill>
              <a:srgbClr val="D6E8F5"/>
            </a:solidFill>
            <a:prstDash val="solid"/>
          </a:ln>
        </p:spPr>
      </p:sp>
      <p:sp>
        <p:nvSpPr>
          <p:cNvPr id="13" name="Text 11"/>
          <p:cNvSpPr/>
          <p:nvPr/>
        </p:nvSpPr>
        <p:spPr>
          <a:xfrm>
            <a:off x="438912" y="2350008"/>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How — Code-Centric Scanning</a:t>
            </a:r>
            <a:endParaRPr lang="en-US" sz="950" dirty="0"/>
          </a:p>
        </p:txBody>
      </p:sp>
      <p:sp>
        <p:nvSpPr>
          <p:cNvPr id="14" name="Text 12"/>
          <p:cNvSpPr/>
          <p:nvPr/>
        </p:nvSpPr>
        <p:spPr>
          <a:xfrm>
            <a:off x="420624" y="2587752"/>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scans Bitbucket and GitHub repositories for: (1) Order ID references — the unique identifier. (2) Nickname references — the human-readable cert name. Scans Java, YAML, properties, and script files.</a:t>
            </a:r>
            <a:endParaRPr lang="en-US" sz="900" dirty="0"/>
          </a:p>
        </p:txBody>
      </p:sp>
      <p:sp>
        <p:nvSpPr>
          <p:cNvPr id="15" name="Shape 13"/>
          <p:cNvSpPr/>
          <p:nvPr/>
        </p:nvSpPr>
        <p:spPr>
          <a:xfrm>
            <a:off x="384048" y="3300984"/>
            <a:ext cx="4087368" cy="237744"/>
          </a:xfrm>
          <a:prstGeom prst="rect">
            <a:avLst/>
          </a:prstGeom>
          <a:solidFill>
            <a:srgbClr val="003B70">
              <a:alpha val="12000"/>
            </a:srgbClr>
          </a:solidFill>
          <a:ln w="12700">
            <a:solidFill>
              <a:srgbClr val="D6E8F5"/>
            </a:solidFill>
            <a:prstDash val="solid"/>
          </a:ln>
        </p:spPr>
      </p:sp>
      <p:sp>
        <p:nvSpPr>
          <p:cNvPr id="16" name="Text 14"/>
          <p:cNvSpPr/>
          <p:nvPr/>
        </p:nvSpPr>
        <p:spPr>
          <a:xfrm>
            <a:off x="438912" y="3337560"/>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if CLM has no write access?</a:t>
            </a:r>
            <a:endParaRPr lang="en-US" sz="950" dirty="0"/>
          </a:p>
        </p:txBody>
      </p:sp>
      <p:sp>
        <p:nvSpPr>
          <p:cNvPr id="17" name="Text 15"/>
          <p:cNvSpPr/>
          <p:nvPr/>
        </p:nvSpPr>
        <p:spPr>
          <a:xfrm>
            <a:off x="420624" y="3575304"/>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Post-Renewal Human Interaction: CLM sends an email alert listing files needing updates, the old Order ID, and the new Order ID. Team must update manually.</a:t>
            </a:r>
            <a:endParaRPr lang="en-US" sz="900" dirty="0"/>
          </a:p>
        </p:txBody>
      </p:sp>
      <p:sp>
        <p:nvSpPr>
          <p:cNvPr id="18" name="Shape 16"/>
          <p:cNvSpPr/>
          <p:nvPr/>
        </p:nvSpPr>
        <p:spPr>
          <a:xfrm>
            <a:off x="384048" y="4288536"/>
            <a:ext cx="4087368" cy="237744"/>
          </a:xfrm>
          <a:prstGeom prst="rect">
            <a:avLst/>
          </a:prstGeom>
          <a:solidFill>
            <a:srgbClr val="003B70">
              <a:alpha val="12000"/>
            </a:srgbClr>
          </a:solidFill>
          <a:ln w="12700">
            <a:solidFill>
              <a:srgbClr val="D6E8F5"/>
            </a:solidFill>
            <a:prstDash val="solid"/>
          </a:ln>
        </p:spPr>
      </p:sp>
      <p:sp>
        <p:nvSpPr>
          <p:cNvPr id="19" name="Text 17"/>
          <p:cNvSpPr/>
          <p:nvPr/>
        </p:nvSpPr>
        <p:spPr>
          <a:xfrm>
            <a:off x="438912" y="4325112"/>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Coverage gap</a:t>
            </a:r>
            <a:endParaRPr lang="en-US" sz="950" dirty="0"/>
          </a:p>
        </p:txBody>
      </p:sp>
      <p:sp>
        <p:nvSpPr>
          <p:cNvPr id="20" name="Text 18"/>
          <p:cNvSpPr/>
          <p:nvPr/>
        </p:nvSpPr>
        <p:spPr>
          <a:xfrm>
            <a:off x="420624" y="4562856"/>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If repository URL was not configured during CSI onboarding: CLM will not scan that repo. Impact assessment will be incomplete. Team remains responsible for manually tracking cert references in unconfigured repos.</a:t>
            </a:r>
            <a:endParaRPr lang="en-US" sz="900" dirty="0"/>
          </a:p>
        </p:txBody>
      </p:sp>
      <p:sp>
        <p:nvSpPr>
          <p:cNvPr id="21" name="Shape 19"/>
          <p:cNvSpPr/>
          <p:nvPr/>
        </p:nvSpPr>
        <p:spPr>
          <a:xfrm>
            <a:off x="4727448" y="868680"/>
            <a:ext cx="4251960" cy="4224528"/>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22" name="Shape 20"/>
          <p:cNvSpPr/>
          <p:nvPr/>
        </p:nvSpPr>
        <p:spPr>
          <a:xfrm>
            <a:off x="4727448" y="868680"/>
            <a:ext cx="4251960" cy="384048"/>
          </a:xfrm>
          <a:prstGeom prst="rect">
            <a:avLst/>
          </a:prstGeom>
          <a:solidFill>
            <a:srgbClr val="2E7D32"/>
          </a:solidFill>
          <a:ln w="12700">
            <a:solidFill>
              <a:srgbClr val="2E7D32"/>
            </a:solidFill>
            <a:prstDash val="solid"/>
          </a:ln>
        </p:spPr>
      </p:sp>
      <p:sp>
        <p:nvSpPr>
          <p:cNvPr id="23" name="Text 21"/>
          <p:cNvSpPr/>
          <p:nvPr/>
        </p:nvSpPr>
        <p:spPr>
          <a:xfrm>
            <a:off x="4818888" y="886968"/>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Phase 4: Certificate Renewal</a:t>
            </a:r>
            <a:endParaRPr lang="en-US" sz="1200" dirty="0"/>
          </a:p>
        </p:txBody>
      </p:sp>
      <p:sp>
        <p:nvSpPr>
          <p:cNvPr id="24" name="Shape 22"/>
          <p:cNvSpPr/>
          <p:nvPr/>
        </p:nvSpPr>
        <p:spPr>
          <a:xfrm>
            <a:off x="4818888" y="1325880"/>
            <a:ext cx="4087368" cy="237744"/>
          </a:xfrm>
          <a:prstGeom prst="rect">
            <a:avLst/>
          </a:prstGeom>
          <a:solidFill>
            <a:srgbClr val="003B70">
              <a:alpha val="12000"/>
            </a:srgbClr>
          </a:solidFill>
          <a:ln w="12700">
            <a:solidFill>
              <a:srgbClr val="D6E8F5"/>
            </a:solidFill>
            <a:prstDash val="solid"/>
          </a:ln>
        </p:spPr>
      </p:sp>
      <p:sp>
        <p:nvSpPr>
          <p:cNvPr id="25" name="Text 23"/>
          <p:cNvSpPr/>
          <p:nvPr/>
        </p:nvSpPr>
        <p:spPr>
          <a:xfrm>
            <a:off x="4873752" y="1362456"/>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What CLM renews</a:t>
            </a:r>
            <a:endParaRPr lang="en-US" sz="950" dirty="0"/>
          </a:p>
        </p:txBody>
      </p:sp>
      <p:sp>
        <p:nvSpPr>
          <p:cNvPr id="26" name="Text 24"/>
          <p:cNvSpPr/>
          <p:nvPr/>
        </p:nvSpPr>
        <p:spPr>
          <a:xfrm>
            <a:off x="4855464" y="1600200"/>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All MSPKI (Microsoft Public Key Infrastructure) certificates associated with the CSI. Renewal request sent to designated CA. No approval required for procurement — fully automated.</a:t>
            </a:r>
            <a:endParaRPr lang="en-US" sz="900" dirty="0"/>
          </a:p>
        </p:txBody>
      </p:sp>
      <p:sp>
        <p:nvSpPr>
          <p:cNvPr id="27" name="Shape 25"/>
          <p:cNvSpPr/>
          <p:nvPr/>
        </p:nvSpPr>
        <p:spPr>
          <a:xfrm>
            <a:off x="4818888" y="2313432"/>
            <a:ext cx="4087368" cy="237744"/>
          </a:xfrm>
          <a:prstGeom prst="rect">
            <a:avLst/>
          </a:prstGeom>
          <a:solidFill>
            <a:srgbClr val="003B70">
              <a:alpha val="12000"/>
            </a:srgbClr>
          </a:solidFill>
          <a:ln w="12700">
            <a:solidFill>
              <a:srgbClr val="D6E8F5"/>
            </a:solidFill>
            <a:prstDash val="solid"/>
          </a:ln>
        </p:spPr>
      </p:sp>
      <p:sp>
        <p:nvSpPr>
          <p:cNvPr id="28" name="Text 26"/>
          <p:cNvSpPr/>
          <p:nvPr/>
        </p:nvSpPr>
        <p:spPr>
          <a:xfrm>
            <a:off x="4873752" y="2350008"/>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Staggered renewals</a:t>
            </a:r>
            <a:endParaRPr lang="en-US" sz="950" dirty="0"/>
          </a:p>
        </p:txBody>
      </p:sp>
      <p:sp>
        <p:nvSpPr>
          <p:cNvPr id="29" name="Text 27"/>
          <p:cNvSpPr/>
          <p:nvPr/>
        </p:nvSpPr>
        <p:spPr>
          <a:xfrm>
            <a:off x="4855464" y="2587752"/>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If the same certificate is deployed across multiple instances with different expiry dates: CLM treats each independently. Staggered renewals — each adhering to its own 60-day SLA — prevents cascading failures.</a:t>
            </a:r>
            <a:endParaRPr lang="en-US" sz="900" dirty="0"/>
          </a:p>
        </p:txBody>
      </p:sp>
      <p:sp>
        <p:nvSpPr>
          <p:cNvPr id="30" name="Shape 28"/>
          <p:cNvSpPr/>
          <p:nvPr/>
        </p:nvSpPr>
        <p:spPr>
          <a:xfrm>
            <a:off x="4818888" y="3300984"/>
            <a:ext cx="4087368" cy="237744"/>
          </a:xfrm>
          <a:prstGeom prst="rect">
            <a:avLst/>
          </a:prstGeom>
          <a:solidFill>
            <a:srgbClr val="003B70">
              <a:alpha val="12000"/>
            </a:srgbClr>
          </a:solidFill>
          <a:ln w="12700">
            <a:solidFill>
              <a:srgbClr val="D6E8F5"/>
            </a:solidFill>
            <a:prstDash val="solid"/>
          </a:ln>
        </p:spPr>
      </p:sp>
      <p:sp>
        <p:nvSpPr>
          <p:cNvPr id="31" name="Text 29"/>
          <p:cNvSpPr/>
          <p:nvPr/>
        </p:nvSpPr>
        <p:spPr>
          <a:xfrm>
            <a:off x="4873752" y="3337560"/>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New certificate lifecycle</a:t>
            </a:r>
            <a:endParaRPr lang="en-US" sz="950" dirty="0"/>
          </a:p>
        </p:txBody>
      </p:sp>
      <p:sp>
        <p:nvSpPr>
          <p:cNvPr id="32" name="Text 30"/>
          <p:cNvSpPr/>
          <p:nvPr/>
        </p:nvSpPr>
        <p:spPr>
          <a:xfrm>
            <a:off x="4855464" y="3575304"/>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New certificate issued by CA. Stored back in NGC Vault. New Order ID generated. CLM then triggers code-scanning and PR-creation phase to update all references.</a:t>
            </a:r>
            <a:endParaRPr lang="en-US" sz="900" dirty="0"/>
          </a:p>
        </p:txBody>
      </p:sp>
      <p:sp>
        <p:nvSpPr>
          <p:cNvPr id="33" name="Shape 31"/>
          <p:cNvSpPr/>
          <p:nvPr/>
        </p:nvSpPr>
        <p:spPr>
          <a:xfrm>
            <a:off x="4818888" y="4288536"/>
            <a:ext cx="4087368" cy="237744"/>
          </a:xfrm>
          <a:prstGeom prst="rect">
            <a:avLst/>
          </a:prstGeom>
          <a:solidFill>
            <a:srgbClr val="003B70">
              <a:alpha val="12000"/>
            </a:srgbClr>
          </a:solidFill>
          <a:ln w="12700">
            <a:solidFill>
              <a:srgbClr val="D6E8F5"/>
            </a:solidFill>
            <a:prstDash val="solid"/>
          </a:ln>
        </p:spPr>
      </p:sp>
      <p:sp>
        <p:nvSpPr>
          <p:cNvPr id="34" name="Text 32"/>
          <p:cNvSpPr/>
          <p:nvPr/>
        </p:nvSpPr>
        <p:spPr>
          <a:xfrm>
            <a:off x="4873752" y="4325112"/>
            <a:ext cx="3995928" cy="182880"/>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If renewal fails</a:t>
            </a:r>
            <a:endParaRPr lang="en-US" sz="950" dirty="0"/>
          </a:p>
        </p:txBody>
      </p:sp>
      <p:sp>
        <p:nvSpPr>
          <p:cNvPr id="35" name="Text 33"/>
          <p:cNvSpPr/>
          <p:nvPr/>
        </p:nvSpPr>
        <p:spPr>
          <a:xfrm>
            <a:off x="4855464" y="4562856"/>
            <a:ext cx="4050792" cy="9144"/>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If auto-renewal fails, human intervention is required. CLM immediately notifies the stakeholder group. A responsive escalation contact must be configured at CSI onboarding.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Phase 5: Deployment — The Automated PR Workflow</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How CLM updates application code and makes the new certificate available</a:t>
            </a:r>
            <a:endParaRPr lang="en-US" sz="1050" dirty="0"/>
          </a:p>
        </p:txBody>
      </p:sp>
      <p:sp>
        <p:nvSpPr>
          <p:cNvPr id="6" name="Shape 4"/>
          <p:cNvSpPr/>
          <p:nvPr/>
        </p:nvSpPr>
        <p:spPr>
          <a:xfrm>
            <a:off x="274320" y="1005840"/>
            <a:ext cx="1353312" cy="2926080"/>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74320" y="1005840"/>
            <a:ext cx="1353312" cy="420624"/>
          </a:xfrm>
          <a:prstGeom prst="rect">
            <a:avLst/>
          </a:prstGeom>
          <a:solidFill>
            <a:srgbClr val="003B70"/>
          </a:solidFill>
          <a:ln w="12700">
            <a:solidFill>
              <a:srgbClr val="003B70"/>
            </a:solidFill>
            <a:prstDash val="solid"/>
          </a:ln>
        </p:spPr>
      </p:sp>
      <p:sp>
        <p:nvSpPr>
          <p:cNvPr id="8" name="Text 6"/>
          <p:cNvSpPr/>
          <p:nvPr/>
        </p:nvSpPr>
        <p:spPr>
          <a:xfrm>
            <a:off x="274320" y="1042416"/>
            <a:ext cx="1353312"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310896" y="1225296"/>
            <a:ext cx="129844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New Cert in</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NGC Vault</a:t>
            </a:r>
            <a:endParaRPr lang="en-US" sz="850" dirty="0"/>
          </a:p>
        </p:txBody>
      </p:sp>
      <p:sp>
        <p:nvSpPr>
          <p:cNvPr id="10" name="Text 8"/>
          <p:cNvSpPr/>
          <p:nvPr/>
        </p:nvSpPr>
        <p:spPr>
          <a:xfrm>
            <a:off x="347472" y="1536192"/>
            <a:ext cx="1243584" cy="230428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Renewed certificate stored in NGC Vault. New Order ID generated. Both old and new cert available — seamless coexistence during transition.</a:t>
            </a:r>
            <a:endParaRPr lang="en-US" sz="900" dirty="0"/>
          </a:p>
        </p:txBody>
      </p:sp>
      <p:sp>
        <p:nvSpPr>
          <p:cNvPr id="11" name="Shape 9"/>
          <p:cNvSpPr/>
          <p:nvPr/>
        </p:nvSpPr>
        <p:spPr>
          <a:xfrm>
            <a:off x="1627632" y="1188720"/>
            <a:ext cx="54864" cy="73152"/>
          </a:xfrm>
          <a:prstGeom prst="rect">
            <a:avLst/>
          </a:prstGeom>
          <a:solidFill>
            <a:srgbClr val="056DAE"/>
          </a:solidFill>
          <a:ln w="12700">
            <a:solidFill>
              <a:srgbClr val="056DAE"/>
            </a:solidFill>
            <a:prstDash val="solid"/>
          </a:ln>
        </p:spPr>
      </p:sp>
      <p:sp>
        <p:nvSpPr>
          <p:cNvPr id="12" name="Shape 10"/>
          <p:cNvSpPr/>
          <p:nvPr/>
        </p:nvSpPr>
        <p:spPr>
          <a:xfrm>
            <a:off x="1682496" y="1005840"/>
            <a:ext cx="1353312" cy="2926080"/>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3" name="Shape 11"/>
          <p:cNvSpPr/>
          <p:nvPr/>
        </p:nvSpPr>
        <p:spPr>
          <a:xfrm>
            <a:off x="1682496" y="1005840"/>
            <a:ext cx="1353312" cy="420624"/>
          </a:xfrm>
          <a:prstGeom prst="rect">
            <a:avLst/>
          </a:prstGeom>
          <a:solidFill>
            <a:srgbClr val="1565C0"/>
          </a:solidFill>
          <a:ln w="12700">
            <a:solidFill>
              <a:srgbClr val="1565C0"/>
            </a:solidFill>
            <a:prstDash val="solid"/>
          </a:ln>
        </p:spPr>
      </p:sp>
      <p:sp>
        <p:nvSpPr>
          <p:cNvPr id="14" name="Text 12"/>
          <p:cNvSpPr/>
          <p:nvPr/>
        </p:nvSpPr>
        <p:spPr>
          <a:xfrm>
            <a:off x="1682496" y="1042416"/>
            <a:ext cx="1353312"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1719072" y="1225296"/>
            <a:ext cx="129844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Repo Scan</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Complete</a:t>
            </a:r>
            <a:endParaRPr lang="en-US" sz="850" dirty="0"/>
          </a:p>
        </p:txBody>
      </p:sp>
      <p:sp>
        <p:nvSpPr>
          <p:cNvPr id="16" name="Text 14"/>
          <p:cNvSpPr/>
          <p:nvPr/>
        </p:nvSpPr>
        <p:spPr>
          <a:xfrm>
            <a:off x="1755648" y="1536192"/>
            <a:ext cx="1243584" cy="230428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has identified all files referencing the old Order ID across Bitbucket/GitHub repositories.</a:t>
            </a:r>
            <a:endParaRPr lang="en-US" sz="900" dirty="0"/>
          </a:p>
        </p:txBody>
      </p:sp>
      <p:sp>
        <p:nvSpPr>
          <p:cNvPr id="17" name="Shape 15"/>
          <p:cNvSpPr/>
          <p:nvPr/>
        </p:nvSpPr>
        <p:spPr>
          <a:xfrm>
            <a:off x="3035808" y="1188720"/>
            <a:ext cx="54864" cy="73152"/>
          </a:xfrm>
          <a:prstGeom prst="rect">
            <a:avLst/>
          </a:prstGeom>
          <a:solidFill>
            <a:srgbClr val="056DAE"/>
          </a:solidFill>
          <a:ln w="12700">
            <a:solidFill>
              <a:srgbClr val="056DAE"/>
            </a:solidFill>
            <a:prstDash val="solid"/>
          </a:ln>
        </p:spPr>
      </p:sp>
      <p:sp>
        <p:nvSpPr>
          <p:cNvPr id="18" name="Shape 16"/>
          <p:cNvSpPr/>
          <p:nvPr/>
        </p:nvSpPr>
        <p:spPr>
          <a:xfrm>
            <a:off x="3090672" y="1005840"/>
            <a:ext cx="1353312" cy="2926080"/>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3090672" y="1005840"/>
            <a:ext cx="1353312" cy="420624"/>
          </a:xfrm>
          <a:prstGeom prst="rect">
            <a:avLst/>
          </a:prstGeom>
          <a:solidFill>
            <a:srgbClr val="00838F"/>
          </a:solidFill>
          <a:ln w="12700">
            <a:solidFill>
              <a:srgbClr val="00838F"/>
            </a:solidFill>
            <a:prstDash val="solid"/>
          </a:ln>
        </p:spPr>
      </p:sp>
      <p:sp>
        <p:nvSpPr>
          <p:cNvPr id="20" name="Text 18"/>
          <p:cNvSpPr/>
          <p:nvPr/>
        </p:nvSpPr>
        <p:spPr>
          <a:xfrm>
            <a:off x="3090672" y="1042416"/>
            <a:ext cx="1353312"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3127248" y="1225296"/>
            <a:ext cx="129844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FID Write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Access?</a:t>
            </a:r>
            <a:endParaRPr lang="en-US" sz="850" dirty="0"/>
          </a:p>
        </p:txBody>
      </p:sp>
      <p:sp>
        <p:nvSpPr>
          <p:cNvPr id="22" name="Text 20"/>
          <p:cNvSpPr/>
          <p:nvPr/>
        </p:nvSpPr>
        <p:spPr>
          <a:xfrm>
            <a:off x="3163824" y="1536192"/>
            <a:ext cx="1243584" cy="230428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checks if its Functional ID has write access to the repository. Determines automated vs manual path.</a:t>
            </a:r>
            <a:endParaRPr lang="en-US" sz="900" dirty="0"/>
          </a:p>
        </p:txBody>
      </p:sp>
      <p:sp>
        <p:nvSpPr>
          <p:cNvPr id="23" name="Shape 21"/>
          <p:cNvSpPr/>
          <p:nvPr/>
        </p:nvSpPr>
        <p:spPr>
          <a:xfrm>
            <a:off x="4443984" y="1188720"/>
            <a:ext cx="54864" cy="73152"/>
          </a:xfrm>
          <a:prstGeom prst="rect">
            <a:avLst/>
          </a:prstGeom>
          <a:solidFill>
            <a:srgbClr val="056DAE"/>
          </a:solidFill>
          <a:ln w="12700">
            <a:solidFill>
              <a:srgbClr val="056DAE"/>
            </a:solidFill>
            <a:prstDash val="solid"/>
          </a:ln>
        </p:spPr>
      </p:sp>
      <p:sp>
        <p:nvSpPr>
          <p:cNvPr id="24" name="Shape 22"/>
          <p:cNvSpPr/>
          <p:nvPr/>
        </p:nvSpPr>
        <p:spPr>
          <a:xfrm>
            <a:off x="4498848" y="1005840"/>
            <a:ext cx="1353312" cy="2926080"/>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25" name="Shape 23"/>
          <p:cNvSpPr/>
          <p:nvPr/>
        </p:nvSpPr>
        <p:spPr>
          <a:xfrm>
            <a:off x="4498848" y="1005840"/>
            <a:ext cx="1353312" cy="420624"/>
          </a:xfrm>
          <a:prstGeom prst="rect">
            <a:avLst/>
          </a:prstGeom>
          <a:solidFill>
            <a:srgbClr val="2E7D32"/>
          </a:solidFill>
          <a:ln w="12700">
            <a:solidFill>
              <a:srgbClr val="2E7D32"/>
            </a:solidFill>
            <a:prstDash val="solid"/>
          </a:ln>
        </p:spPr>
      </p:sp>
      <p:sp>
        <p:nvSpPr>
          <p:cNvPr id="26" name="Text 24"/>
          <p:cNvSpPr/>
          <p:nvPr/>
        </p:nvSpPr>
        <p:spPr>
          <a:xfrm>
            <a:off x="4498848" y="1042416"/>
            <a:ext cx="1353312"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4535424" y="1225296"/>
            <a:ext cx="129844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Feature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Branch Created</a:t>
            </a:r>
            <a:endParaRPr lang="en-US" sz="850" dirty="0"/>
          </a:p>
        </p:txBody>
      </p:sp>
      <p:sp>
        <p:nvSpPr>
          <p:cNvPr id="28" name="Text 26"/>
          <p:cNvSpPr/>
          <p:nvPr/>
        </p:nvSpPr>
        <p:spPr>
          <a:xfrm>
            <a:off x="4572000" y="1536192"/>
            <a:ext cx="1243584" cy="230428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creates a feature branch:</a:t>
            </a:r>
            <a:endParaRPr lang="en-US" sz="900" dirty="0"/>
          </a:p>
          <a:p>
            <a:pPr indent="0" marL="0">
              <a:buNone/>
            </a:pPr>
            <a:r>
              <a:rPr lang="en-US" sz="900" dirty="0">
                <a:solidFill>
                  <a:srgbClr val="1A2B40"/>
                </a:solidFill>
                <a:latin typeface="Calibri" pitchFamily="34" charset="0"/>
                <a:ea typeface="Calibri" pitchFamily="34" charset="-122"/>
                <a:cs typeface="Calibri" pitchFamily="34" charset="-120"/>
              </a:rPr>
              <a:t>cert-renewal-YYYYMMDD-HHMMSS</a:t>
            </a:r>
            <a:endParaRPr lang="en-US" sz="900" dirty="0"/>
          </a:p>
        </p:txBody>
      </p:sp>
      <p:sp>
        <p:nvSpPr>
          <p:cNvPr id="29" name="Shape 27"/>
          <p:cNvSpPr/>
          <p:nvPr/>
        </p:nvSpPr>
        <p:spPr>
          <a:xfrm>
            <a:off x="5852160" y="1188720"/>
            <a:ext cx="54864" cy="73152"/>
          </a:xfrm>
          <a:prstGeom prst="rect">
            <a:avLst/>
          </a:prstGeom>
          <a:solidFill>
            <a:srgbClr val="056DAE"/>
          </a:solidFill>
          <a:ln w="12700">
            <a:solidFill>
              <a:srgbClr val="056DAE"/>
            </a:solidFill>
            <a:prstDash val="solid"/>
          </a:ln>
        </p:spPr>
      </p:sp>
      <p:sp>
        <p:nvSpPr>
          <p:cNvPr id="30" name="Shape 28"/>
          <p:cNvSpPr/>
          <p:nvPr/>
        </p:nvSpPr>
        <p:spPr>
          <a:xfrm>
            <a:off x="5907024" y="1005840"/>
            <a:ext cx="1353312" cy="2926080"/>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31" name="Shape 29"/>
          <p:cNvSpPr/>
          <p:nvPr/>
        </p:nvSpPr>
        <p:spPr>
          <a:xfrm>
            <a:off x="5907024" y="1005840"/>
            <a:ext cx="1353312" cy="420624"/>
          </a:xfrm>
          <a:prstGeom prst="rect">
            <a:avLst/>
          </a:prstGeom>
          <a:solidFill>
            <a:srgbClr val="1A6632"/>
          </a:solidFill>
          <a:ln w="12700">
            <a:solidFill>
              <a:srgbClr val="1A6632"/>
            </a:solidFill>
            <a:prstDash val="solid"/>
          </a:ln>
        </p:spPr>
      </p:sp>
      <p:sp>
        <p:nvSpPr>
          <p:cNvPr id="32" name="Text 30"/>
          <p:cNvSpPr/>
          <p:nvPr/>
        </p:nvSpPr>
        <p:spPr>
          <a:xfrm>
            <a:off x="5907024" y="1042416"/>
            <a:ext cx="1353312"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3" name="Text 31"/>
          <p:cNvSpPr/>
          <p:nvPr/>
        </p:nvSpPr>
        <p:spPr>
          <a:xfrm>
            <a:off x="5943600" y="1225296"/>
            <a:ext cx="129844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Order ID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Updated</a:t>
            </a:r>
            <a:endParaRPr lang="en-US" sz="850" dirty="0"/>
          </a:p>
        </p:txBody>
      </p:sp>
      <p:sp>
        <p:nvSpPr>
          <p:cNvPr id="34" name="Text 32"/>
          <p:cNvSpPr/>
          <p:nvPr/>
        </p:nvSpPr>
        <p:spPr>
          <a:xfrm>
            <a:off x="5980176" y="1536192"/>
            <a:ext cx="1243584" cy="230428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Files updated with new Order ID.</a:t>
            </a:r>
            <a:endParaRPr lang="en-US" sz="900" dirty="0"/>
          </a:p>
          <a:p>
            <a:pPr indent="0" marL="0">
              <a:buNone/>
            </a:pPr>
            <a:r>
              <a:rPr lang="en-US" sz="900" dirty="0">
                <a:solidFill>
                  <a:srgbClr val="1A2B40"/>
                </a:solidFill>
                <a:latin typeface="Calibri" pitchFamily="34" charset="0"/>
                <a:ea typeface="Calibri" pitchFamily="34" charset="-122"/>
                <a:cs typeface="Calibri" pitchFamily="34" charset="-120"/>
              </a:rPr>
              <a:t>Commit: 'Auto-renewal: Update certificate OrderID'</a:t>
            </a:r>
            <a:endParaRPr lang="en-US" sz="900" dirty="0"/>
          </a:p>
        </p:txBody>
      </p:sp>
      <p:sp>
        <p:nvSpPr>
          <p:cNvPr id="35" name="Shape 33"/>
          <p:cNvSpPr/>
          <p:nvPr/>
        </p:nvSpPr>
        <p:spPr>
          <a:xfrm>
            <a:off x="7260336" y="1188720"/>
            <a:ext cx="54864" cy="73152"/>
          </a:xfrm>
          <a:prstGeom prst="rect">
            <a:avLst/>
          </a:prstGeom>
          <a:solidFill>
            <a:srgbClr val="056DAE"/>
          </a:solidFill>
          <a:ln w="12700">
            <a:solidFill>
              <a:srgbClr val="056DAE"/>
            </a:solidFill>
            <a:prstDash val="solid"/>
          </a:ln>
        </p:spPr>
      </p:sp>
      <p:sp>
        <p:nvSpPr>
          <p:cNvPr id="36" name="Shape 34"/>
          <p:cNvSpPr/>
          <p:nvPr/>
        </p:nvSpPr>
        <p:spPr>
          <a:xfrm>
            <a:off x="7315200" y="1005840"/>
            <a:ext cx="1353312" cy="2926080"/>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37" name="Shape 35"/>
          <p:cNvSpPr/>
          <p:nvPr/>
        </p:nvSpPr>
        <p:spPr>
          <a:xfrm>
            <a:off x="7315200" y="1005840"/>
            <a:ext cx="1353312" cy="420624"/>
          </a:xfrm>
          <a:prstGeom prst="rect">
            <a:avLst/>
          </a:prstGeom>
          <a:solidFill>
            <a:srgbClr val="003B70"/>
          </a:solidFill>
          <a:ln w="12700">
            <a:solidFill>
              <a:srgbClr val="003B70"/>
            </a:solidFill>
            <a:prstDash val="solid"/>
          </a:ln>
        </p:spPr>
      </p:sp>
      <p:sp>
        <p:nvSpPr>
          <p:cNvPr id="38" name="Text 36"/>
          <p:cNvSpPr/>
          <p:nvPr/>
        </p:nvSpPr>
        <p:spPr>
          <a:xfrm>
            <a:off x="7315200" y="1042416"/>
            <a:ext cx="1353312"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9" name="Text 37"/>
          <p:cNvSpPr/>
          <p:nvPr/>
        </p:nvSpPr>
        <p:spPr>
          <a:xfrm>
            <a:off x="7351776" y="1225296"/>
            <a:ext cx="129844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 Raised &amp;</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Team Notified</a:t>
            </a:r>
            <a:endParaRPr lang="en-US" sz="850" dirty="0"/>
          </a:p>
        </p:txBody>
      </p:sp>
      <p:sp>
        <p:nvSpPr>
          <p:cNvPr id="40" name="Text 38"/>
          <p:cNvSpPr/>
          <p:nvPr/>
        </p:nvSpPr>
        <p:spPr>
          <a:xfrm>
            <a:off x="7388352" y="1536192"/>
            <a:ext cx="1243584" cy="230428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PR created with old→new Order ID, changed files list, reviewers set. Team notified to review and merge.</a:t>
            </a:r>
            <a:endParaRPr lang="en-US" sz="900" dirty="0"/>
          </a:p>
        </p:txBody>
      </p:sp>
      <p:sp>
        <p:nvSpPr>
          <p:cNvPr id="41" name="Shape 39"/>
          <p:cNvSpPr/>
          <p:nvPr/>
        </p:nvSpPr>
        <p:spPr>
          <a:xfrm>
            <a:off x="274320" y="4069080"/>
            <a:ext cx="8595360" cy="914400"/>
          </a:xfrm>
          <a:prstGeom prst="rect">
            <a:avLst/>
          </a:prstGeom>
          <a:solidFill>
            <a:srgbClr val="FDE8EC"/>
          </a:solidFill>
          <a:ln w="10160">
            <a:solidFill>
              <a:srgbClr val="C8102E"/>
            </a:solidFill>
            <a:prstDash val="solid"/>
          </a:ln>
          <a:effectLst>
            <a:outerShdw sx="100000" sy="100000" kx="0" ky="0" algn="bl" rotWithShape="0" blurRad="63500" dist="25400" dir="8100000">
              <a:srgbClr val="000000">
                <a:alpha val="7000"/>
              </a:srgbClr>
            </a:outerShdw>
          </a:effectLst>
        </p:spPr>
      </p:sp>
      <p:sp>
        <p:nvSpPr>
          <p:cNvPr id="42" name="Shape 40"/>
          <p:cNvSpPr/>
          <p:nvPr/>
        </p:nvSpPr>
        <p:spPr>
          <a:xfrm>
            <a:off x="274320" y="4069080"/>
            <a:ext cx="73152" cy="914400"/>
          </a:xfrm>
          <a:prstGeom prst="rect">
            <a:avLst/>
          </a:prstGeom>
          <a:solidFill>
            <a:srgbClr val="C8102E"/>
          </a:solidFill>
          <a:ln w="12700">
            <a:solidFill>
              <a:srgbClr val="C8102E"/>
            </a:solidFill>
            <a:prstDash val="solid"/>
          </a:ln>
        </p:spPr>
      </p:sp>
      <p:sp>
        <p:nvSpPr>
          <p:cNvPr id="43" name="Text 41"/>
          <p:cNvSpPr/>
          <p:nvPr/>
        </p:nvSpPr>
        <p:spPr>
          <a:xfrm>
            <a:off x="457200" y="4114800"/>
            <a:ext cx="2286000" cy="256032"/>
          </a:xfrm>
          <a:prstGeom prst="rect">
            <a:avLst/>
          </a:prstGeom>
          <a:noFill/>
          <a:ln/>
        </p:spPr>
        <p:txBody>
          <a:bodyPr wrap="square" lIns="0" tIns="0" rIns="0" bIns="0" rtlCol="0" anchor="ctr"/>
          <a:lstStyle/>
          <a:p>
            <a:pPr indent="0" marL="0">
              <a:buNone/>
            </a:pPr>
            <a:r>
              <a:rPr lang="en-US" sz="1100" b="1" dirty="0">
                <a:solidFill>
                  <a:srgbClr val="C8102E"/>
                </a:solidFill>
                <a:latin typeface="Calibri" pitchFamily="34" charset="0"/>
                <a:ea typeface="Calibri" pitchFamily="34" charset="-122"/>
                <a:cs typeface="Calibri" pitchFamily="34" charset="-120"/>
              </a:rPr>
              <a:t>If FID has NO write access:</a:t>
            </a:r>
            <a:endParaRPr lang="en-US" sz="1100" dirty="0"/>
          </a:p>
        </p:txBody>
      </p:sp>
      <p:sp>
        <p:nvSpPr>
          <p:cNvPr id="44" name="Text 42"/>
          <p:cNvSpPr/>
          <p:nvPr/>
        </p:nvSpPr>
        <p:spPr>
          <a:xfrm>
            <a:off x="457200" y="4407408"/>
            <a:ext cx="8321040" cy="502920"/>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CLM sends email alert: Subject — 'Manual Certificate Update Required'. Body includes: new Order ID, list of files that need updating, and exact changes needed. Team must manually update code, commit, and merge. Ensure FID write access is granted during onboarding to avoid this manual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What CLM Automates vs What It Does Not</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Coverage is determined by how the certificate is stored and referenced in your application</a:t>
            </a:r>
            <a:endParaRPr lang="en-US" sz="1050" dirty="0"/>
          </a:p>
        </p:txBody>
      </p:sp>
      <p:sp>
        <p:nvSpPr>
          <p:cNvPr id="6" name="Shape 4"/>
          <p:cNvSpPr/>
          <p:nvPr/>
        </p:nvSpPr>
        <p:spPr>
          <a:xfrm>
            <a:off x="274320" y="877824"/>
            <a:ext cx="4315968" cy="4160520"/>
          </a:xfrm>
          <a:prstGeom prst="rect">
            <a:avLst/>
          </a:prstGeom>
          <a:solidFill>
            <a:srgbClr val="EBF7EE"/>
          </a:solidFill>
          <a:ln w="15240">
            <a:solidFill>
              <a:srgbClr val="1A6632"/>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74320" y="877824"/>
            <a:ext cx="4315968" cy="457200"/>
          </a:xfrm>
          <a:prstGeom prst="rect">
            <a:avLst/>
          </a:prstGeom>
          <a:solidFill>
            <a:srgbClr val="1A6632"/>
          </a:solidFill>
          <a:ln w="12700">
            <a:solidFill>
              <a:srgbClr val="1A6632"/>
            </a:solidFill>
            <a:prstDash val="solid"/>
          </a:ln>
        </p:spPr>
      </p:sp>
      <p:sp>
        <p:nvSpPr>
          <p:cNvPr id="8" name="Text 6"/>
          <p:cNvSpPr/>
          <p:nvPr/>
        </p:nvSpPr>
        <p:spPr>
          <a:xfrm>
            <a:off x="384048" y="905256"/>
            <a:ext cx="41148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COVERED BY CLM AUTOMATION</a:t>
            </a:r>
            <a:endParaRPr lang="en-US" sz="1200" dirty="0"/>
          </a:p>
        </p:txBody>
      </p:sp>
      <p:sp>
        <p:nvSpPr>
          <p:cNvPr id="9" name="Text 7"/>
          <p:cNvSpPr/>
          <p:nvPr/>
        </p:nvSpPr>
        <p:spPr>
          <a:xfrm>
            <a:off x="384048" y="1463040"/>
            <a:ext cx="4114800" cy="502920"/>
          </a:xfrm>
          <a:prstGeom prst="rect">
            <a:avLst/>
          </a:prstGeom>
          <a:noFill/>
          <a:ln/>
        </p:spPr>
        <p:txBody>
          <a:bodyPr wrap="square" lIns="0" tIns="0" rIns="0" bIns="0" rtlCol="0" anchor="ctr"/>
          <a:lstStyle/>
          <a:p>
            <a:pPr indent="0" marL="0">
              <a:buNone/>
            </a:pPr>
            <a:r>
              <a:rPr lang="en-US" sz="1300" b="1" dirty="0">
                <a:solidFill>
                  <a:srgbClr val="1A6632"/>
                </a:solidFill>
                <a:latin typeface="Calibri" pitchFamily="34" charset="0"/>
                <a:ea typeface="Calibri" pitchFamily="34" charset="-122"/>
                <a:cs typeface="Calibri" pitchFamily="34" charset="-120"/>
              </a:rPr>
              <a:t>Certificate stored in NGC Vault and referenced</a:t>
            </a:r>
            <a:endParaRPr lang="en-US" sz="1300" dirty="0"/>
          </a:p>
          <a:p>
            <a:pPr indent="0" marL="0">
              <a:buNone/>
            </a:pPr>
            <a:r>
              <a:rPr lang="en-US" sz="1300" b="1" dirty="0">
                <a:solidFill>
                  <a:srgbClr val="1A6632"/>
                </a:solidFill>
                <a:latin typeface="Calibri" pitchFamily="34" charset="0"/>
                <a:ea typeface="Calibri" pitchFamily="34" charset="-122"/>
                <a:cs typeface="Calibri" pitchFamily="34" charset="-120"/>
              </a:rPr>
              <a:t>by Order ID and/or Nickname</a:t>
            </a:r>
            <a:endParaRPr lang="en-US" sz="1300" dirty="0"/>
          </a:p>
        </p:txBody>
      </p:sp>
      <p:sp>
        <p:nvSpPr>
          <p:cNvPr id="10" name="Text 8"/>
          <p:cNvSpPr/>
          <p:nvPr/>
        </p:nvSpPr>
        <p:spPr>
          <a:xfrm>
            <a:off x="411480" y="2084832"/>
            <a:ext cx="4069080" cy="237744"/>
          </a:xfrm>
          <a:prstGeom prst="rect">
            <a:avLst/>
          </a:prstGeom>
          <a:noFill/>
          <a:ln/>
        </p:spPr>
        <p:txBody>
          <a:bodyPr wrap="square" lIns="0" tIns="0" rIns="0" bIns="0" rtlCol="0" anchor="ctr"/>
          <a:lstStyle/>
          <a:p>
            <a:pPr indent="0" marL="0">
              <a:buNone/>
            </a:pPr>
            <a:r>
              <a:rPr lang="en-US" sz="1050" b="1" dirty="0">
                <a:solidFill>
                  <a:srgbClr val="003B70"/>
                </a:solidFill>
                <a:latin typeface="Calibri" pitchFamily="34" charset="0"/>
                <a:ea typeface="Calibri" pitchFamily="34" charset="-122"/>
                <a:cs typeface="Calibri" pitchFamily="34" charset="-120"/>
              </a:rPr>
              <a:t>How it works</a:t>
            </a:r>
            <a:endParaRPr lang="en-US" sz="1050" dirty="0"/>
          </a:p>
        </p:txBody>
      </p:sp>
      <p:sp>
        <p:nvSpPr>
          <p:cNvPr id="11" name="Text 9"/>
          <p:cNvSpPr/>
          <p:nvPr/>
        </p:nvSpPr>
        <p:spPr>
          <a:xfrm>
            <a:off x="411480" y="2350008"/>
            <a:ext cx="4069080" cy="594360"/>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CLM discovers the certificate from NGC Vault on its scheduled scan. When approaching 60-day expiry, CLM initiates renewal via the MSPKI Certificate Authority. New certificate stored back in NGC Vault. CLM scans Bitbucket/GitHub repositories for Order ID and Nickname references.</a:t>
            </a:r>
            <a:endParaRPr lang="en-US" sz="950" dirty="0"/>
          </a:p>
        </p:txBody>
      </p:sp>
      <p:sp>
        <p:nvSpPr>
          <p:cNvPr id="12" name="Text 10"/>
          <p:cNvSpPr/>
          <p:nvPr/>
        </p:nvSpPr>
        <p:spPr>
          <a:xfrm>
            <a:off x="411480" y="2999232"/>
            <a:ext cx="4069080" cy="237744"/>
          </a:xfrm>
          <a:prstGeom prst="rect">
            <a:avLst/>
          </a:prstGeom>
          <a:noFill/>
          <a:ln/>
        </p:spPr>
        <p:txBody>
          <a:bodyPr wrap="square" lIns="0" tIns="0" rIns="0" bIns="0" rtlCol="0" anchor="ctr"/>
          <a:lstStyle/>
          <a:p>
            <a:pPr indent="0" marL="0">
              <a:buNone/>
            </a:pPr>
            <a:r>
              <a:rPr lang="en-US" sz="1050" b="1" dirty="0">
                <a:solidFill>
                  <a:srgbClr val="003B70"/>
                </a:solidFill>
                <a:latin typeface="Calibri" pitchFamily="34" charset="0"/>
                <a:ea typeface="Calibri" pitchFamily="34" charset="-122"/>
                <a:cs typeface="Calibri" pitchFamily="34" charset="-120"/>
              </a:rPr>
              <a:t>Code update</a:t>
            </a:r>
            <a:endParaRPr lang="en-US" sz="1050" dirty="0"/>
          </a:p>
        </p:txBody>
      </p:sp>
      <p:sp>
        <p:nvSpPr>
          <p:cNvPr id="13" name="Text 11"/>
          <p:cNvSpPr/>
          <p:nvPr/>
        </p:nvSpPr>
        <p:spPr>
          <a:xfrm>
            <a:off x="411480" y="3264408"/>
            <a:ext cx="4069080" cy="475488"/>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If CLM FID has write access: automated PR created in feature branch with updated Order ID. If no write access: manual alert sent to team with new Order ID and list of files to update.</a:t>
            </a:r>
            <a:endParaRPr lang="en-US" sz="950" dirty="0"/>
          </a:p>
        </p:txBody>
      </p:sp>
      <p:sp>
        <p:nvSpPr>
          <p:cNvPr id="14" name="Text 12"/>
          <p:cNvSpPr/>
          <p:nvPr/>
        </p:nvSpPr>
        <p:spPr>
          <a:xfrm>
            <a:off x="411480" y="3794760"/>
            <a:ext cx="4069080" cy="237744"/>
          </a:xfrm>
          <a:prstGeom prst="rect">
            <a:avLst/>
          </a:prstGeom>
          <a:noFill/>
          <a:ln/>
        </p:spPr>
        <p:txBody>
          <a:bodyPr wrap="square" lIns="0" tIns="0" rIns="0" bIns="0" rtlCol="0" anchor="ctr"/>
          <a:lstStyle/>
          <a:p>
            <a:pPr indent="0" marL="0">
              <a:buNone/>
            </a:pPr>
            <a:r>
              <a:rPr lang="en-US" sz="1050" b="1" dirty="0">
                <a:solidFill>
                  <a:srgbClr val="003B70"/>
                </a:solidFill>
                <a:latin typeface="Calibri" pitchFamily="34" charset="0"/>
                <a:ea typeface="Calibri" pitchFamily="34" charset="-122"/>
                <a:cs typeface="Calibri" pitchFamily="34" charset="-120"/>
              </a:rPr>
              <a:t>Result</a:t>
            </a:r>
            <a:endParaRPr lang="en-US" sz="1050" dirty="0"/>
          </a:p>
        </p:txBody>
      </p:sp>
      <p:sp>
        <p:nvSpPr>
          <p:cNvPr id="15" name="Text 13"/>
          <p:cNvSpPr/>
          <p:nvPr/>
        </p:nvSpPr>
        <p:spPr>
          <a:xfrm>
            <a:off x="411480" y="4059936"/>
            <a:ext cx="4069080" cy="384048"/>
          </a:xfrm>
          <a:prstGeom prst="rect">
            <a:avLst/>
          </a:prstGeom>
          <a:noFill/>
          <a:ln/>
        </p:spPr>
        <p:txBody>
          <a:bodyPr wrap="square" lIns="0" tIns="0" rIns="0" bIns="0" rtlCol="0" anchor="ctr"/>
          <a:lstStyle/>
          <a:p>
            <a:pPr indent="0" marL="0">
              <a:buNone/>
            </a:pPr>
            <a:r>
              <a:rPr lang="en-US" sz="950" dirty="0">
                <a:solidFill>
                  <a:srgbClr val="1A2B40"/>
                </a:solidFill>
                <a:latin typeface="Calibri" pitchFamily="34" charset="0"/>
                <a:ea typeface="Calibri" pitchFamily="34" charset="-122"/>
                <a:cs typeface="Calibri" pitchFamily="34" charset="-120"/>
              </a:rPr>
              <a:t>End-to-end lifecycle managed by CLM. Minimal human intervention — only PR review and merge if automated.</a:t>
            </a:r>
            <a:endParaRPr lang="en-US" sz="950" dirty="0"/>
          </a:p>
        </p:txBody>
      </p:sp>
      <p:sp>
        <p:nvSpPr>
          <p:cNvPr id="16" name="Shape 14"/>
          <p:cNvSpPr/>
          <p:nvPr/>
        </p:nvSpPr>
        <p:spPr>
          <a:xfrm>
            <a:off x="4828032" y="877824"/>
            <a:ext cx="4041648" cy="4160520"/>
          </a:xfrm>
          <a:prstGeom prst="rect">
            <a:avLst/>
          </a:prstGeom>
          <a:solidFill>
            <a:srgbClr val="FDE8EC"/>
          </a:solidFill>
          <a:ln w="15240">
            <a:solidFill>
              <a:srgbClr val="C8102E"/>
            </a:solidFill>
            <a:prstDash val="solid"/>
          </a:ln>
          <a:effectLst>
            <a:outerShdw sx="100000" sy="100000" kx="0" ky="0" algn="bl" rotWithShape="0" blurRad="63500" dist="25400" dir="8100000">
              <a:srgbClr val="000000">
                <a:alpha val="7000"/>
              </a:srgbClr>
            </a:outerShdw>
          </a:effectLst>
        </p:spPr>
      </p:sp>
      <p:sp>
        <p:nvSpPr>
          <p:cNvPr id="17" name="Shape 15"/>
          <p:cNvSpPr/>
          <p:nvPr/>
        </p:nvSpPr>
        <p:spPr>
          <a:xfrm>
            <a:off x="4828032" y="877824"/>
            <a:ext cx="4041648" cy="457200"/>
          </a:xfrm>
          <a:prstGeom prst="rect">
            <a:avLst/>
          </a:prstGeom>
          <a:solidFill>
            <a:srgbClr val="C8102E"/>
          </a:solidFill>
          <a:ln w="12700">
            <a:solidFill>
              <a:srgbClr val="C8102E"/>
            </a:solidFill>
            <a:prstDash val="solid"/>
          </a:ln>
        </p:spPr>
      </p:sp>
      <p:sp>
        <p:nvSpPr>
          <p:cNvPr id="18" name="Text 16"/>
          <p:cNvSpPr/>
          <p:nvPr/>
        </p:nvSpPr>
        <p:spPr>
          <a:xfrm>
            <a:off x="4937760" y="905256"/>
            <a:ext cx="384048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NOT HANDLED BY CLM</a:t>
            </a:r>
            <a:endParaRPr lang="en-US" sz="1200" dirty="0"/>
          </a:p>
        </p:txBody>
      </p:sp>
      <p:sp>
        <p:nvSpPr>
          <p:cNvPr id="19" name="Text 17"/>
          <p:cNvSpPr/>
          <p:nvPr/>
        </p:nvSpPr>
        <p:spPr>
          <a:xfrm>
            <a:off x="4937760" y="1463040"/>
            <a:ext cx="3840480" cy="502920"/>
          </a:xfrm>
          <a:prstGeom prst="rect">
            <a:avLst/>
          </a:prstGeom>
          <a:noFill/>
          <a:ln/>
        </p:spPr>
        <p:txBody>
          <a:bodyPr wrap="square" lIns="0" tIns="0" rIns="0" bIns="0"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Certificate embedded via script commands or raw</a:t>
            </a:r>
            <a:endParaRPr lang="en-US" sz="1200" dirty="0"/>
          </a:p>
          <a:p>
            <a:pPr indent="0" marL="0">
              <a:buNone/>
            </a:pPr>
            <a:r>
              <a:rPr lang="en-US" sz="1200" b="1" dirty="0">
                <a:solidFill>
                  <a:srgbClr val="C8102E"/>
                </a:solidFill>
                <a:latin typeface="Calibri" pitchFamily="34" charset="0"/>
                <a:ea typeface="Calibri" pitchFamily="34" charset="-122"/>
                <a:cs typeface="Calibri" pitchFamily="34" charset="-120"/>
              </a:rPr>
              <a:t>cert data in OpenShift Route YAML</a:t>
            </a:r>
            <a:endParaRPr lang="en-US" sz="1200" dirty="0"/>
          </a:p>
        </p:txBody>
      </p:sp>
      <p:sp>
        <p:nvSpPr>
          <p:cNvPr id="20" name="Text 18"/>
          <p:cNvSpPr/>
          <p:nvPr/>
        </p:nvSpPr>
        <p:spPr>
          <a:xfrm>
            <a:off x="4937760" y="2029968"/>
            <a:ext cx="3840480" cy="219456"/>
          </a:xfrm>
          <a:prstGeom prst="rect">
            <a:avLst/>
          </a:prstGeom>
          <a:noFill/>
          <a:ln/>
        </p:spPr>
        <p:txBody>
          <a:bodyPr wrap="square" lIns="0" tIns="0" rIns="0" bIns="0" rtlCol="0" anchor="ctr"/>
          <a:lstStyle/>
          <a:p>
            <a:pPr indent="0" marL="0">
              <a:buNone/>
            </a:pPr>
            <a:r>
              <a:rPr lang="en-US" sz="1000" b="1" dirty="0">
                <a:solidFill>
                  <a:srgbClr val="003B70"/>
                </a:solidFill>
                <a:latin typeface="Calibri" pitchFamily="34" charset="0"/>
                <a:ea typeface="Calibri" pitchFamily="34" charset="-122"/>
                <a:cs typeface="Calibri" pitchFamily="34" charset="-120"/>
              </a:rPr>
              <a:t>What this looks like</a:t>
            </a:r>
            <a:endParaRPr lang="en-US" sz="1000" dirty="0"/>
          </a:p>
        </p:txBody>
      </p:sp>
      <p:sp>
        <p:nvSpPr>
          <p:cNvPr id="21" name="Text 19"/>
          <p:cNvSpPr/>
          <p:nvPr/>
        </p:nvSpPr>
        <p:spPr>
          <a:xfrm>
            <a:off x="4937760" y="2267712"/>
            <a:ext cx="3840480" cy="38404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Certificate data embedded directly as raw BEGIN CERTIFICATE / END CERTIFICATE blocks in OpenShift Route YAML files, or certificate values hard-coded inside shell scripts or environment variables.</a:t>
            </a:r>
            <a:endParaRPr lang="en-US" sz="900" dirty="0"/>
          </a:p>
        </p:txBody>
      </p:sp>
      <p:sp>
        <p:nvSpPr>
          <p:cNvPr id="22" name="Text 20"/>
          <p:cNvSpPr/>
          <p:nvPr/>
        </p:nvSpPr>
        <p:spPr>
          <a:xfrm>
            <a:off x="4937760" y="2633472"/>
            <a:ext cx="3840480" cy="219456"/>
          </a:xfrm>
          <a:prstGeom prst="rect">
            <a:avLst/>
          </a:prstGeom>
          <a:noFill/>
          <a:ln/>
        </p:spPr>
        <p:txBody>
          <a:bodyPr wrap="square" lIns="0" tIns="0" rIns="0" bIns="0" rtlCol="0" anchor="ctr"/>
          <a:lstStyle/>
          <a:p>
            <a:pPr indent="0" marL="0">
              <a:buNone/>
            </a:pPr>
            <a:r>
              <a:rPr lang="en-US" sz="1000" b="1" dirty="0">
                <a:solidFill>
                  <a:srgbClr val="003B70"/>
                </a:solidFill>
                <a:latin typeface="Calibri" pitchFamily="34" charset="0"/>
                <a:ea typeface="Calibri" pitchFamily="34" charset="-122"/>
                <a:cs typeface="Calibri" pitchFamily="34" charset="-120"/>
              </a:rPr>
              <a:t>Why CLM cannot handle it</a:t>
            </a:r>
            <a:endParaRPr lang="en-US" sz="1000" dirty="0"/>
          </a:p>
        </p:txBody>
      </p:sp>
      <p:sp>
        <p:nvSpPr>
          <p:cNvPr id="23" name="Text 21"/>
          <p:cNvSpPr/>
          <p:nvPr/>
        </p:nvSpPr>
        <p:spPr>
          <a:xfrm>
            <a:off x="4937760" y="2871216"/>
            <a:ext cx="3840480" cy="38404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automation is anchored to NGC Vault Order IDs and Nicknames. If a certificate is not stored in NGC Vault and referenced via Order ID/Nickname — CLM has no way to discover, track, or renew it.</a:t>
            </a:r>
            <a:endParaRPr lang="en-US" sz="900" dirty="0"/>
          </a:p>
        </p:txBody>
      </p:sp>
      <p:sp>
        <p:nvSpPr>
          <p:cNvPr id="24" name="Text 22"/>
          <p:cNvSpPr/>
          <p:nvPr/>
        </p:nvSpPr>
        <p:spPr>
          <a:xfrm>
            <a:off x="4937760" y="3236976"/>
            <a:ext cx="3840480" cy="219456"/>
          </a:xfrm>
          <a:prstGeom prst="rect">
            <a:avLst/>
          </a:prstGeom>
          <a:noFill/>
          <a:ln/>
        </p:spPr>
        <p:txBody>
          <a:bodyPr wrap="square" lIns="0" tIns="0" rIns="0" bIns="0" rtlCol="0" anchor="ctr"/>
          <a:lstStyle/>
          <a:p>
            <a:pPr indent="0" marL="0">
              <a:buNone/>
            </a:pPr>
            <a:r>
              <a:rPr lang="en-US" sz="1000" b="1" dirty="0">
                <a:solidFill>
                  <a:srgbClr val="003B70"/>
                </a:solidFill>
                <a:latin typeface="Calibri" pitchFamily="34" charset="0"/>
                <a:ea typeface="Calibri" pitchFamily="34" charset="-122"/>
                <a:cs typeface="Calibri" pitchFamily="34" charset="-120"/>
              </a:rPr>
              <a:t>What happens instead</a:t>
            </a:r>
            <a:endParaRPr lang="en-US" sz="1000" dirty="0"/>
          </a:p>
        </p:txBody>
      </p:sp>
      <p:sp>
        <p:nvSpPr>
          <p:cNvPr id="25" name="Text 23"/>
          <p:cNvSpPr/>
          <p:nvPr/>
        </p:nvSpPr>
        <p:spPr>
          <a:xfrm>
            <a:off x="4937760" y="3474720"/>
            <a:ext cx="3840480" cy="38404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CLM may identify the location if scanned, but will send a manual alert with new certificate details. Team must manually update the embedded certificate in the YAML or script and redeploy.</a:t>
            </a:r>
            <a:endParaRPr lang="en-US" sz="900" dirty="0"/>
          </a:p>
        </p:txBody>
      </p:sp>
      <p:sp>
        <p:nvSpPr>
          <p:cNvPr id="26" name="Text 24"/>
          <p:cNvSpPr/>
          <p:nvPr/>
        </p:nvSpPr>
        <p:spPr>
          <a:xfrm>
            <a:off x="4937760" y="3840480"/>
            <a:ext cx="3840480" cy="219456"/>
          </a:xfrm>
          <a:prstGeom prst="rect">
            <a:avLst/>
          </a:prstGeom>
          <a:noFill/>
          <a:ln/>
        </p:spPr>
        <p:txBody>
          <a:bodyPr wrap="square" lIns="0" tIns="0" rIns="0" bIns="0" rtlCol="0" anchor="ctr"/>
          <a:lstStyle/>
          <a:p>
            <a:pPr indent="0" marL="0">
              <a:buNone/>
            </a:pPr>
            <a:r>
              <a:rPr lang="en-US" sz="1000" b="1" dirty="0">
                <a:solidFill>
                  <a:srgbClr val="003B70"/>
                </a:solidFill>
                <a:latin typeface="Calibri" pitchFamily="34" charset="0"/>
                <a:ea typeface="Calibri" pitchFamily="34" charset="-122"/>
                <a:cs typeface="Calibri" pitchFamily="34" charset="-120"/>
              </a:rPr>
              <a:t>Recommended action</a:t>
            </a:r>
            <a:endParaRPr lang="en-US" sz="1000" dirty="0"/>
          </a:p>
        </p:txBody>
      </p:sp>
      <p:sp>
        <p:nvSpPr>
          <p:cNvPr id="27" name="Text 25"/>
          <p:cNvSpPr/>
          <p:nvPr/>
        </p:nvSpPr>
        <p:spPr>
          <a:xfrm>
            <a:off x="4937760" y="4078224"/>
            <a:ext cx="3840480" cy="384048"/>
          </a:xfrm>
          <a:prstGeom prst="rect">
            <a:avLst/>
          </a:prstGeom>
          <a:noFill/>
          <a:ln/>
        </p:spPr>
        <p:txBody>
          <a:bodyPr wrap="square" lIns="0" tIns="0" rIns="0" bIns="0" rtlCol="0" anchor="ctr"/>
          <a:lstStyle/>
          <a:p>
            <a:pPr indent="0" marL="0">
              <a:buNone/>
            </a:pPr>
            <a:r>
              <a:rPr lang="en-US" sz="900" dirty="0">
                <a:solidFill>
                  <a:srgbClr val="1A2B40"/>
                </a:solidFill>
                <a:latin typeface="Calibri" pitchFamily="34" charset="0"/>
                <a:ea typeface="Calibri" pitchFamily="34" charset="-122"/>
                <a:cs typeface="Calibri" pitchFamily="34" charset="-120"/>
              </a:rPr>
              <a:t>Migrate to NGC Vault + Order ID reference pattern — the recommended approach. Or take full ownership of manual renewal tracking for these certificates.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Notifications — 11 Types, Full Lifecycle Coverage</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CLM keeps your team informed at every stage — from renewal initiation to weekly escalation</a:t>
            </a:r>
            <a:endParaRPr lang="en-US" sz="1050" dirty="0"/>
          </a:p>
        </p:txBody>
      </p:sp>
      <p:sp>
        <p:nvSpPr>
          <p:cNvPr id="6" name="Shape 4"/>
          <p:cNvSpPr/>
          <p:nvPr/>
        </p:nvSpPr>
        <p:spPr>
          <a:xfrm>
            <a:off x="274320" y="868680"/>
            <a:ext cx="8595360" cy="347472"/>
          </a:xfrm>
          <a:prstGeom prst="rect">
            <a:avLst/>
          </a:prstGeom>
          <a:solidFill>
            <a:srgbClr val="EBF4FB"/>
          </a:solidFill>
          <a:ln w="12700">
            <a:solidFill>
              <a:srgbClr val="D6E8F5"/>
            </a:solidFill>
            <a:prstDash val="solid"/>
          </a:ln>
        </p:spPr>
      </p:sp>
      <p:sp>
        <p:nvSpPr>
          <p:cNvPr id="7" name="Text 5"/>
          <p:cNvSpPr/>
          <p:nvPr/>
        </p:nvSpPr>
        <p:spPr>
          <a:xfrm>
            <a:off x="402336" y="896112"/>
            <a:ext cx="8321040" cy="256032"/>
          </a:xfrm>
          <a:prstGeom prst="rect">
            <a:avLst/>
          </a:prstGeom>
          <a:noFill/>
          <a:ln/>
        </p:spPr>
        <p:txBody>
          <a:bodyPr wrap="square" lIns="0" tIns="0" rIns="0" bIns="0" rtlCol="0" anchor="ctr"/>
          <a:lstStyle/>
          <a:p>
            <a:pPr indent="0" marL="0">
              <a:buNone/>
            </a:pPr>
            <a:r>
              <a:rPr lang="en-US" sz="1050" i="1" dirty="0">
                <a:solidFill>
                  <a:srgbClr val="003B70"/>
                </a:solidFill>
                <a:latin typeface="Calibri" pitchFamily="34" charset="0"/>
                <a:ea typeface="Calibri" pitchFamily="34" charset="-122"/>
                <a:cs typeface="Calibri" pitchFamily="34" charset="-120"/>
              </a:rPr>
              <a:t>All notifications go to:  App Owner  ·  CSI Team DL  ·  Notification emails configured in CSI  ·  PFY team  —  configured during CSI onboarding</a:t>
            </a:r>
            <a:endParaRPr lang="en-US" sz="1050" dirty="0"/>
          </a:p>
        </p:txBody>
      </p:sp>
      <p:sp>
        <p:nvSpPr>
          <p:cNvPr id="8" name="Shape 6"/>
          <p:cNvSpPr/>
          <p:nvPr/>
        </p:nvSpPr>
        <p:spPr>
          <a:xfrm>
            <a:off x="274320" y="1280160"/>
            <a:ext cx="365760" cy="310896"/>
          </a:xfrm>
          <a:prstGeom prst="rect">
            <a:avLst/>
          </a:prstGeom>
          <a:solidFill>
            <a:srgbClr val="003B70"/>
          </a:solidFill>
          <a:ln w="12700">
            <a:solidFill>
              <a:srgbClr val="003B70"/>
            </a:solidFill>
            <a:prstDash val="solid"/>
          </a:ln>
        </p:spPr>
      </p:sp>
      <p:sp>
        <p:nvSpPr>
          <p:cNvPr id="9" name="Text 7"/>
          <p:cNvSpPr/>
          <p:nvPr/>
        </p:nvSpPr>
        <p:spPr>
          <a:xfrm>
            <a:off x="310896" y="1298448"/>
            <a:ext cx="3108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0" name="Shape 8"/>
          <p:cNvSpPr/>
          <p:nvPr/>
        </p:nvSpPr>
        <p:spPr>
          <a:xfrm>
            <a:off x="658368" y="1280160"/>
            <a:ext cx="2084832" cy="310896"/>
          </a:xfrm>
          <a:prstGeom prst="rect">
            <a:avLst/>
          </a:prstGeom>
          <a:solidFill>
            <a:srgbClr val="003B70"/>
          </a:solidFill>
          <a:ln w="12700">
            <a:solidFill>
              <a:srgbClr val="003B70"/>
            </a:solidFill>
            <a:prstDash val="solid"/>
          </a:ln>
        </p:spPr>
      </p:sp>
      <p:sp>
        <p:nvSpPr>
          <p:cNvPr id="11" name="Text 9"/>
          <p:cNvSpPr/>
          <p:nvPr/>
        </p:nvSpPr>
        <p:spPr>
          <a:xfrm>
            <a:off x="694944" y="1298448"/>
            <a:ext cx="202996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Email Type</a:t>
            </a:r>
            <a:endParaRPr lang="en-US" sz="1000" dirty="0"/>
          </a:p>
        </p:txBody>
      </p:sp>
      <p:sp>
        <p:nvSpPr>
          <p:cNvPr id="12" name="Shape 10"/>
          <p:cNvSpPr/>
          <p:nvPr/>
        </p:nvSpPr>
        <p:spPr>
          <a:xfrm>
            <a:off x="2779776" y="1280160"/>
            <a:ext cx="1938528" cy="310896"/>
          </a:xfrm>
          <a:prstGeom prst="rect">
            <a:avLst/>
          </a:prstGeom>
          <a:solidFill>
            <a:srgbClr val="003B70"/>
          </a:solidFill>
          <a:ln w="12700">
            <a:solidFill>
              <a:srgbClr val="003B70"/>
            </a:solidFill>
            <a:prstDash val="solid"/>
          </a:ln>
        </p:spPr>
      </p:sp>
      <p:sp>
        <p:nvSpPr>
          <p:cNvPr id="13" name="Text 11"/>
          <p:cNvSpPr/>
          <p:nvPr/>
        </p:nvSpPr>
        <p:spPr>
          <a:xfrm>
            <a:off x="2816352" y="1298448"/>
            <a:ext cx="188366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Trigger</a:t>
            </a:r>
            <a:endParaRPr lang="en-US" sz="1000" dirty="0"/>
          </a:p>
        </p:txBody>
      </p:sp>
      <p:sp>
        <p:nvSpPr>
          <p:cNvPr id="14" name="Shape 12"/>
          <p:cNvSpPr/>
          <p:nvPr/>
        </p:nvSpPr>
        <p:spPr>
          <a:xfrm>
            <a:off x="4754880" y="1280160"/>
            <a:ext cx="1773936" cy="310896"/>
          </a:xfrm>
          <a:prstGeom prst="rect">
            <a:avLst/>
          </a:prstGeom>
          <a:solidFill>
            <a:srgbClr val="003B70"/>
          </a:solidFill>
          <a:ln w="12700">
            <a:solidFill>
              <a:srgbClr val="003B70"/>
            </a:solidFill>
            <a:prstDash val="solid"/>
          </a:ln>
        </p:spPr>
      </p:sp>
      <p:sp>
        <p:nvSpPr>
          <p:cNvPr id="15" name="Text 13"/>
          <p:cNvSpPr/>
          <p:nvPr/>
        </p:nvSpPr>
        <p:spPr>
          <a:xfrm>
            <a:off x="4791456" y="1298448"/>
            <a:ext cx="171907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Priority</a:t>
            </a:r>
            <a:endParaRPr lang="en-US" sz="1000" dirty="0"/>
          </a:p>
        </p:txBody>
      </p:sp>
      <p:sp>
        <p:nvSpPr>
          <p:cNvPr id="16" name="Shape 14"/>
          <p:cNvSpPr/>
          <p:nvPr/>
        </p:nvSpPr>
        <p:spPr>
          <a:xfrm>
            <a:off x="6565392" y="1280160"/>
            <a:ext cx="2286000" cy="310896"/>
          </a:xfrm>
          <a:prstGeom prst="rect">
            <a:avLst/>
          </a:prstGeom>
          <a:solidFill>
            <a:srgbClr val="003B70"/>
          </a:solidFill>
          <a:ln w="12700">
            <a:solidFill>
              <a:srgbClr val="003B70"/>
            </a:solidFill>
            <a:prstDash val="solid"/>
          </a:ln>
        </p:spPr>
      </p:sp>
      <p:sp>
        <p:nvSpPr>
          <p:cNvPr id="17" name="Text 15"/>
          <p:cNvSpPr/>
          <p:nvPr/>
        </p:nvSpPr>
        <p:spPr>
          <a:xfrm>
            <a:off x="6601968" y="1298448"/>
            <a:ext cx="223113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Frequency</a:t>
            </a:r>
            <a:endParaRPr lang="en-US" sz="1000" dirty="0"/>
          </a:p>
        </p:txBody>
      </p:sp>
      <p:sp>
        <p:nvSpPr>
          <p:cNvPr id="18" name="Shape 16"/>
          <p:cNvSpPr/>
          <p:nvPr/>
        </p:nvSpPr>
        <p:spPr>
          <a:xfrm>
            <a:off x="274320" y="1636776"/>
            <a:ext cx="365760" cy="292608"/>
          </a:xfrm>
          <a:prstGeom prst="rect">
            <a:avLst/>
          </a:prstGeom>
          <a:solidFill>
            <a:srgbClr val="FFFFFF"/>
          </a:solidFill>
          <a:ln w="3810">
            <a:solidFill>
              <a:srgbClr val="E2E8F0"/>
            </a:solidFill>
            <a:prstDash val="solid"/>
          </a:ln>
        </p:spPr>
      </p:sp>
      <p:sp>
        <p:nvSpPr>
          <p:cNvPr id="19" name="Shape 17"/>
          <p:cNvSpPr/>
          <p:nvPr/>
        </p:nvSpPr>
        <p:spPr>
          <a:xfrm>
            <a:off x="658368" y="1636776"/>
            <a:ext cx="2084832" cy="292608"/>
          </a:xfrm>
          <a:prstGeom prst="rect">
            <a:avLst/>
          </a:prstGeom>
          <a:solidFill>
            <a:srgbClr val="FFFFFF"/>
          </a:solidFill>
          <a:ln w="3810">
            <a:solidFill>
              <a:srgbClr val="E2E8F0"/>
            </a:solidFill>
            <a:prstDash val="solid"/>
          </a:ln>
        </p:spPr>
      </p:sp>
      <p:sp>
        <p:nvSpPr>
          <p:cNvPr id="20" name="Shape 18"/>
          <p:cNvSpPr/>
          <p:nvPr/>
        </p:nvSpPr>
        <p:spPr>
          <a:xfrm>
            <a:off x="2779776" y="1636776"/>
            <a:ext cx="1938528" cy="292608"/>
          </a:xfrm>
          <a:prstGeom prst="rect">
            <a:avLst/>
          </a:prstGeom>
          <a:solidFill>
            <a:srgbClr val="FFFFFF"/>
          </a:solidFill>
          <a:ln w="3810">
            <a:solidFill>
              <a:srgbClr val="E2E8F0"/>
            </a:solidFill>
            <a:prstDash val="solid"/>
          </a:ln>
        </p:spPr>
      </p:sp>
      <p:sp>
        <p:nvSpPr>
          <p:cNvPr id="21" name="Shape 19"/>
          <p:cNvSpPr/>
          <p:nvPr/>
        </p:nvSpPr>
        <p:spPr>
          <a:xfrm>
            <a:off x="4754880" y="1636776"/>
            <a:ext cx="1773936" cy="292608"/>
          </a:xfrm>
          <a:prstGeom prst="rect">
            <a:avLst/>
          </a:prstGeom>
          <a:solidFill>
            <a:srgbClr val="FFFFFF"/>
          </a:solidFill>
          <a:ln w="3810">
            <a:solidFill>
              <a:srgbClr val="E2E8F0"/>
            </a:solidFill>
            <a:prstDash val="solid"/>
          </a:ln>
        </p:spPr>
      </p:sp>
      <p:sp>
        <p:nvSpPr>
          <p:cNvPr id="22" name="Shape 20"/>
          <p:cNvSpPr/>
          <p:nvPr/>
        </p:nvSpPr>
        <p:spPr>
          <a:xfrm>
            <a:off x="6565392" y="1636776"/>
            <a:ext cx="2286000" cy="292608"/>
          </a:xfrm>
          <a:prstGeom prst="rect">
            <a:avLst/>
          </a:prstGeom>
          <a:solidFill>
            <a:srgbClr val="FFFFFF"/>
          </a:solidFill>
          <a:ln w="3810">
            <a:solidFill>
              <a:srgbClr val="E2E8F0"/>
            </a:solidFill>
            <a:prstDash val="solid"/>
          </a:ln>
        </p:spPr>
      </p:sp>
      <p:sp>
        <p:nvSpPr>
          <p:cNvPr id="23" name="Text 21"/>
          <p:cNvSpPr/>
          <p:nvPr/>
        </p:nvSpPr>
        <p:spPr>
          <a:xfrm>
            <a:off x="310896" y="1691640"/>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1</a:t>
            </a:r>
            <a:endParaRPr lang="en-US" sz="950" dirty="0"/>
          </a:p>
        </p:txBody>
      </p:sp>
      <p:sp>
        <p:nvSpPr>
          <p:cNvPr id="24" name="Text 22"/>
          <p:cNvSpPr/>
          <p:nvPr/>
        </p:nvSpPr>
        <p:spPr>
          <a:xfrm>
            <a:off x="713232" y="1691640"/>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Renewal Initiation</a:t>
            </a:r>
            <a:endParaRPr lang="en-US" sz="950" dirty="0"/>
          </a:p>
        </p:txBody>
      </p:sp>
      <p:sp>
        <p:nvSpPr>
          <p:cNvPr id="25" name="Text 23"/>
          <p:cNvSpPr/>
          <p:nvPr/>
        </p:nvSpPr>
        <p:spPr>
          <a:xfrm>
            <a:off x="2834640" y="1691640"/>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Workflow started</a:t>
            </a:r>
            <a:endParaRPr lang="en-US" sz="900" dirty="0"/>
          </a:p>
        </p:txBody>
      </p:sp>
      <p:sp>
        <p:nvSpPr>
          <p:cNvPr id="26" name="Shape 24"/>
          <p:cNvSpPr/>
          <p:nvPr/>
        </p:nvSpPr>
        <p:spPr>
          <a:xfrm>
            <a:off x="4919472" y="1691640"/>
            <a:ext cx="1417320" cy="201168"/>
          </a:xfrm>
          <a:prstGeom prst="rect">
            <a:avLst/>
          </a:prstGeom>
          <a:solidFill>
            <a:srgbClr val="EBF4FB"/>
          </a:solidFill>
          <a:ln w="12700">
            <a:solidFill>
              <a:srgbClr val="056DAE"/>
            </a:solidFill>
            <a:prstDash val="solid"/>
          </a:ln>
        </p:spPr>
      </p:sp>
      <p:sp>
        <p:nvSpPr>
          <p:cNvPr id="27" name="Text 25"/>
          <p:cNvSpPr/>
          <p:nvPr/>
        </p:nvSpPr>
        <p:spPr>
          <a:xfrm>
            <a:off x="4919472" y="1691640"/>
            <a:ext cx="1417320" cy="201168"/>
          </a:xfrm>
          <a:prstGeom prst="rect">
            <a:avLst/>
          </a:prstGeom>
          <a:noFill/>
          <a:ln/>
        </p:spPr>
        <p:txBody>
          <a:bodyPr wrap="square" lIns="0" tIns="0" rIns="0" bIns="0" rtlCol="0" anchor="ctr"/>
          <a:lstStyle/>
          <a:p>
            <a:pPr algn="ctr" indent="0" marL="0">
              <a:buNone/>
            </a:pPr>
            <a:r>
              <a:rPr lang="en-US" sz="900" b="1" dirty="0">
                <a:solidFill>
                  <a:srgbClr val="056DAE"/>
                </a:solidFill>
                <a:latin typeface="Calibri" pitchFamily="34" charset="0"/>
                <a:ea typeface="Calibri" pitchFamily="34" charset="-122"/>
                <a:cs typeface="Calibri" pitchFamily="34" charset="-120"/>
              </a:rPr>
              <a:t>Info</a:t>
            </a:r>
            <a:endParaRPr lang="en-US" sz="900" dirty="0"/>
          </a:p>
        </p:txBody>
      </p:sp>
      <p:sp>
        <p:nvSpPr>
          <p:cNvPr id="28" name="Text 26"/>
          <p:cNvSpPr/>
          <p:nvPr/>
        </p:nvSpPr>
        <p:spPr>
          <a:xfrm>
            <a:off x="6620256" y="1691640"/>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workflow</a:t>
            </a:r>
            <a:endParaRPr lang="en-US" sz="900" dirty="0"/>
          </a:p>
        </p:txBody>
      </p:sp>
      <p:sp>
        <p:nvSpPr>
          <p:cNvPr id="29" name="Shape 27"/>
          <p:cNvSpPr/>
          <p:nvPr/>
        </p:nvSpPr>
        <p:spPr>
          <a:xfrm>
            <a:off x="274320" y="1947672"/>
            <a:ext cx="365760" cy="292608"/>
          </a:xfrm>
          <a:prstGeom prst="rect">
            <a:avLst/>
          </a:prstGeom>
          <a:solidFill>
            <a:srgbClr val="F5F8FC"/>
          </a:solidFill>
          <a:ln w="3810">
            <a:solidFill>
              <a:srgbClr val="E2E8F0"/>
            </a:solidFill>
            <a:prstDash val="solid"/>
          </a:ln>
        </p:spPr>
      </p:sp>
      <p:sp>
        <p:nvSpPr>
          <p:cNvPr id="30" name="Shape 28"/>
          <p:cNvSpPr/>
          <p:nvPr/>
        </p:nvSpPr>
        <p:spPr>
          <a:xfrm>
            <a:off x="658368" y="1947672"/>
            <a:ext cx="2084832" cy="292608"/>
          </a:xfrm>
          <a:prstGeom prst="rect">
            <a:avLst/>
          </a:prstGeom>
          <a:solidFill>
            <a:srgbClr val="F5F8FC"/>
          </a:solidFill>
          <a:ln w="3810">
            <a:solidFill>
              <a:srgbClr val="E2E8F0"/>
            </a:solidFill>
            <a:prstDash val="solid"/>
          </a:ln>
        </p:spPr>
      </p:sp>
      <p:sp>
        <p:nvSpPr>
          <p:cNvPr id="31" name="Shape 29"/>
          <p:cNvSpPr/>
          <p:nvPr/>
        </p:nvSpPr>
        <p:spPr>
          <a:xfrm>
            <a:off x="2779776" y="1947672"/>
            <a:ext cx="1938528" cy="292608"/>
          </a:xfrm>
          <a:prstGeom prst="rect">
            <a:avLst/>
          </a:prstGeom>
          <a:solidFill>
            <a:srgbClr val="F5F8FC"/>
          </a:solidFill>
          <a:ln w="3810">
            <a:solidFill>
              <a:srgbClr val="E2E8F0"/>
            </a:solidFill>
            <a:prstDash val="solid"/>
          </a:ln>
        </p:spPr>
      </p:sp>
      <p:sp>
        <p:nvSpPr>
          <p:cNvPr id="32" name="Shape 30"/>
          <p:cNvSpPr/>
          <p:nvPr/>
        </p:nvSpPr>
        <p:spPr>
          <a:xfrm>
            <a:off x="4754880" y="1947672"/>
            <a:ext cx="1773936" cy="292608"/>
          </a:xfrm>
          <a:prstGeom prst="rect">
            <a:avLst/>
          </a:prstGeom>
          <a:solidFill>
            <a:srgbClr val="F5F8FC"/>
          </a:solidFill>
          <a:ln w="3810">
            <a:solidFill>
              <a:srgbClr val="E2E8F0"/>
            </a:solidFill>
            <a:prstDash val="solid"/>
          </a:ln>
        </p:spPr>
      </p:sp>
      <p:sp>
        <p:nvSpPr>
          <p:cNvPr id="33" name="Shape 31"/>
          <p:cNvSpPr/>
          <p:nvPr/>
        </p:nvSpPr>
        <p:spPr>
          <a:xfrm>
            <a:off x="6565392" y="1947672"/>
            <a:ext cx="2286000" cy="292608"/>
          </a:xfrm>
          <a:prstGeom prst="rect">
            <a:avLst/>
          </a:prstGeom>
          <a:solidFill>
            <a:srgbClr val="F5F8FC"/>
          </a:solidFill>
          <a:ln w="3810">
            <a:solidFill>
              <a:srgbClr val="E2E8F0"/>
            </a:solidFill>
            <a:prstDash val="solid"/>
          </a:ln>
        </p:spPr>
      </p:sp>
      <p:sp>
        <p:nvSpPr>
          <p:cNvPr id="34" name="Text 32"/>
          <p:cNvSpPr/>
          <p:nvPr/>
        </p:nvSpPr>
        <p:spPr>
          <a:xfrm>
            <a:off x="310896" y="2002536"/>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2</a:t>
            </a:r>
            <a:endParaRPr lang="en-US" sz="950" dirty="0"/>
          </a:p>
        </p:txBody>
      </p:sp>
      <p:sp>
        <p:nvSpPr>
          <p:cNvPr id="35" name="Text 33"/>
          <p:cNvSpPr/>
          <p:nvPr/>
        </p:nvSpPr>
        <p:spPr>
          <a:xfrm>
            <a:off x="713232" y="2002536"/>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Renewal Completion</a:t>
            </a:r>
            <a:endParaRPr lang="en-US" sz="950" dirty="0"/>
          </a:p>
        </p:txBody>
      </p:sp>
      <p:sp>
        <p:nvSpPr>
          <p:cNvPr id="36" name="Text 34"/>
          <p:cNvSpPr/>
          <p:nvPr/>
        </p:nvSpPr>
        <p:spPr>
          <a:xfrm>
            <a:off x="2834640" y="2002536"/>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Workflow completed (full success)</a:t>
            </a:r>
            <a:endParaRPr lang="en-US" sz="900" dirty="0"/>
          </a:p>
        </p:txBody>
      </p:sp>
      <p:sp>
        <p:nvSpPr>
          <p:cNvPr id="37" name="Shape 35"/>
          <p:cNvSpPr/>
          <p:nvPr/>
        </p:nvSpPr>
        <p:spPr>
          <a:xfrm>
            <a:off x="4919472" y="2002536"/>
            <a:ext cx="1417320" cy="201168"/>
          </a:xfrm>
          <a:prstGeom prst="rect">
            <a:avLst/>
          </a:prstGeom>
          <a:solidFill>
            <a:srgbClr val="EBF4FB"/>
          </a:solidFill>
          <a:ln w="12700">
            <a:solidFill>
              <a:srgbClr val="056DAE"/>
            </a:solidFill>
            <a:prstDash val="solid"/>
          </a:ln>
        </p:spPr>
      </p:sp>
      <p:sp>
        <p:nvSpPr>
          <p:cNvPr id="38" name="Text 36"/>
          <p:cNvSpPr/>
          <p:nvPr/>
        </p:nvSpPr>
        <p:spPr>
          <a:xfrm>
            <a:off x="4919472" y="2002536"/>
            <a:ext cx="1417320" cy="201168"/>
          </a:xfrm>
          <a:prstGeom prst="rect">
            <a:avLst/>
          </a:prstGeom>
          <a:noFill/>
          <a:ln/>
        </p:spPr>
        <p:txBody>
          <a:bodyPr wrap="square" lIns="0" tIns="0" rIns="0" bIns="0" rtlCol="0" anchor="ctr"/>
          <a:lstStyle/>
          <a:p>
            <a:pPr algn="ctr" indent="0" marL="0">
              <a:buNone/>
            </a:pPr>
            <a:r>
              <a:rPr lang="en-US" sz="900" b="1" dirty="0">
                <a:solidFill>
                  <a:srgbClr val="056DAE"/>
                </a:solidFill>
                <a:latin typeface="Calibri" pitchFamily="34" charset="0"/>
                <a:ea typeface="Calibri" pitchFamily="34" charset="-122"/>
                <a:cs typeface="Calibri" pitchFamily="34" charset="-120"/>
              </a:rPr>
              <a:t>Info</a:t>
            </a:r>
            <a:endParaRPr lang="en-US" sz="900" dirty="0"/>
          </a:p>
        </p:txBody>
      </p:sp>
      <p:sp>
        <p:nvSpPr>
          <p:cNvPr id="39" name="Text 37"/>
          <p:cNvSpPr/>
          <p:nvPr/>
        </p:nvSpPr>
        <p:spPr>
          <a:xfrm>
            <a:off x="6620256" y="2002536"/>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workflow</a:t>
            </a:r>
            <a:endParaRPr lang="en-US" sz="900" dirty="0"/>
          </a:p>
        </p:txBody>
      </p:sp>
      <p:sp>
        <p:nvSpPr>
          <p:cNvPr id="40" name="Shape 38"/>
          <p:cNvSpPr/>
          <p:nvPr/>
        </p:nvSpPr>
        <p:spPr>
          <a:xfrm>
            <a:off x="274320" y="2258568"/>
            <a:ext cx="365760" cy="292608"/>
          </a:xfrm>
          <a:prstGeom prst="rect">
            <a:avLst/>
          </a:prstGeom>
          <a:solidFill>
            <a:srgbClr val="FFFFFF"/>
          </a:solidFill>
          <a:ln w="3810">
            <a:solidFill>
              <a:srgbClr val="E2E8F0"/>
            </a:solidFill>
            <a:prstDash val="solid"/>
          </a:ln>
        </p:spPr>
      </p:sp>
      <p:sp>
        <p:nvSpPr>
          <p:cNvPr id="41" name="Shape 39"/>
          <p:cNvSpPr/>
          <p:nvPr/>
        </p:nvSpPr>
        <p:spPr>
          <a:xfrm>
            <a:off x="658368" y="2258568"/>
            <a:ext cx="2084832" cy="292608"/>
          </a:xfrm>
          <a:prstGeom prst="rect">
            <a:avLst/>
          </a:prstGeom>
          <a:solidFill>
            <a:srgbClr val="FFFFFF"/>
          </a:solidFill>
          <a:ln w="3810">
            <a:solidFill>
              <a:srgbClr val="E2E8F0"/>
            </a:solidFill>
            <a:prstDash val="solid"/>
          </a:ln>
        </p:spPr>
      </p:sp>
      <p:sp>
        <p:nvSpPr>
          <p:cNvPr id="42" name="Shape 40"/>
          <p:cNvSpPr/>
          <p:nvPr/>
        </p:nvSpPr>
        <p:spPr>
          <a:xfrm>
            <a:off x="2779776" y="2258568"/>
            <a:ext cx="1938528" cy="292608"/>
          </a:xfrm>
          <a:prstGeom prst="rect">
            <a:avLst/>
          </a:prstGeom>
          <a:solidFill>
            <a:srgbClr val="FFFFFF"/>
          </a:solidFill>
          <a:ln w="3810">
            <a:solidFill>
              <a:srgbClr val="E2E8F0"/>
            </a:solidFill>
            <a:prstDash val="solid"/>
          </a:ln>
        </p:spPr>
      </p:sp>
      <p:sp>
        <p:nvSpPr>
          <p:cNvPr id="43" name="Shape 41"/>
          <p:cNvSpPr/>
          <p:nvPr/>
        </p:nvSpPr>
        <p:spPr>
          <a:xfrm>
            <a:off x="4754880" y="2258568"/>
            <a:ext cx="1773936" cy="292608"/>
          </a:xfrm>
          <a:prstGeom prst="rect">
            <a:avLst/>
          </a:prstGeom>
          <a:solidFill>
            <a:srgbClr val="FFFFFF"/>
          </a:solidFill>
          <a:ln w="3810">
            <a:solidFill>
              <a:srgbClr val="E2E8F0"/>
            </a:solidFill>
            <a:prstDash val="solid"/>
          </a:ln>
        </p:spPr>
      </p:sp>
      <p:sp>
        <p:nvSpPr>
          <p:cNvPr id="44" name="Shape 42"/>
          <p:cNvSpPr/>
          <p:nvPr/>
        </p:nvSpPr>
        <p:spPr>
          <a:xfrm>
            <a:off x="6565392" y="2258568"/>
            <a:ext cx="2286000" cy="292608"/>
          </a:xfrm>
          <a:prstGeom prst="rect">
            <a:avLst/>
          </a:prstGeom>
          <a:solidFill>
            <a:srgbClr val="FFFFFF"/>
          </a:solidFill>
          <a:ln w="3810">
            <a:solidFill>
              <a:srgbClr val="E2E8F0"/>
            </a:solidFill>
            <a:prstDash val="solid"/>
          </a:ln>
        </p:spPr>
      </p:sp>
      <p:sp>
        <p:nvSpPr>
          <p:cNvPr id="45" name="Text 43"/>
          <p:cNvSpPr/>
          <p:nvPr/>
        </p:nvSpPr>
        <p:spPr>
          <a:xfrm>
            <a:off x="310896" y="2313432"/>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3</a:t>
            </a:r>
            <a:endParaRPr lang="en-US" sz="950" dirty="0"/>
          </a:p>
        </p:txBody>
      </p:sp>
      <p:sp>
        <p:nvSpPr>
          <p:cNvPr id="46" name="Text 44"/>
          <p:cNvSpPr/>
          <p:nvPr/>
        </p:nvSpPr>
        <p:spPr>
          <a:xfrm>
            <a:off x="713232" y="2313432"/>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Partial Completion</a:t>
            </a:r>
            <a:endParaRPr lang="en-US" sz="950" dirty="0"/>
          </a:p>
        </p:txBody>
      </p:sp>
      <p:sp>
        <p:nvSpPr>
          <p:cNvPr id="47" name="Text 45"/>
          <p:cNvSpPr/>
          <p:nvPr/>
        </p:nvSpPr>
        <p:spPr>
          <a:xfrm>
            <a:off x="2834640" y="2313432"/>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Workflow completed (partial success)</a:t>
            </a:r>
            <a:endParaRPr lang="en-US" sz="900" dirty="0"/>
          </a:p>
        </p:txBody>
      </p:sp>
      <p:sp>
        <p:nvSpPr>
          <p:cNvPr id="48" name="Shape 46"/>
          <p:cNvSpPr/>
          <p:nvPr/>
        </p:nvSpPr>
        <p:spPr>
          <a:xfrm>
            <a:off x="4919472" y="2313432"/>
            <a:ext cx="1417320" cy="201168"/>
          </a:xfrm>
          <a:prstGeom prst="rect">
            <a:avLst/>
          </a:prstGeom>
          <a:solidFill>
            <a:srgbClr val="FFF8E6"/>
          </a:solidFill>
          <a:ln w="12700">
            <a:solidFill>
              <a:srgbClr val="7C5C00"/>
            </a:solidFill>
            <a:prstDash val="solid"/>
          </a:ln>
        </p:spPr>
      </p:sp>
      <p:sp>
        <p:nvSpPr>
          <p:cNvPr id="49" name="Text 47"/>
          <p:cNvSpPr/>
          <p:nvPr/>
        </p:nvSpPr>
        <p:spPr>
          <a:xfrm>
            <a:off x="4919472" y="2313432"/>
            <a:ext cx="1417320" cy="201168"/>
          </a:xfrm>
          <a:prstGeom prst="rect">
            <a:avLst/>
          </a:prstGeom>
          <a:noFill/>
          <a:ln/>
        </p:spPr>
        <p:txBody>
          <a:bodyPr wrap="square" lIns="0" tIns="0" rIns="0" bIns="0" rtlCol="0" anchor="ctr"/>
          <a:lstStyle/>
          <a:p>
            <a:pPr algn="ctr" indent="0" marL="0">
              <a:buNone/>
            </a:pPr>
            <a:r>
              <a:rPr lang="en-US" sz="900" b="1" dirty="0">
                <a:solidFill>
                  <a:srgbClr val="7C5C00"/>
                </a:solidFill>
                <a:latin typeface="Calibri" pitchFamily="34" charset="0"/>
                <a:ea typeface="Calibri" pitchFamily="34" charset="-122"/>
                <a:cs typeface="Calibri" pitchFamily="34" charset="-120"/>
              </a:rPr>
              <a:t>Warning</a:t>
            </a:r>
            <a:endParaRPr lang="en-US" sz="900" dirty="0"/>
          </a:p>
        </p:txBody>
      </p:sp>
      <p:sp>
        <p:nvSpPr>
          <p:cNvPr id="50" name="Text 48"/>
          <p:cNvSpPr/>
          <p:nvPr/>
        </p:nvSpPr>
        <p:spPr>
          <a:xfrm>
            <a:off x="6620256" y="2313432"/>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workflow</a:t>
            </a:r>
            <a:endParaRPr lang="en-US" sz="900" dirty="0"/>
          </a:p>
        </p:txBody>
      </p:sp>
      <p:sp>
        <p:nvSpPr>
          <p:cNvPr id="51" name="Shape 49"/>
          <p:cNvSpPr/>
          <p:nvPr/>
        </p:nvSpPr>
        <p:spPr>
          <a:xfrm>
            <a:off x="274320" y="2569464"/>
            <a:ext cx="365760" cy="292608"/>
          </a:xfrm>
          <a:prstGeom prst="rect">
            <a:avLst/>
          </a:prstGeom>
          <a:solidFill>
            <a:srgbClr val="F5F8FC"/>
          </a:solidFill>
          <a:ln w="3810">
            <a:solidFill>
              <a:srgbClr val="E2E8F0"/>
            </a:solidFill>
            <a:prstDash val="solid"/>
          </a:ln>
        </p:spPr>
      </p:sp>
      <p:sp>
        <p:nvSpPr>
          <p:cNvPr id="52" name="Shape 50"/>
          <p:cNvSpPr/>
          <p:nvPr/>
        </p:nvSpPr>
        <p:spPr>
          <a:xfrm>
            <a:off x="658368" y="2569464"/>
            <a:ext cx="2084832" cy="292608"/>
          </a:xfrm>
          <a:prstGeom prst="rect">
            <a:avLst/>
          </a:prstGeom>
          <a:solidFill>
            <a:srgbClr val="F5F8FC"/>
          </a:solidFill>
          <a:ln w="3810">
            <a:solidFill>
              <a:srgbClr val="E2E8F0"/>
            </a:solidFill>
            <a:prstDash val="solid"/>
          </a:ln>
        </p:spPr>
      </p:sp>
      <p:sp>
        <p:nvSpPr>
          <p:cNvPr id="53" name="Shape 51"/>
          <p:cNvSpPr/>
          <p:nvPr/>
        </p:nvSpPr>
        <p:spPr>
          <a:xfrm>
            <a:off x="2779776" y="2569464"/>
            <a:ext cx="1938528" cy="292608"/>
          </a:xfrm>
          <a:prstGeom prst="rect">
            <a:avLst/>
          </a:prstGeom>
          <a:solidFill>
            <a:srgbClr val="F5F8FC"/>
          </a:solidFill>
          <a:ln w="3810">
            <a:solidFill>
              <a:srgbClr val="E2E8F0"/>
            </a:solidFill>
            <a:prstDash val="solid"/>
          </a:ln>
        </p:spPr>
      </p:sp>
      <p:sp>
        <p:nvSpPr>
          <p:cNvPr id="54" name="Shape 52"/>
          <p:cNvSpPr/>
          <p:nvPr/>
        </p:nvSpPr>
        <p:spPr>
          <a:xfrm>
            <a:off x="4754880" y="2569464"/>
            <a:ext cx="1773936" cy="292608"/>
          </a:xfrm>
          <a:prstGeom prst="rect">
            <a:avLst/>
          </a:prstGeom>
          <a:solidFill>
            <a:srgbClr val="F5F8FC"/>
          </a:solidFill>
          <a:ln w="3810">
            <a:solidFill>
              <a:srgbClr val="E2E8F0"/>
            </a:solidFill>
            <a:prstDash val="solid"/>
          </a:ln>
        </p:spPr>
      </p:sp>
      <p:sp>
        <p:nvSpPr>
          <p:cNvPr id="55" name="Shape 53"/>
          <p:cNvSpPr/>
          <p:nvPr/>
        </p:nvSpPr>
        <p:spPr>
          <a:xfrm>
            <a:off x="6565392" y="2569464"/>
            <a:ext cx="2286000" cy="292608"/>
          </a:xfrm>
          <a:prstGeom prst="rect">
            <a:avLst/>
          </a:prstGeom>
          <a:solidFill>
            <a:srgbClr val="F5F8FC"/>
          </a:solidFill>
          <a:ln w="3810">
            <a:solidFill>
              <a:srgbClr val="E2E8F0"/>
            </a:solidFill>
            <a:prstDash val="solid"/>
          </a:ln>
        </p:spPr>
      </p:sp>
      <p:sp>
        <p:nvSpPr>
          <p:cNvPr id="56" name="Text 54"/>
          <p:cNvSpPr/>
          <p:nvPr/>
        </p:nvSpPr>
        <p:spPr>
          <a:xfrm>
            <a:off x="310896" y="2624328"/>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4</a:t>
            </a:r>
            <a:endParaRPr lang="en-US" sz="950" dirty="0"/>
          </a:p>
        </p:txBody>
      </p:sp>
      <p:sp>
        <p:nvSpPr>
          <p:cNvPr id="57" name="Text 55"/>
          <p:cNvSpPr/>
          <p:nvPr/>
        </p:nvSpPr>
        <p:spPr>
          <a:xfrm>
            <a:off x="713232" y="2624328"/>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Workflow Failure</a:t>
            </a:r>
            <a:endParaRPr lang="en-US" sz="950" dirty="0"/>
          </a:p>
        </p:txBody>
      </p:sp>
      <p:sp>
        <p:nvSpPr>
          <p:cNvPr id="58" name="Text 56"/>
          <p:cNvSpPr/>
          <p:nvPr/>
        </p:nvSpPr>
        <p:spPr>
          <a:xfrm>
            <a:off x="2834640" y="2624328"/>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Workflow failed completely</a:t>
            </a:r>
            <a:endParaRPr lang="en-US" sz="900" dirty="0"/>
          </a:p>
        </p:txBody>
      </p:sp>
      <p:sp>
        <p:nvSpPr>
          <p:cNvPr id="59" name="Shape 57"/>
          <p:cNvSpPr/>
          <p:nvPr/>
        </p:nvSpPr>
        <p:spPr>
          <a:xfrm>
            <a:off x="4919472" y="2624328"/>
            <a:ext cx="1417320" cy="201168"/>
          </a:xfrm>
          <a:prstGeom prst="rect">
            <a:avLst/>
          </a:prstGeom>
          <a:solidFill>
            <a:srgbClr val="FFF8E6"/>
          </a:solidFill>
          <a:ln w="12700">
            <a:solidFill>
              <a:srgbClr val="7C5C00"/>
            </a:solidFill>
            <a:prstDash val="solid"/>
          </a:ln>
        </p:spPr>
      </p:sp>
      <p:sp>
        <p:nvSpPr>
          <p:cNvPr id="60" name="Text 58"/>
          <p:cNvSpPr/>
          <p:nvPr/>
        </p:nvSpPr>
        <p:spPr>
          <a:xfrm>
            <a:off x="4919472" y="2624328"/>
            <a:ext cx="1417320" cy="201168"/>
          </a:xfrm>
          <a:prstGeom prst="rect">
            <a:avLst/>
          </a:prstGeom>
          <a:noFill/>
          <a:ln/>
        </p:spPr>
        <p:txBody>
          <a:bodyPr wrap="square" lIns="0" tIns="0" rIns="0" bIns="0" rtlCol="0" anchor="ctr"/>
          <a:lstStyle/>
          <a:p>
            <a:pPr algn="ctr" indent="0" marL="0">
              <a:buNone/>
            </a:pPr>
            <a:r>
              <a:rPr lang="en-US" sz="900" b="1" dirty="0">
                <a:solidFill>
                  <a:srgbClr val="7C5C00"/>
                </a:solidFill>
                <a:latin typeface="Calibri" pitchFamily="34" charset="0"/>
                <a:ea typeface="Calibri" pitchFamily="34" charset="-122"/>
                <a:cs typeface="Calibri" pitchFamily="34" charset="-120"/>
              </a:rPr>
              <a:t>Alert</a:t>
            </a:r>
            <a:endParaRPr lang="en-US" sz="900" dirty="0"/>
          </a:p>
        </p:txBody>
      </p:sp>
      <p:sp>
        <p:nvSpPr>
          <p:cNvPr id="61" name="Text 59"/>
          <p:cNvSpPr/>
          <p:nvPr/>
        </p:nvSpPr>
        <p:spPr>
          <a:xfrm>
            <a:off x="6620256" y="2624328"/>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workflow</a:t>
            </a:r>
            <a:endParaRPr lang="en-US" sz="900" dirty="0"/>
          </a:p>
        </p:txBody>
      </p:sp>
      <p:sp>
        <p:nvSpPr>
          <p:cNvPr id="62" name="Shape 60"/>
          <p:cNvSpPr/>
          <p:nvPr/>
        </p:nvSpPr>
        <p:spPr>
          <a:xfrm>
            <a:off x="274320" y="2880360"/>
            <a:ext cx="365760" cy="292608"/>
          </a:xfrm>
          <a:prstGeom prst="rect">
            <a:avLst/>
          </a:prstGeom>
          <a:solidFill>
            <a:srgbClr val="FFFFFF"/>
          </a:solidFill>
          <a:ln w="3810">
            <a:solidFill>
              <a:srgbClr val="E2E8F0"/>
            </a:solidFill>
            <a:prstDash val="solid"/>
          </a:ln>
        </p:spPr>
      </p:sp>
      <p:sp>
        <p:nvSpPr>
          <p:cNvPr id="63" name="Shape 61"/>
          <p:cNvSpPr/>
          <p:nvPr/>
        </p:nvSpPr>
        <p:spPr>
          <a:xfrm>
            <a:off x="658368" y="2880360"/>
            <a:ext cx="2084832" cy="292608"/>
          </a:xfrm>
          <a:prstGeom prst="rect">
            <a:avLst/>
          </a:prstGeom>
          <a:solidFill>
            <a:srgbClr val="FFFFFF"/>
          </a:solidFill>
          <a:ln w="3810">
            <a:solidFill>
              <a:srgbClr val="E2E8F0"/>
            </a:solidFill>
            <a:prstDash val="solid"/>
          </a:ln>
        </p:spPr>
      </p:sp>
      <p:sp>
        <p:nvSpPr>
          <p:cNvPr id="64" name="Shape 62"/>
          <p:cNvSpPr/>
          <p:nvPr/>
        </p:nvSpPr>
        <p:spPr>
          <a:xfrm>
            <a:off x="2779776" y="2880360"/>
            <a:ext cx="1938528" cy="292608"/>
          </a:xfrm>
          <a:prstGeom prst="rect">
            <a:avLst/>
          </a:prstGeom>
          <a:solidFill>
            <a:srgbClr val="FFFFFF"/>
          </a:solidFill>
          <a:ln w="3810">
            <a:solidFill>
              <a:srgbClr val="E2E8F0"/>
            </a:solidFill>
            <a:prstDash val="solid"/>
          </a:ln>
        </p:spPr>
      </p:sp>
      <p:sp>
        <p:nvSpPr>
          <p:cNvPr id="65" name="Shape 63"/>
          <p:cNvSpPr/>
          <p:nvPr/>
        </p:nvSpPr>
        <p:spPr>
          <a:xfrm>
            <a:off x="4754880" y="2880360"/>
            <a:ext cx="1773936" cy="292608"/>
          </a:xfrm>
          <a:prstGeom prst="rect">
            <a:avLst/>
          </a:prstGeom>
          <a:solidFill>
            <a:srgbClr val="FFFFFF"/>
          </a:solidFill>
          <a:ln w="3810">
            <a:solidFill>
              <a:srgbClr val="E2E8F0"/>
            </a:solidFill>
            <a:prstDash val="solid"/>
          </a:ln>
        </p:spPr>
      </p:sp>
      <p:sp>
        <p:nvSpPr>
          <p:cNvPr id="66" name="Shape 64"/>
          <p:cNvSpPr/>
          <p:nvPr/>
        </p:nvSpPr>
        <p:spPr>
          <a:xfrm>
            <a:off x="6565392" y="2880360"/>
            <a:ext cx="2286000" cy="292608"/>
          </a:xfrm>
          <a:prstGeom prst="rect">
            <a:avLst/>
          </a:prstGeom>
          <a:solidFill>
            <a:srgbClr val="FFFFFF"/>
          </a:solidFill>
          <a:ln w="3810">
            <a:solidFill>
              <a:srgbClr val="E2E8F0"/>
            </a:solidFill>
            <a:prstDash val="solid"/>
          </a:ln>
        </p:spPr>
      </p:sp>
      <p:sp>
        <p:nvSpPr>
          <p:cNvPr id="67" name="Text 65"/>
          <p:cNvSpPr/>
          <p:nvPr/>
        </p:nvSpPr>
        <p:spPr>
          <a:xfrm>
            <a:off x="310896" y="2935224"/>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5</a:t>
            </a:r>
            <a:endParaRPr lang="en-US" sz="950" dirty="0"/>
          </a:p>
        </p:txBody>
      </p:sp>
      <p:sp>
        <p:nvSpPr>
          <p:cNvPr id="68" name="Text 66"/>
          <p:cNvSpPr/>
          <p:nvPr/>
        </p:nvSpPr>
        <p:spPr>
          <a:xfrm>
            <a:off x="713232" y="2935224"/>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Step Failure</a:t>
            </a:r>
            <a:endParaRPr lang="en-US" sz="950" dirty="0"/>
          </a:p>
        </p:txBody>
      </p:sp>
      <p:sp>
        <p:nvSpPr>
          <p:cNvPr id="69" name="Text 67"/>
          <p:cNvSpPr/>
          <p:nvPr/>
        </p:nvSpPr>
        <p:spPr>
          <a:xfrm>
            <a:off x="2834640" y="2935224"/>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Any individual step fails</a:t>
            </a:r>
            <a:endParaRPr lang="en-US" sz="900" dirty="0"/>
          </a:p>
        </p:txBody>
      </p:sp>
      <p:sp>
        <p:nvSpPr>
          <p:cNvPr id="70" name="Shape 68"/>
          <p:cNvSpPr/>
          <p:nvPr/>
        </p:nvSpPr>
        <p:spPr>
          <a:xfrm>
            <a:off x="4919472" y="2935224"/>
            <a:ext cx="1417320" cy="201168"/>
          </a:xfrm>
          <a:prstGeom prst="rect">
            <a:avLst/>
          </a:prstGeom>
          <a:solidFill>
            <a:srgbClr val="FFF8E6"/>
          </a:solidFill>
          <a:ln w="12700">
            <a:solidFill>
              <a:srgbClr val="7C5C00"/>
            </a:solidFill>
            <a:prstDash val="solid"/>
          </a:ln>
        </p:spPr>
      </p:sp>
      <p:sp>
        <p:nvSpPr>
          <p:cNvPr id="71" name="Text 69"/>
          <p:cNvSpPr/>
          <p:nvPr/>
        </p:nvSpPr>
        <p:spPr>
          <a:xfrm>
            <a:off x="4919472" y="2935224"/>
            <a:ext cx="1417320" cy="201168"/>
          </a:xfrm>
          <a:prstGeom prst="rect">
            <a:avLst/>
          </a:prstGeom>
          <a:noFill/>
          <a:ln/>
        </p:spPr>
        <p:txBody>
          <a:bodyPr wrap="square" lIns="0" tIns="0" rIns="0" bIns="0" rtlCol="0" anchor="ctr"/>
          <a:lstStyle/>
          <a:p>
            <a:pPr algn="ctr" indent="0" marL="0">
              <a:buNone/>
            </a:pPr>
            <a:r>
              <a:rPr lang="en-US" sz="900" b="1" dirty="0">
                <a:solidFill>
                  <a:srgbClr val="7C5C00"/>
                </a:solidFill>
                <a:latin typeface="Calibri" pitchFamily="34" charset="0"/>
                <a:ea typeface="Calibri" pitchFamily="34" charset="-122"/>
                <a:cs typeface="Calibri" pitchFamily="34" charset="-120"/>
              </a:rPr>
              <a:t>Alert</a:t>
            </a:r>
            <a:endParaRPr lang="en-US" sz="900" dirty="0"/>
          </a:p>
        </p:txBody>
      </p:sp>
      <p:sp>
        <p:nvSpPr>
          <p:cNvPr id="72" name="Text 70"/>
          <p:cNvSpPr/>
          <p:nvPr/>
        </p:nvSpPr>
        <p:spPr>
          <a:xfrm>
            <a:off x="6620256" y="2935224"/>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step failure</a:t>
            </a:r>
            <a:endParaRPr lang="en-US" sz="900" dirty="0"/>
          </a:p>
        </p:txBody>
      </p:sp>
      <p:sp>
        <p:nvSpPr>
          <p:cNvPr id="73" name="Shape 71"/>
          <p:cNvSpPr/>
          <p:nvPr/>
        </p:nvSpPr>
        <p:spPr>
          <a:xfrm>
            <a:off x="274320" y="3191256"/>
            <a:ext cx="365760" cy="292608"/>
          </a:xfrm>
          <a:prstGeom prst="rect">
            <a:avLst/>
          </a:prstGeom>
          <a:solidFill>
            <a:srgbClr val="F5F8FC"/>
          </a:solidFill>
          <a:ln w="3810">
            <a:solidFill>
              <a:srgbClr val="E2E8F0"/>
            </a:solidFill>
            <a:prstDash val="solid"/>
          </a:ln>
        </p:spPr>
      </p:sp>
      <p:sp>
        <p:nvSpPr>
          <p:cNvPr id="74" name="Shape 72"/>
          <p:cNvSpPr/>
          <p:nvPr/>
        </p:nvSpPr>
        <p:spPr>
          <a:xfrm>
            <a:off x="658368" y="3191256"/>
            <a:ext cx="2084832" cy="292608"/>
          </a:xfrm>
          <a:prstGeom prst="rect">
            <a:avLst/>
          </a:prstGeom>
          <a:solidFill>
            <a:srgbClr val="F5F8FC"/>
          </a:solidFill>
          <a:ln w="3810">
            <a:solidFill>
              <a:srgbClr val="E2E8F0"/>
            </a:solidFill>
            <a:prstDash val="solid"/>
          </a:ln>
        </p:spPr>
      </p:sp>
      <p:sp>
        <p:nvSpPr>
          <p:cNvPr id="75" name="Shape 73"/>
          <p:cNvSpPr/>
          <p:nvPr/>
        </p:nvSpPr>
        <p:spPr>
          <a:xfrm>
            <a:off x="2779776" y="3191256"/>
            <a:ext cx="1938528" cy="292608"/>
          </a:xfrm>
          <a:prstGeom prst="rect">
            <a:avLst/>
          </a:prstGeom>
          <a:solidFill>
            <a:srgbClr val="F5F8FC"/>
          </a:solidFill>
          <a:ln w="3810">
            <a:solidFill>
              <a:srgbClr val="E2E8F0"/>
            </a:solidFill>
            <a:prstDash val="solid"/>
          </a:ln>
        </p:spPr>
      </p:sp>
      <p:sp>
        <p:nvSpPr>
          <p:cNvPr id="76" name="Shape 74"/>
          <p:cNvSpPr/>
          <p:nvPr/>
        </p:nvSpPr>
        <p:spPr>
          <a:xfrm>
            <a:off x="4754880" y="3191256"/>
            <a:ext cx="1773936" cy="292608"/>
          </a:xfrm>
          <a:prstGeom prst="rect">
            <a:avLst/>
          </a:prstGeom>
          <a:solidFill>
            <a:srgbClr val="F5F8FC"/>
          </a:solidFill>
          <a:ln w="3810">
            <a:solidFill>
              <a:srgbClr val="E2E8F0"/>
            </a:solidFill>
            <a:prstDash val="solid"/>
          </a:ln>
        </p:spPr>
      </p:sp>
      <p:sp>
        <p:nvSpPr>
          <p:cNvPr id="77" name="Shape 75"/>
          <p:cNvSpPr/>
          <p:nvPr/>
        </p:nvSpPr>
        <p:spPr>
          <a:xfrm>
            <a:off x="6565392" y="3191256"/>
            <a:ext cx="2286000" cy="292608"/>
          </a:xfrm>
          <a:prstGeom prst="rect">
            <a:avLst/>
          </a:prstGeom>
          <a:solidFill>
            <a:srgbClr val="F5F8FC"/>
          </a:solidFill>
          <a:ln w="3810">
            <a:solidFill>
              <a:srgbClr val="E2E8F0"/>
            </a:solidFill>
            <a:prstDash val="solid"/>
          </a:ln>
        </p:spPr>
      </p:sp>
      <p:sp>
        <p:nvSpPr>
          <p:cNvPr id="78" name="Text 76"/>
          <p:cNvSpPr/>
          <p:nvPr/>
        </p:nvSpPr>
        <p:spPr>
          <a:xfrm>
            <a:off x="310896" y="3246120"/>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6</a:t>
            </a:r>
            <a:endParaRPr lang="en-US" sz="950" dirty="0"/>
          </a:p>
        </p:txBody>
      </p:sp>
      <p:sp>
        <p:nvSpPr>
          <p:cNvPr id="79" name="Text 77"/>
          <p:cNvSpPr/>
          <p:nvPr/>
        </p:nvSpPr>
        <p:spPr>
          <a:xfrm>
            <a:off x="713232" y="3246120"/>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SLA Breach</a:t>
            </a:r>
            <a:endParaRPr lang="en-US" sz="950" dirty="0"/>
          </a:p>
        </p:txBody>
      </p:sp>
      <p:sp>
        <p:nvSpPr>
          <p:cNvPr id="80" name="Text 78"/>
          <p:cNvSpPr/>
          <p:nvPr/>
        </p:nvSpPr>
        <p:spPr>
          <a:xfrm>
            <a:off x="2834640" y="3246120"/>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SLA deadline passed</a:t>
            </a:r>
            <a:endParaRPr lang="en-US" sz="900" dirty="0"/>
          </a:p>
        </p:txBody>
      </p:sp>
      <p:sp>
        <p:nvSpPr>
          <p:cNvPr id="81" name="Shape 79"/>
          <p:cNvSpPr/>
          <p:nvPr/>
        </p:nvSpPr>
        <p:spPr>
          <a:xfrm>
            <a:off x="4919472" y="3246120"/>
            <a:ext cx="1417320" cy="201168"/>
          </a:xfrm>
          <a:prstGeom prst="rect">
            <a:avLst/>
          </a:prstGeom>
          <a:solidFill>
            <a:srgbClr val="FDE8EC"/>
          </a:solidFill>
          <a:ln w="12700">
            <a:solidFill>
              <a:srgbClr val="C8102E"/>
            </a:solidFill>
            <a:prstDash val="solid"/>
          </a:ln>
        </p:spPr>
      </p:sp>
      <p:sp>
        <p:nvSpPr>
          <p:cNvPr id="82" name="Text 80"/>
          <p:cNvSpPr/>
          <p:nvPr/>
        </p:nvSpPr>
        <p:spPr>
          <a:xfrm>
            <a:off x="4919472" y="3246120"/>
            <a:ext cx="1417320" cy="201168"/>
          </a:xfrm>
          <a:prstGeom prst="rect">
            <a:avLst/>
          </a:prstGeom>
          <a:noFill/>
          <a:ln/>
        </p:spPr>
        <p:txBody>
          <a:bodyPr wrap="square" lIns="0" tIns="0" rIns="0" bIns="0" rtlCol="0" anchor="ctr"/>
          <a:lstStyle/>
          <a:p>
            <a:pPr algn="ctr" indent="0" marL="0">
              <a:buNone/>
            </a:pPr>
            <a:r>
              <a:rPr lang="en-US" sz="900" b="1" dirty="0">
                <a:solidFill>
                  <a:srgbClr val="C8102E"/>
                </a:solidFill>
                <a:latin typeface="Calibri" pitchFamily="34" charset="0"/>
                <a:ea typeface="Calibri" pitchFamily="34" charset="-122"/>
                <a:cs typeface="Calibri" pitchFamily="34" charset="-120"/>
              </a:rPr>
              <a:t>Critical</a:t>
            </a:r>
            <a:endParaRPr lang="en-US" sz="900" dirty="0"/>
          </a:p>
        </p:txBody>
      </p:sp>
      <p:sp>
        <p:nvSpPr>
          <p:cNvPr id="83" name="Text 81"/>
          <p:cNvSpPr/>
          <p:nvPr/>
        </p:nvSpPr>
        <p:spPr>
          <a:xfrm>
            <a:off x="6620256" y="3246120"/>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breach</a:t>
            </a:r>
            <a:endParaRPr lang="en-US" sz="900" dirty="0"/>
          </a:p>
        </p:txBody>
      </p:sp>
      <p:sp>
        <p:nvSpPr>
          <p:cNvPr id="84" name="Shape 82"/>
          <p:cNvSpPr/>
          <p:nvPr/>
        </p:nvSpPr>
        <p:spPr>
          <a:xfrm>
            <a:off x="274320" y="3502152"/>
            <a:ext cx="365760" cy="292608"/>
          </a:xfrm>
          <a:prstGeom prst="rect">
            <a:avLst/>
          </a:prstGeom>
          <a:solidFill>
            <a:srgbClr val="FFFFFF"/>
          </a:solidFill>
          <a:ln w="3810">
            <a:solidFill>
              <a:srgbClr val="E2E8F0"/>
            </a:solidFill>
            <a:prstDash val="solid"/>
          </a:ln>
        </p:spPr>
      </p:sp>
      <p:sp>
        <p:nvSpPr>
          <p:cNvPr id="85" name="Shape 83"/>
          <p:cNvSpPr/>
          <p:nvPr/>
        </p:nvSpPr>
        <p:spPr>
          <a:xfrm>
            <a:off x="658368" y="3502152"/>
            <a:ext cx="2084832" cy="292608"/>
          </a:xfrm>
          <a:prstGeom prst="rect">
            <a:avLst/>
          </a:prstGeom>
          <a:solidFill>
            <a:srgbClr val="FFFFFF"/>
          </a:solidFill>
          <a:ln w="3810">
            <a:solidFill>
              <a:srgbClr val="E2E8F0"/>
            </a:solidFill>
            <a:prstDash val="solid"/>
          </a:ln>
        </p:spPr>
      </p:sp>
      <p:sp>
        <p:nvSpPr>
          <p:cNvPr id="86" name="Shape 84"/>
          <p:cNvSpPr/>
          <p:nvPr/>
        </p:nvSpPr>
        <p:spPr>
          <a:xfrm>
            <a:off x="2779776" y="3502152"/>
            <a:ext cx="1938528" cy="292608"/>
          </a:xfrm>
          <a:prstGeom prst="rect">
            <a:avLst/>
          </a:prstGeom>
          <a:solidFill>
            <a:srgbClr val="FFFFFF"/>
          </a:solidFill>
          <a:ln w="3810">
            <a:solidFill>
              <a:srgbClr val="E2E8F0"/>
            </a:solidFill>
            <a:prstDash val="solid"/>
          </a:ln>
        </p:spPr>
      </p:sp>
      <p:sp>
        <p:nvSpPr>
          <p:cNvPr id="87" name="Shape 85"/>
          <p:cNvSpPr/>
          <p:nvPr/>
        </p:nvSpPr>
        <p:spPr>
          <a:xfrm>
            <a:off x="4754880" y="3502152"/>
            <a:ext cx="1773936" cy="292608"/>
          </a:xfrm>
          <a:prstGeom prst="rect">
            <a:avLst/>
          </a:prstGeom>
          <a:solidFill>
            <a:srgbClr val="FFFFFF"/>
          </a:solidFill>
          <a:ln w="3810">
            <a:solidFill>
              <a:srgbClr val="E2E8F0"/>
            </a:solidFill>
            <a:prstDash val="solid"/>
          </a:ln>
        </p:spPr>
      </p:sp>
      <p:sp>
        <p:nvSpPr>
          <p:cNvPr id="88" name="Shape 86"/>
          <p:cNvSpPr/>
          <p:nvPr/>
        </p:nvSpPr>
        <p:spPr>
          <a:xfrm>
            <a:off x="6565392" y="3502152"/>
            <a:ext cx="2286000" cy="292608"/>
          </a:xfrm>
          <a:prstGeom prst="rect">
            <a:avLst/>
          </a:prstGeom>
          <a:solidFill>
            <a:srgbClr val="FFFFFF"/>
          </a:solidFill>
          <a:ln w="3810">
            <a:solidFill>
              <a:srgbClr val="E2E8F0"/>
            </a:solidFill>
            <a:prstDash val="solid"/>
          </a:ln>
        </p:spPr>
      </p:sp>
      <p:sp>
        <p:nvSpPr>
          <p:cNvPr id="89" name="Text 87"/>
          <p:cNvSpPr/>
          <p:nvPr/>
        </p:nvSpPr>
        <p:spPr>
          <a:xfrm>
            <a:off x="310896" y="3557016"/>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7</a:t>
            </a:r>
            <a:endParaRPr lang="en-US" sz="950" dirty="0"/>
          </a:p>
        </p:txBody>
      </p:sp>
      <p:sp>
        <p:nvSpPr>
          <p:cNvPr id="90" name="Text 88"/>
          <p:cNvSpPr/>
          <p:nvPr/>
        </p:nvSpPr>
        <p:spPr>
          <a:xfrm>
            <a:off x="713232" y="3557016"/>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Validation Success</a:t>
            </a:r>
            <a:endParaRPr lang="en-US" sz="950" dirty="0"/>
          </a:p>
        </p:txBody>
      </p:sp>
      <p:sp>
        <p:nvSpPr>
          <p:cNvPr id="91" name="Text 89"/>
          <p:cNvSpPr/>
          <p:nvPr/>
        </p:nvSpPr>
        <p:spPr>
          <a:xfrm>
            <a:off x="2834640" y="3557016"/>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User validates in Jira (Done)</a:t>
            </a:r>
            <a:endParaRPr lang="en-US" sz="900" dirty="0"/>
          </a:p>
        </p:txBody>
      </p:sp>
      <p:sp>
        <p:nvSpPr>
          <p:cNvPr id="92" name="Shape 90"/>
          <p:cNvSpPr/>
          <p:nvPr/>
        </p:nvSpPr>
        <p:spPr>
          <a:xfrm>
            <a:off x="4919472" y="3557016"/>
            <a:ext cx="1417320" cy="201168"/>
          </a:xfrm>
          <a:prstGeom prst="rect">
            <a:avLst/>
          </a:prstGeom>
          <a:solidFill>
            <a:srgbClr val="EBF4FB"/>
          </a:solidFill>
          <a:ln w="12700">
            <a:solidFill>
              <a:srgbClr val="056DAE"/>
            </a:solidFill>
            <a:prstDash val="solid"/>
          </a:ln>
        </p:spPr>
      </p:sp>
      <p:sp>
        <p:nvSpPr>
          <p:cNvPr id="93" name="Text 91"/>
          <p:cNvSpPr/>
          <p:nvPr/>
        </p:nvSpPr>
        <p:spPr>
          <a:xfrm>
            <a:off x="4919472" y="3557016"/>
            <a:ext cx="1417320" cy="201168"/>
          </a:xfrm>
          <a:prstGeom prst="rect">
            <a:avLst/>
          </a:prstGeom>
          <a:noFill/>
          <a:ln/>
        </p:spPr>
        <p:txBody>
          <a:bodyPr wrap="square" lIns="0" tIns="0" rIns="0" bIns="0" rtlCol="0" anchor="ctr"/>
          <a:lstStyle/>
          <a:p>
            <a:pPr algn="ctr" indent="0" marL="0">
              <a:buNone/>
            </a:pPr>
            <a:r>
              <a:rPr lang="en-US" sz="900" b="1" dirty="0">
                <a:solidFill>
                  <a:srgbClr val="056DAE"/>
                </a:solidFill>
                <a:latin typeface="Calibri" pitchFamily="34" charset="0"/>
                <a:ea typeface="Calibri" pitchFamily="34" charset="-122"/>
                <a:cs typeface="Calibri" pitchFamily="34" charset="-120"/>
              </a:rPr>
              <a:t>Info</a:t>
            </a:r>
            <a:endParaRPr lang="en-US" sz="900" dirty="0"/>
          </a:p>
        </p:txBody>
      </p:sp>
      <p:sp>
        <p:nvSpPr>
          <p:cNvPr id="94" name="Text 92"/>
          <p:cNvSpPr/>
          <p:nvPr/>
        </p:nvSpPr>
        <p:spPr>
          <a:xfrm>
            <a:off x="6620256" y="3557016"/>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validation</a:t>
            </a:r>
            <a:endParaRPr lang="en-US" sz="900" dirty="0"/>
          </a:p>
        </p:txBody>
      </p:sp>
      <p:sp>
        <p:nvSpPr>
          <p:cNvPr id="95" name="Shape 93"/>
          <p:cNvSpPr/>
          <p:nvPr/>
        </p:nvSpPr>
        <p:spPr>
          <a:xfrm>
            <a:off x="274320" y="3813048"/>
            <a:ext cx="365760" cy="292608"/>
          </a:xfrm>
          <a:prstGeom prst="rect">
            <a:avLst/>
          </a:prstGeom>
          <a:solidFill>
            <a:srgbClr val="F5F8FC"/>
          </a:solidFill>
          <a:ln w="3810">
            <a:solidFill>
              <a:srgbClr val="E2E8F0"/>
            </a:solidFill>
            <a:prstDash val="solid"/>
          </a:ln>
        </p:spPr>
      </p:sp>
      <p:sp>
        <p:nvSpPr>
          <p:cNvPr id="96" name="Shape 94"/>
          <p:cNvSpPr/>
          <p:nvPr/>
        </p:nvSpPr>
        <p:spPr>
          <a:xfrm>
            <a:off x="658368" y="3813048"/>
            <a:ext cx="2084832" cy="292608"/>
          </a:xfrm>
          <a:prstGeom prst="rect">
            <a:avLst/>
          </a:prstGeom>
          <a:solidFill>
            <a:srgbClr val="F5F8FC"/>
          </a:solidFill>
          <a:ln w="3810">
            <a:solidFill>
              <a:srgbClr val="E2E8F0"/>
            </a:solidFill>
            <a:prstDash val="solid"/>
          </a:ln>
        </p:spPr>
      </p:sp>
      <p:sp>
        <p:nvSpPr>
          <p:cNvPr id="97" name="Shape 95"/>
          <p:cNvSpPr/>
          <p:nvPr/>
        </p:nvSpPr>
        <p:spPr>
          <a:xfrm>
            <a:off x="2779776" y="3813048"/>
            <a:ext cx="1938528" cy="292608"/>
          </a:xfrm>
          <a:prstGeom prst="rect">
            <a:avLst/>
          </a:prstGeom>
          <a:solidFill>
            <a:srgbClr val="F5F8FC"/>
          </a:solidFill>
          <a:ln w="3810">
            <a:solidFill>
              <a:srgbClr val="E2E8F0"/>
            </a:solidFill>
            <a:prstDash val="solid"/>
          </a:ln>
        </p:spPr>
      </p:sp>
      <p:sp>
        <p:nvSpPr>
          <p:cNvPr id="98" name="Shape 96"/>
          <p:cNvSpPr/>
          <p:nvPr/>
        </p:nvSpPr>
        <p:spPr>
          <a:xfrm>
            <a:off x="4754880" y="3813048"/>
            <a:ext cx="1773936" cy="292608"/>
          </a:xfrm>
          <a:prstGeom prst="rect">
            <a:avLst/>
          </a:prstGeom>
          <a:solidFill>
            <a:srgbClr val="F5F8FC"/>
          </a:solidFill>
          <a:ln w="3810">
            <a:solidFill>
              <a:srgbClr val="E2E8F0"/>
            </a:solidFill>
            <a:prstDash val="solid"/>
          </a:ln>
        </p:spPr>
      </p:sp>
      <p:sp>
        <p:nvSpPr>
          <p:cNvPr id="99" name="Shape 97"/>
          <p:cNvSpPr/>
          <p:nvPr/>
        </p:nvSpPr>
        <p:spPr>
          <a:xfrm>
            <a:off x="6565392" y="3813048"/>
            <a:ext cx="2286000" cy="292608"/>
          </a:xfrm>
          <a:prstGeom prst="rect">
            <a:avLst/>
          </a:prstGeom>
          <a:solidFill>
            <a:srgbClr val="F5F8FC"/>
          </a:solidFill>
          <a:ln w="3810">
            <a:solidFill>
              <a:srgbClr val="E2E8F0"/>
            </a:solidFill>
            <a:prstDash val="solid"/>
          </a:ln>
        </p:spPr>
      </p:sp>
      <p:sp>
        <p:nvSpPr>
          <p:cNvPr id="100" name="Text 98"/>
          <p:cNvSpPr/>
          <p:nvPr/>
        </p:nvSpPr>
        <p:spPr>
          <a:xfrm>
            <a:off x="310896" y="3867912"/>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8</a:t>
            </a:r>
            <a:endParaRPr lang="en-US" sz="950" dirty="0"/>
          </a:p>
        </p:txBody>
      </p:sp>
      <p:sp>
        <p:nvSpPr>
          <p:cNvPr id="101" name="Text 99"/>
          <p:cNvSpPr/>
          <p:nvPr/>
        </p:nvSpPr>
        <p:spPr>
          <a:xfrm>
            <a:off x="713232" y="3867912"/>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Validation Failure</a:t>
            </a:r>
            <a:endParaRPr lang="en-US" sz="950" dirty="0"/>
          </a:p>
        </p:txBody>
      </p:sp>
      <p:sp>
        <p:nvSpPr>
          <p:cNvPr id="102" name="Text 100"/>
          <p:cNvSpPr/>
          <p:nvPr/>
        </p:nvSpPr>
        <p:spPr>
          <a:xfrm>
            <a:off x="2834640" y="3867912"/>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User marks failed in Jira</a:t>
            </a:r>
            <a:endParaRPr lang="en-US" sz="900" dirty="0"/>
          </a:p>
        </p:txBody>
      </p:sp>
      <p:sp>
        <p:nvSpPr>
          <p:cNvPr id="103" name="Shape 101"/>
          <p:cNvSpPr/>
          <p:nvPr/>
        </p:nvSpPr>
        <p:spPr>
          <a:xfrm>
            <a:off x="4919472" y="3867912"/>
            <a:ext cx="1417320" cy="201168"/>
          </a:xfrm>
          <a:prstGeom prst="rect">
            <a:avLst/>
          </a:prstGeom>
          <a:solidFill>
            <a:srgbClr val="FDE8EC"/>
          </a:solidFill>
          <a:ln w="12700">
            <a:solidFill>
              <a:srgbClr val="C8102E"/>
            </a:solidFill>
            <a:prstDash val="solid"/>
          </a:ln>
        </p:spPr>
      </p:sp>
      <p:sp>
        <p:nvSpPr>
          <p:cNvPr id="104" name="Text 102"/>
          <p:cNvSpPr/>
          <p:nvPr/>
        </p:nvSpPr>
        <p:spPr>
          <a:xfrm>
            <a:off x="4919472" y="3867912"/>
            <a:ext cx="1417320" cy="201168"/>
          </a:xfrm>
          <a:prstGeom prst="rect">
            <a:avLst/>
          </a:prstGeom>
          <a:noFill/>
          <a:ln/>
        </p:spPr>
        <p:txBody>
          <a:bodyPr wrap="square" lIns="0" tIns="0" rIns="0" bIns="0" rtlCol="0" anchor="ctr"/>
          <a:lstStyle/>
          <a:p>
            <a:pPr algn="ctr" indent="0" marL="0">
              <a:buNone/>
            </a:pPr>
            <a:r>
              <a:rPr lang="en-US" sz="900" b="1" dirty="0">
                <a:solidFill>
                  <a:srgbClr val="C8102E"/>
                </a:solidFill>
                <a:latin typeface="Calibri" pitchFamily="34" charset="0"/>
                <a:ea typeface="Calibri" pitchFamily="34" charset="-122"/>
                <a:cs typeface="Calibri" pitchFamily="34" charset="-120"/>
              </a:rPr>
              <a:t>Critical</a:t>
            </a:r>
            <a:endParaRPr lang="en-US" sz="900" dirty="0"/>
          </a:p>
        </p:txBody>
      </p:sp>
      <p:sp>
        <p:nvSpPr>
          <p:cNvPr id="105" name="Text 103"/>
          <p:cNvSpPr/>
          <p:nvPr/>
        </p:nvSpPr>
        <p:spPr>
          <a:xfrm>
            <a:off x="6620256" y="3867912"/>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validation</a:t>
            </a:r>
            <a:endParaRPr lang="en-US" sz="900" dirty="0"/>
          </a:p>
        </p:txBody>
      </p:sp>
      <p:sp>
        <p:nvSpPr>
          <p:cNvPr id="106" name="Shape 104"/>
          <p:cNvSpPr/>
          <p:nvPr/>
        </p:nvSpPr>
        <p:spPr>
          <a:xfrm>
            <a:off x="274320" y="4123944"/>
            <a:ext cx="365760" cy="292608"/>
          </a:xfrm>
          <a:prstGeom prst="rect">
            <a:avLst/>
          </a:prstGeom>
          <a:solidFill>
            <a:srgbClr val="FFFFFF"/>
          </a:solidFill>
          <a:ln w="3810">
            <a:solidFill>
              <a:srgbClr val="E2E8F0"/>
            </a:solidFill>
            <a:prstDash val="solid"/>
          </a:ln>
        </p:spPr>
      </p:sp>
      <p:sp>
        <p:nvSpPr>
          <p:cNvPr id="107" name="Shape 105"/>
          <p:cNvSpPr/>
          <p:nvPr/>
        </p:nvSpPr>
        <p:spPr>
          <a:xfrm>
            <a:off x="658368" y="4123944"/>
            <a:ext cx="2084832" cy="292608"/>
          </a:xfrm>
          <a:prstGeom prst="rect">
            <a:avLst/>
          </a:prstGeom>
          <a:solidFill>
            <a:srgbClr val="FFFFFF"/>
          </a:solidFill>
          <a:ln w="3810">
            <a:solidFill>
              <a:srgbClr val="E2E8F0"/>
            </a:solidFill>
            <a:prstDash val="solid"/>
          </a:ln>
        </p:spPr>
      </p:sp>
      <p:sp>
        <p:nvSpPr>
          <p:cNvPr id="108" name="Shape 106"/>
          <p:cNvSpPr/>
          <p:nvPr/>
        </p:nvSpPr>
        <p:spPr>
          <a:xfrm>
            <a:off x="2779776" y="4123944"/>
            <a:ext cx="1938528" cy="292608"/>
          </a:xfrm>
          <a:prstGeom prst="rect">
            <a:avLst/>
          </a:prstGeom>
          <a:solidFill>
            <a:srgbClr val="FFFFFF"/>
          </a:solidFill>
          <a:ln w="3810">
            <a:solidFill>
              <a:srgbClr val="E2E8F0"/>
            </a:solidFill>
            <a:prstDash val="solid"/>
          </a:ln>
        </p:spPr>
      </p:sp>
      <p:sp>
        <p:nvSpPr>
          <p:cNvPr id="109" name="Shape 107"/>
          <p:cNvSpPr/>
          <p:nvPr/>
        </p:nvSpPr>
        <p:spPr>
          <a:xfrm>
            <a:off x="4754880" y="4123944"/>
            <a:ext cx="1773936" cy="292608"/>
          </a:xfrm>
          <a:prstGeom prst="rect">
            <a:avLst/>
          </a:prstGeom>
          <a:solidFill>
            <a:srgbClr val="FFFFFF"/>
          </a:solidFill>
          <a:ln w="3810">
            <a:solidFill>
              <a:srgbClr val="E2E8F0"/>
            </a:solidFill>
            <a:prstDash val="solid"/>
          </a:ln>
        </p:spPr>
      </p:sp>
      <p:sp>
        <p:nvSpPr>
          <p:cNvPr id="110" name="Shape 108"/>
          <p:cNvSpPr/>
          <p:nvPr/>
        </p:nvSpPr>
        <p:spPr>
          <a:xfrm>
            <a:off x="6565392" y="4123944"/>
            <a:ext cx="2286000" cy="292608"/>
          </a:xfrm>
          <a:prstGeom prst="rect">
            <a:avLst/>
          </a:prstGeom>
          <a:solidFill>
            <a:srgbClr val="FFFFFF"/>
          </a:solidFill>
          <a:ln w="3810">
            <a:solidFill>
              <a:srgbClr val="E2E8F0"/>
            </a:solidFill>
            <a:prstDash val="solid"/>
          </a:ln>
        </p:spPr>
      </p:sp>
      <p:sp>
        <p:nvSpPr>
          <p:cNvPr id="111" name="Text 109"/>
          <p:cNvSpPr/>
          <p:nvPr/>
        </p:nvSpPr>
        <p:spPr>
          <a:xfrm>
            <a:off x="310896" y="4178808"/>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9</a:t>
            </a:r>
            <a:endParaRPr lang="en-US" sz="950" dirty="0"/>
          </a:p>
        </p:txBody>
      </p:sp>
      <p:sp>
        <p:nvSpPr>
          <p:cNvPr id="112" name="Text 110"/>
          <p:cNvSpPr/>
          <p:nvPr/>
        </p:nvSpPr>
        <p:spPr>
          <a:xfrm>
            <a:off x="713232" y="4178808"/>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Retry Success</a:t>
            </a:r>
            <a:endParaRPr lang="en-US" sz="950" dirty="0"/>
          </a:p>
        </p:txBody>
      </p:sp>
      <p:sp>
        <p:nvSpPr>
          <p:cNvPr id="113" name="Text 111"/>
          <p:cNvSpPr/>
          <p:nvPr/>
        </p:nvSpPr>
        <p:spPr>
          <a:xfrm>
            <a:off x="2834640" y="4178808"/>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Retry completes successfully</a:t>
            </a:r>
            <a:endParaRPr lang="en-US" sz="900" dirty="0"/>
          </a:p>
        </p:txBody>
      </p:sp>
      <p:sp>
        <p:nvSpPr>
          <p:cNvPr id="114" name="Shape 112"/>
          <p:cNvSpPr/>
          <p:nvPr/>
        </p:nvSpPr>
        <p:spPr>
          <a:xfrm>
            <a:off x="4919472" y="4178808"/>
            <a:ext cx="1417320" cy="201168"/>
          </a:xfrm>
          <a:prstGeom prst="rect">
            <a:avLst/>
          </a:prstGeom>
          <a:solidFill>
            <a:srgbClr val="EBF4FB"/>
          </a:solidFill>
          <a:ln w="12700">
            <a:solidFill>
              <a:srgbClr val="056DAE"/>
            </a:solidFill>
            <a:prstDash val="solid"/>
          </a:ln>
        </p:spPr>
      </p:sp>
      <p:sp>
        <p:nvSpPr>
          <p:cNvPr id="115" name="Text 113"/>
          <p:cNvSpPr/>
          <p:nvPr/>
        </p:nvSpPr>
        <p:spPr>
          <a:xfrm>
            <a:off x="4919472" y="4178808"/>
            <a:ext cx="1417320" cy="201168"/>
          </a:xfrm>
          <a:prstGeom prst="rect">
            <a:avLst/>
          </a:prstGeom>
          <a:noFill/>
          <a:ln/>
        </p:spPr>
        <p:txBody>
          <a:bodyPr wrap="square" lIns="0" tIns="0" rIns="0" bIns="0" rtlCol="0" anchor="ctr"/>
          <a:lstStyle/>
          <a:p>
            <a:pPr algn="ctr" indent="0" marL="0">
              <a:buNone/>
            </a:pPr>
            <a:r>
              <a:rPr lang="en-US" sz="900" b="1" dirty="0">
                <a:solidFill>
                  <a:srgbClr val="056DAE"/>
                </a:solidFill>
                <a:latin typeface="Calibri" pitchFamily="34" charset="0"/>
                <a:ea typeface="Calibri" pitchFamily="34" charset="-122"/>
                <a:cs typeface="Calibri" pitchFamily="34" charset="-120"/>
              </a:rPr>
              <a:t>Info</a:t>
            </a:r>
            <a:endParaRPr lang="en-US" sz="900" dirty="0"/>
          </a:p>
        </p:txBody>
      </p:sp>
      <p:sp>
        <p:nvSpPr>
          <p:cNvPr id="116" name="Text 114"/>
          <p:cNvSpPr/>
          <p:nvPr/>
        </p:nvSpPr>
        <p:spPr>
          <a:xfrm>
            <a:off x="6620256" y="4178808"/>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Per retry</a:t>
            </a:r>
            <a:endParaRPr lang="en-US" sz="900" dirty="0"/>
          </a:p>
        </p:txBody>
      </p:sp>
      <p:sp>
        <p:nvSpPr>
          <p:cNvPr id="117" name="Shape 115"/>
          <p:cNvSpPr/>
          <p:nvPr/>
        </p:nvSpPr>
        <p:spPr>
          <a:xfrm>
            <a:off x="274320" y="4434840"/>
            <a:ext cx="365760" cy="292608"/>
          </a:xfrm>
          <a:prstGeom prst="rect">
            <a:avLst/>
          </a:prstGeom>
          <a:solidFill>
            <a:srgbClr val="F5F8FC"/>
          </a:solidFill>
          <a:ln w="3810">
            <a:solidFill>
              <a:srgbClr val="E2E8F0"/>
            </a:solidFill>
            <a:prstDash val="solid"/>
          </a:ln>
        </p:spPr>
      </p:sp>
      <p:sp>
        <p:nvSpPr>
          <p:cNvPr id="118" name="Shape 116"/>
          <p:cNvSpPr/>
          <p:nvPr/>
        </p:nvSpPr>
        <p:spPr>
          <a:xfrm>
            <a:off x="658368" y="4434840"/>
            <a:ext cx="2084832" cy="292608"/>
          </a:xfrm>
          <a:prstGeom prst="rect">
            <a:avLst/>
          </a:prstGeom>
          <a:solidFill>
            <a:srgbClr val="F5F8FC"/>
          </a:solidFill>
          <a:ln w="3810">
            <a:solidFill>
              <a:srgbClr val="E2E8F0"/>
            </a:solidFill>
            <a:prstDash val="solid"/>
          </a:ln>
        </p:spPr>
      </p:sp>
      <p:sp>
        <p:nvSpPr>
          <p:cNvPr id="119" name="Shape 117"/>
          <p:cNvSpPr/>
          <p:nvPr/>
        </p:nvSpPr>
        <p:spPr>
          <a:xfrm>
            <a:off x="2779776" y="4434840"/>
            <a:ext cx="1938528" cy="292608"/>
          </a:xfrm>
          <a:prstGeom prst="rect">
            <a:avLst/>
          </a:prstGeom>
          <a:solidFill>
            <a:srgbClr val="F5F8FC"/>
          </a:solidFill>
          <a:ln w="3810">
            <a:solidFill>
              <a:srgbClr val="E2E8F0"/>
            </a:solidFill>
            <a:prstDash val="solid"/>
          </a:ln>
        </p:spPr>
      </p:sp>
      <p:sp>
        <p:nvSpPr>
          <p:cNvPr id="120" name="Shape 118"/>
          <p:cNvSpPr/>
          <p:nvPr/>
        </p:nvSpPr>
        <p:spPr>
          <a:xfrm>
            <a:off x="4754880" y="4434840"/>
            <a:ext cx="1773936" cy="292608"/>
          </a:xfrm>
          <a:prstGeom prst="rect">
            <a:avLst/>
          </a:prstGeom>
          <a:solidFill>
            <a:srgbClr val="F5F8FC"/>
          </a:solidFill>
          <a:ln w="3810">
            <a:solidFill>
              <a:srgbClr val="E2E8F0"/>
            </a:solidFill>
            <a:prstDash val="solid"/>
          </a:ln>
        </p:spPr>
      </p:sp>
      <p:sp>
        <p:nvSpPr>
          <p:cNvPr id="121" name="Shape 119"/>
          <p:cNvSpPr/>
          <p:nvPr/>
        </p:nvSpPr>
        <p:spPr>
          <a:xfrm>
            <a:off x="6565392" y="4434840"/>
            <a:ext cx="2286000" cy="292608"/>
          </a:xfrm>
          <a:prstGeom prst="rect">
            <a:avLst/>
          </a:prstGeom>
          <a:solidFill>
            <a:srgbClr val="F5F8FC"/>
          </a:solidFill>
          <a:ln w="3810">
            <a:solidFill>
              <a:srgbClr val="E2E8F0"/>
            </a:solidFill>
            <a:prstDash val="solid"/>
          </a:ln>
        </p:spPr>
      </p:sp>
      <p:sp>
        <p:nvSpPr>
          <p:cNvPr id="122" name="Text 120"/>
          <p:cNvSpPr/>
          <p:nvPr/>
        </p:nvSpPr>
        <p:spPr>
          <a:xfrm>
            <a:off x="310896" y="4489704"/>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10</a:t>
            </a:r>
            <a:endParaRPr lang="en-US" sz="950" dirty="0"/>
          </a:p>
        </p:txBody>
      </p:sp>
      <p:sp>
        <p:nvSpPr>
          <p:cNvPr id="123" name="Text 121"/>
          <p:cNvSpPr/>
          <p:nvPr/>
        </p:nvSpPr>
        <p:spPr>
          <a:xfrm>
            <a:off x="713232" y="4489704"/>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Weekly Inventory Report</a:t>
            </a:r>
            <a:endParaRPr lang="en-US" sz="950" dirty="0"/>
          </a:p>
        </p:txBody>
      </p:sp>
      <p:sp>
        <p:nvSpPr>
          <p:cNvPr id="124" name="Text 122"/>
          <p:cNvSpPr/>
          <p:nvPr/>
        </p:nvSpPr>
        <p:spPr>
          <a:xfrm>
            <a:off x="2834640" y="4489704"/>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Scheduled</a:t>
            </a:r>
            <a:endParaRPr lang="en-US" sz="900" dirty="0"/>
          </a:p>
        </p:txBody>
      </p:sp>
      <p:sp>
        <p:nvSpPr>
          <p:cNvPr id="125" name="Shape 123"/>
          <p:cNvSpPr/>
          <p:nvPr/>
        </p:nvSpPr>
        <p:spPr>
          <a:xfrm>
            <a:off x="4919472" y="4489704"/>
            <a:ext cx="1417320" cy="201168"/>
          </a:xfrm>
          <a:prstGeom prst="rect">
            <a:avLst/>
          </a:prstGeom>
          <a:solidFill>
            <a:srgbClr val="EBF4FB"/>
          </a:solidFill>
          <a:ln w="12700">
            <a:solidFill>
              <a:srgbClr val="056DAE"/>
            </a:solidFill>
            <a:prstDash val="solid"/>
          </a:ln>
        </p:spPr>
      </p:sp>
      <p:sp>
        <p:nvSpPr>
          <p:cNvPr id="126" name="Text 124"/>
          <p:cNvSpPr/>
          <p:nvPr/>
        </p:nvSpPr>
        <p:spPr>
          <a:xfrm>
            <a:off x="4919472" y="4489704"/>
            <a:ext cx="1417320" cy="201168"/>
          </a:xfrm>
          <a:prstGeom prst="rect">
            <a:avLst/>
          </a:prstGeom>
          <a:noFill/>
          <a:ln/>
        </p:spPr>
        <p:txBody>
          <a:bodyPr wrap="square" lIns="0" tIns="0" rIns="0" bIns="0" rtlCol="0" anchor="ctr"/>
          <a:lstStyle/>
          <a:p>
            <a:pPr algn="ctr" indent="0" marL="0">
              <a:buNone/>
            </a:pPr>
            <a:r>
              <a:rPr lang="en-US" sz="900" b="1" dirty="0">
                <a:solidFill>
                  <a:srgbClr val="056DAE"/>
                </a:solidFill>
                <a:latin typeface="Calibri" pitchFamily="34" charset="0"/>
                <a:ea typeface="Calibri" pitchFamily="34" charset="-122"/>
                <a:cs typeface="Calibri" pitchFamily="34" charset="-120"/>
              </a:rPr>
              <a:t>Info</a:t>
            </a:r>
            <a:endParaRPr lang="en-US" sz="900" dirty="0"/>
          </a:p>
        </p:txBody>
      </p:sp>
      <p:sp>
        <p:nvSpPr>
          <p:cNvPr id="127" name="Text 125"/>
          <p:cNvSpPr/>
          <p:nvPr/>
        </p:nvSpPr>
        <p:spPr>
          <a:xfrm>
            <a:off x="6620256" y="4489704"/>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Weekly Mon 9 AM</a:t>
            </a:r>
            <a:endParaRPr lang="en-US" sz="900" dirty="0"/>
          </a:p>
        </p:txBody>
      </p:sp>
      <p:sp>
        <p:nvSpPr>
          <p:cNvPr id="128" name="Shape 126"/>
          <p:cNvSpPr/>
          <p:nvPr/>
        </p:nvSpPr>
        <p:spPr>
          <a:xfrm>
            <a:off x="274320" y="4745736"/>
            <a:ext cx="365760" cy="292608"/>
          </a:xfrm>
          <a:prstGeom prst="rect">
            <a:avLst/>
          </a:prstGeom>
          <a:solidFill>
            <a:srgbClr val="FFFFFF"/>
          </a:solidFill>
          <a:ln w="3810">
            <a:solidFill>
              <a:srgbClr val="E2E8F0"/>
            </a:solidFill>
            <a:prstDash val="solid"/>
          </a:ln>
        </p:spPr>
      </p:sp>
      <p:sp>
        <p:nvSpPr>
          <p:cNvPr id="129" name="Shape 127"/>
          <p:cNvSpPr/>
          <p:nvPr/>
        </p:nvSpPr>
        <p:spPr>
          <a:xfrm>
            <a:off x="658368" y="4745736"/>
            <a:ext cx="2084832" cy="292608"/>
          </a:xfrm>
          <a:prstGeom prst="rect">
            <a:avLst/>
          </a:prstGeom>
          <a:solidFill>
            <a:srgbClr val="FFFFFF"/>
          </a:solidFill>
          <a:ln w="3810">
            <a:solidFill>
              <a:srgbClr val="E2E8F0"/>
            </a:solidFill>
            <a:prstDash val="solid"/>
          </a:ln>
        </p:spPr>
      </p:sp>
      <p:sp>
        <p:nvSpPr>
          <p:cNvPr id="130" name="Shape 128"/>
          <p:cNvSpPr/>
          <p:nvPr/>
        </p:nvSpPr>
        <p:spPr>
          <a:xfrm>
            <a:off x="2779776" y="4745736"/>
            <a:ext cx="1938528" cy="292608"/>
          </a:xfrm>
          <a:prstGeom prst="rect">
            <a:avLst/>
          </a:prstGeom>
          <a:solidFill>
            <a:srgbClr val="FFFFFF"/>
          </a:solidFill>
          <a:ln w="3810">
            <a:solidFill>
              <a:srgbClr val="E2E8F0"/>
            </a:solidFill>
            <a:prstDash val="solid"/>
          </a:ln>
        </p:spPr>
      </p:sp>
      <p:sp>
        <p:nvSpPr>
          <p:cNvPr id="131" name="Shape 129"/>
          <p:cNvSpPr/>
          <p:nvPr/>
        </p:nvSpPr>
        <p:spPr>
          <a:xfrm>
            <a:off x="4754880" y="4745736"/>
            <a:ext cx="1773936" cy="292608"/>
          </a:xfrm>
          <a:prstGeom prst="rect">
            <a:avLst/>
          </a:prstGeom>
          <a:solidFill>
            <a:srgbClr val="FFFFFF"/>
          </a:solidFill>
          <a:ln w="3810">
            <a:solidFill>
              <a:srgbClr val="E2E8F0"/>
            </a:solidFill>
            <a:prstDash val="solid"/>
          </a:ln>
        </p:spPr>
      </p:sp>
      <p:sp>
        <p:nvSpPr>
          <p:cNvPr id="132" name="Shape 130"/>
          <p:cNvSpPr/>
          <p:nvPr/>
        </p:nvSpPr>
        <p:spPr>
          <a:xfrm>
            <a:off x="6565392" y="4745736"/>
            <a:ext cx="2286000" cy="292608"/>
          </a:xfrm>
          <a:prstGeom prst="rect">
            <a:avLst/>
          </a:prstGeom>
          <a:solidFill>
            <a:srgbClr val="FFFFFF"/>
          </a:solidFill>
          <a:ln w="3810">
            <a:solidFill>
              <a:srgbClr val="E2E8F0"/>
            </a:solidFill>
            <a:prstDash val="solid"/>
          </a:ln>
        </p:spPr>
      </p:sp>
      <p:sp>
        <p:nvSpPr>
          <p:cNvPr id="133" name="Text 131"/>
          <p:cNvSpPr/>
          <p:nvPr/>
        </p:nvSpPr>
        <p:spPr>
          <a:xfrm>
            <a:off x="310896" y="4800600"/>
            <a:ext cx="310896" cy="201168"/>
          </a:xfrm>
          <a:prstGeom prst="rect">
            <a:avLst/>
          </a:prstGeom>
          <a:noFill/>
          <a:ln/>
        </p:spPr>
        <p:txBody>
          <a:bodyPr wrap="square" lIns="0" tIns="0" rIns="0" bIns="0" rtlCol="0" anchor="ctr"/>
          <a:lstStyle/>
          <a:p>
            <a:pPr algn="ctr" indent="0" marL="0">
              <a:buNone/>
            </a:pPr>
            <a:r>
              <a:rPr lang="en-US" sz="950" b="1" dirty="0">
                <a:solidFill>
                  <a:srgbClr val="003B70"/>
                </a:solidFill>
                <a:latin typeface="Calibri" pitchFamily="34" charset="0"/>
                <a:ea typeface="Calibri" pitchFamily="34" charset="-122"/>
                <a:cs typeface="Calibri" pitchFamily="34" charset="-120"/>
              </a:rPr>
              <a:t>11</a:t>
            </a:r>
            <a:endParaRPr lang="en-US" sz="950" dirty="0"/>
          </a:p>
        </p:txBody>
      </p:sp>
      <p:sp>
        <p:nvSpPr>
          <p:cNvPr id="134" name="Text 132"/>
          <p:cNvSpPr/>
          <p:nvPr/>
        </p:nvSpPr>
        <p:spPr>
          <a:xfrm>
            <a:off x="713232" y="4800600"/>
            <a:ext cx="2011680" cy="201168"/>
          </a:xfrm>
          <a:prstGeom prst="rect">
            <a:avLst/>
          </a:prstGeom>
          <a:noFill/>
          <a:ln/>
        </p:spPr>
        <p:txBody>
          <a:bodyPr wrap="square" lIns="0" tIns="0" rIns="0" bIns="0" rtlCol="0" anchor="ctr"/>
          <a:lstStyle/>
          <a:p>
            <a:pPr indent="0" marL="0">
              <a:buNone/>
            </a:pPr>
            <a:r>
              <a:rPr lang="en-US" sz="950" b="1" dirty="0">
                <a:solidFill>
                  <a:srgbClr val="1A2B40"/>
                </a:solidFill>
                <a:latin typeface="Calibri" pitchFamily="34" charset="0"/>
                <a:ea typeface="Calibri" pitchFamily="34" charset="-122"/>
                <a:cs typeface="Calibri" pitchFamily="34" charset="-120"/>
              </a:rPr>
              <a:t>Weekly Escalation</a:t>
            </a:r>
            <a:endParaRPr lang="en-US" sz="950" dirty="0"/>
          </a:p>
        </p:txBody>
      </p:sp>
      <p:sp>
        <p:nvSpPr>
          <p:cNvPr id="135" name="Text 133"/>
          <p:cNvSpPr/>
          <p:nvPr/>
        </p:nvSpPr>
        <p:spPr>
          <a:xfrm>
            <a:off x="2834640" y="4800600"/>
            <a:ext cx="1865376"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Critical issues exist</a:t>
            </a:r>
            <a:endParaRPr lang="en-US" sz="900" dirty="0"/>
          </a:p>
        </p:txBody>
      </p:sp>
      <p:sp>
        <p:nvSpPr>
          <p:cNvPr id="136" name="Shape 134"/>
          <p:cNvSpPr/>
          <p:nvPr/>
        </p:nvSpPr>
        <p:spPr>
          <a:xfrm>
            <a:off x="4919472" y="4800600"/>
            <a:ext cx="1417320" cy="201168"/>
          </a:xfrm>
          <a:prstGeom prst="rect">
            <a:avLst/>
          </a:prstGeom>
          <a:solidFill>
            <a:srgbClr val="FDE8EC"/>
          </a:solidFill>
          <a:ln w="12700">
            <a:solidFill>
              <a:srgbClr val="C8102E"/>
            </a:solidFill>
            <a:prstDash val="solid"/>
          </a:ln>
        </p:spPr>
      </p:sp>
      <p:sp>
        <p:nvSpPr>
          <p:cNvPr id="137" name="Text 135"/>
          <p:cNvSpPr/>
          <p:nvPr/>
        </p:nvSpPr>
        <p:spPr>
          <a:xfrm>
            <a:off x="4919472" y="4800600"/>
            <a:ext cx="1417320" cy="201168"/>
          </a:xfrm>
          <a:prstGeom prst="rect">
            <a:avLst/>
          </a:prstGeom>
          <a:noFill/>
          <a:ln/>
        </p:spPr>
        <p:txBody>
          <a:bodyPr wrap="square" lIns="0" tIns="0" rIns="0" bIns="0" rtlCol="0" anchor="ctr"/>
          <a:lstStyle/>
          <a:p>
            <a:pPr algn="ctr" indent="0" marL="0">
              <a:buNone/>
            </a:pPr>
            <a:r>
              <a:rPr lang="en-US" sz="900" b="1" dirty="0">
                <a:solidFill>
                  <a:srgbClr val="C8102E"/>
                </a:solidFill>
                <a:latin typeface="Calibri" pitchFamily="34" charset="0"/>
                <a:ea typeface="Calibri" pitchFamily="34" charset="-122"/>
                <a:cs typeface="Calibri" pitchFamily="34" charset="-120"/>
              </a:rPr>
              <a:t>Critical</a:t>
            </a:r>
            <a:endParaRPr lang="en-US" sz="900" dirty="0"/>
          </a:p>
        </p:txBody>
      </p:sp>
      <p:sp>
        <p:nvSpPr>
          <p:cNvPr id="138" name="Text 136"/>
          <p:cNvSpPr/>
          <p:nvPr/>
        </p:nvSpPr>
        <p:spPr>
          <a:xfrm>
            <a:off x="6620256" y="4800600"/>
            <a:ext cx="2212848" cy="201168"/>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Weekly Mon 10 AM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Getting Started — CSI Onboarding for Containers</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What your team needs to do once — CLM handles everything after</a:t>
            </a:r>
            <a:endParaRPr lang="en-US" sz="1050" dirty="0"/>
          </a:p>
        </p:txBody>
      </p:sp>
      <p:sp>
        <p:nvSpPr>
          <p:cNvPr id="6" name="Shape 4"/>
          <p:cNvSpPr/>
          <p:nvPr/>
        </p:nvSpPr>
        <p:spPr>
          <a:xfrm>
            <a:off x="384048" y="960120"/>
            <a:ext cx="1920240" cy="2697480"/>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978408" y="1051560"/>
            <a:ext cx="731520" cy="731520"/>
          </a:xfrm>
          <a:prstGeom prst="ellipse">
            <a:avLst/>
          </a:prstGeom>
          <a:solidFill>
            <a:srgbClr val="003B70"/>
          </a:solidFill>
          <a:ln w="12700">
            <a:solidFill>
              <a:srgbClr val="003B70"/>
            </a:solidFill>
            <a:prstDash val="solid"/>
          </a:ln>
        </p:spPr>
      </p:sp>
      <p:sp>
        <p:nvSpPr>
          <p:cNvPr id="8" name="Text 6"/>
          <p:cNvSpPr/>
          <p:nvPr/>
        </p:nvSpPr>
        <p:spPr>
          <a:xfrm>
            <a:off x="978408" y="1078992"/>
            <a:ext cx="73152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475488" y="1920240"/>
            <a:ext cx="1737360" cy="457200"/>
          </a:xfrm>
          <a:prstGeom prst="rect">
            <a:avLst/>
          </a:prstGeom>
          <a:noFill/>
          <a:ln/>
        </p:spPr>
        <p:txBody>
          <a:bodyPr wrap="square" lIns="0" tIns="0" rIns="0" bIns="0" rtlCol="0" anchor="ctr"/>
          <a:lstStyle/>
          <a:p>
            <a:pPr algn="ctr" indent="0" marL="0">
              <a:buNone/>
            </a:pPr>
            <a:r>
              <a:rPr lang="en-US" sz="1100" b="1" dirty="0">
                <a:solidFill>
                  <a:srgbClr val="003B70"/>
                </a:solidFill>
                <a:latin typeface="Calibri" pitchFamily="34" charset="0"/>
                <a:ea typeface="Calibri" pitchFamily="34" charset="-122"/>
                <a:cs typeface="Calibri" pitchFamily="34" charset="-120"/>
              </a:rPr>
              <a:t>Raise Access</a:t>
            </a:r>
            <a:endParaRPr lang="en-US" sz="1100" dirty="0"/>
          </a:p>
          <a:p>
            <a:pPr algn="ctr" indent="0" marL="0">
              <a:buNone/>
            </a:pPr>
            <a:r>
              <a:rPr lang="en-US" sz="1100" b="1" dirty="0">
                <a:solidFill>
                  <a:srgbClr val="003B70"/>
                </a:solidFill>
                <a:latin typeface="Calibri" pitchFamily="34" charset="0"/>
                <a:ea typeface="Calibri" pitchFamily="34" charset="-122"/>
                <a:cs typeface="Calibri" pitchFamily="34" charset="-120"/>
              </a:rPr>
              <a:t>Request</a:t>
            </a:r>
            <a:endParaRPr lang="en-US" sz="1100" dirty="0"/>
          </a:p>
        </p:txBody>
      </p:sp>
      <p:sp>
        <p:nvSpPr>
          <p:cNvPr id="10" name="Text 8"/>
          <p:cNvSpPr/>
          <p:nvPr/>
        </p:nvSpPr>
        <p:spPr>
          <a:xfrm>
            <a:off x="475488" y="2450592"/>
            <a:ext cx="1737360" cy="1097280"/>
          </a:xfrm>
          <a:prstGeom prst="rect">
            <a:avLst/>
          </a:prstGeom>
          <a:noFill/>
          <a:ln/>
        </p:spPr>
        <p:txBody>
          <a:bodyPr wrap="square" lIns="0" tIns="0" rIns="0" bIns="0" rtlCol="0" anchor="ctr"/>
          <a:lstStyle/>
          <a:p>
            <a:pPr algn="ctr" indent="0" marL="0">
              <a:buNone/>
            </a:pPr>
            <a:r>
              <a:rPr lang="en-US" sz="900" dirty="0">
                <a:solidFill>
                  <a:srgbClr val="4A6080"/>
                </a:solidFill>
                <a:latin typeface="Calibri" pitchFamily="34" charset="0"/>
                <a:ea typeface="Calibri" pitchFamily="34" charset="-122"/>
                <a:cs typeface="Calibri" pitchFamily="34" charset="-120"/>
              </a:rPr>
              <a:t>Prod: Marketplace CMP order</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Dev/UAT: Email PFY DL with</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SOEID · Role · Team · Reason</a:t>
            </a:r>
            <a:endParaRPr lang="en-US" sz="900" dirty="0"/>
          </a:p>
        </p:txBody>
      </p:sp>
      <p:sp>
        <p:nvSpPr>
          <p:cNvPr id="11" name="Shape 9"/>
          <p:cNvSpPr/>
          <p:nvPr/>
        </p:nvSpPr>
        <p:spPr>
          <a:xfrm>
            <a:off x="2304288" y="1344168"/>
            <a:ext cx="256032" cy="54864"/>
          </a:xfrm>
          <a:prstGeom prst="rect">
            <a:avLst/>
          </a:prstGeom>
          <a:solidFill>
            <a:srgbClr val="056DAE"/>
          </a:solidFill>
          <a:ln w="12700">
            <a:solidFill>
              <a:srgbClr val="056DAE"/>
            </a:solidFill>
            <a:prstDash val="solid"/>
          </a:ln>
        </p:spPr>
      </p:sp>
      <p:sp>
        <p:nvSpPr>
          <p:cNvPr id="12" name="Shape 10"/>
          <p:cNvSpPr/>
          <p:nvPr/>
        </p:nvSpPr>
        <p:spPr>
          <a:xfrm>
            <a:off x="2560320" y="960120"/>
            <a:ext cx="1920240" cy="2697480"/>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13" name="Shape 11"/>
          <p:cNvSpPr/>
          <p:nvPr/>
        </p:nvSpPr>
        <p:spPr>
          <a:xfrm>
            <a:off x="3154680" y="1051560"/>
            <a:ext cx="731520" cy="731520"/>
          </a:xfrm>
          <a:prstGeom prst="ellipse">
            <a:avLst/>
          </a:prstGeom>
          <a:solidFill>
            <a:srgbClr val="003B70"/>
          </a:solidFill>
          <a:ln w="12700">
            <a:solidFill>
              <a:srgbClr val="003B70"/>
            </a:solidFill>
            <a:prstDash val="solid"/>
          </a:ln>
        </p:spPr>
      </p:sp>
      <p:sp>
        <p:nvSpPr>
          <p:cNvPr id="14" name="Text 12"/>
          <p:cNvSpPr/>
          <p:nvPr/>
        </p:nvSpPr>
        <p:spPr>
          <a:xfrm>
            <a:off x="3154680" y="1078992"/>
            <a:ext cx="73152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2651760" y="1920240"/>
            <a:ext cx="1737360" cy="457200"/>
          </a:xfrm>
          <a:prstGeom prst="rect">
            <a:avLst/>
          </a:prstGeom>
          <a:noFill/>
          <a:ln/>
        </p:spPr>
        <p:txBody>
          <a:bodyPr wrap="square" lIns="0" tIns="0" rIns="0" bIns="0" rtlCol="0" anchor="ctr"/>
          <a:lstStyle/>
          <a:p>
            <a:pPr algn="ctr" indent="0" marL="0">
              <a:buNone/>
            </a:pPr>
            <a:r>
              <a:rPr lang="en-US" sz="1100" b="1" dirty="0">
                <a:solidFill>
                  <a:srgbClr val="003B70"/>
                </a:solidFill>
                <a:latin typeface="Calibri" pitchFamily="34" charset="0"/>
                <a:ea typeface="Calibri" pitchFamily="34" charset="-122"/>
                <a:cs typeface="Calibri" pitchFamily="34" charset="-120"/>
              </a:rPr>
              <a:t>Onboard CSI</a:t>
            </a:r>
            <a:endParaRPr lang="en-US" sz="1100" dirty="0"/>
          </a:p>
          <a:p>
            <a:pPr algn="ctr" indent="0" marL="0">
              <a:buNone/>
            </a:pPr>
            <a:r>
              <a:rPr lang="en-US" sz="1100" b="1" dirty="0">
                <a:solidFill>
                  <a:srgbClr val="003B70"/>
                </a:solidFill>
                <a:latin typeface="Calibri" pitchFamily="34" charset="0"/>
                <a:ea typeface="Calibri" pitchFamily="34" charset="-122"/>
                <a:cs typeface="Calibri" pitchFamily="34" charset="-120"/>
              </a:rPr>
              <a:t>in PFY Portal</a:t>
            </a:r>
            <a:endParaRPr lang="en-US" sz="1100" dirty="0"/>
          </a:p>
        </p:txBody>
      </p:sp>
      <p:sp>
        <p:nvSpPr>
          <p:cNvPr id="16" name="Text 14"/>
          <p:cNvSpPr/>
          <p:nvPr/>
        </p:nvSpPr>
        <p:spPr>
          <a:xfrm>
            <a:off x="2651760" y="2450592"/>
            <a:ext cx="1737360" cy="1097280"/>
          </a:xfrm>
          <a:prstGeom prst="rect">
            <a:avLst/>
          </a:prstGeom>
          <a:noFill/>
          <a:ln/>
        </p:spPr>
        <p:txBody>
          <a:bodyPr wrap="square" lIns="0" tIns="0" rIns="0" bIns="0" rtlCol="0" anchor="ctr"/>
          <a:lstStyle/>
          <a:p>
            <a:pPr algn="ctr" indent="0" marL="0">
              <a:buNone/>
            </a:pPr>
            <a:r>
              <a:rPr lang="en-US" sz="900" dirty="0">
                <a:solidFill>
                  <a:srgbClr val="4A6080"/>
                </a:solidFill>
                <a:latin typeface="Calibri" pitchFamily="34" charset="0"/>
                <a:ea typeface="Calibri" pitchFamily="34" charset="-122"/>
                <a:cs typeface="Calibri" pitchFamily="34" charset="-120"/>
              </a:rPr>
              <a:t>Provide: CSI ID, Email DL,</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SNOW DL, Primary SOEID,</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Module Subscription,</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Bitbucket/GitHub Repo URLs</a:t>
            </a:r>
            <a:endParaRPr lang="en-US" sz="900" dirty="0"/>
          </a:p>
        </p:txBody>
      </p:sp>
      <p:sp>
        <p:nvSpPr>
          <p:cNvPr id="17" name="Shape 15"/>
          <p:cNvSpPr/>
          <p:nvPr/>
        </p:nvSpPr>
        <p:spPr>
          <a:xfrm>
            <a:off x="4480560" y="1344168"/>
            <a:ext cx="256032" cy="54864"/>
          </a:xfrm>
          <a:prstGeom prst="rect">
            <a:avLst/>
          </a:prstGeom>
          <a:solidFill>
            <a:srgbClr val="056DAE"/>
          </a:solidFill>
          <a:ln w="12700">
            <a:solidFill>
              <a:srgbClr val="056DAE"/>
            </a:solidFill>
            <a:prstDash val="solid"/>
          </a:ln>
        </p:spPr>
      </p:sp>
      <p:sp>
        <p:nvSpPr>
          <p:cNvPr id="18" name="Shape 16"/>
          <p:cNvSpPr/>
          <p:nvPr/>
        </p:nvSpPr>
        <p:spPr>
          <a:xfrm>
            <a:off x="4736592" y="960120"/>
            <a:ext cx="1920240" cy="2697480"/>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5330952" y="1051560"/>
            <a:ext cx="731520" cy="731520"/>
          </a:xfrm>
          <a:prstGeom prst="ellipse">
            <a:avLst/>
          </a:prstGeom>
          <a:solidFill>
            <a:srgbClr val="003B70"/>
          </a:solidFill>
          <a:ln w="12700">
            <a:solidFill>
              <a:srgbClr val="003B70"/>
            </a:solidFill>
            <a:prstDash val="solid"/>
          </a:ln>
        </p:spPr>
      </p:sp>
      <p:sp>
        <p:nvSpPr>
          <p:cNvPr id="20" name="Text 18"/>
          <p:cNvSpPr/>
          <p:nvPr/>
        </p:nvSpPr>
        <p:spPr>
          <a:xfrm>
            <a:off x="5330952" y="1078992"/>
            <a:ext cx="73152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4828032" y="1920240"/>
            <a:ext cx="1737360" cy="457200"/>
          </a:xfrm>
          <a:prstGeom prst="rect">
            <a:avLst/>
          </a:prstGeom>
          <a:noFill/>
          <a:ln/>
        </p:spPr>
        <p:txBody>
          <a:bodyPr wrap="square" lIns="0" tIns="0" rIns="0" bIns="0" rtlCol="0" anchor="ctr"/>
          <a:lstStyle/>
          <a:p>
            <a:pPr algn="ctr" indent="0" marL="0">
              <a:buNone/>
            </a:pPr>
            <a:r>
              <a:rPr lang="en-US" sz="1100" b="1" dirty="0">
                <a:solidFill>
                  <a:srgbClr val="003B70"/>
                </a:solidFill>
                <a:latin typeface="Calibri" pitchFamily="34" charset="0"/>
                <a:ea typeface="Calibri" pitchFamily="34" charset="-122"/>
                <a:cs typeface="Calibri" pitchFamily="34" charset="-120"/>
              </a:rPr>
              <a:t>Grant FID</a:t>
            </a:r>
            <a:endParaRPr lang="en-US" sz="1100" dirty="0"/>
          </a:p>
          <a:p>
            <a:pPr algn="ctr" indent="0" marL="0">
              <a:buNone/>
            </a:pPr>
            <a:r>
              <a:rPr lang="en-US" sz="1100" b="1" dirty="0">
                <a:solidFill>
                  <a:srgbClr val="003B70"/>
                </a:solidFill>
                <a:latin typeface="Calibri" pitchFamily="34" charset="0"/>
                <a:ea typeface="Calibri" pitchFamily="34" charset="-122"/>
                <a:cs typeface="Calibri" pitchFamily="34" charset="-120"/>
              </a:rPr>
              <a:t>Write Access</a:t>
            </a:r>
            <a:endParaRPr lang="en-US" sz="1100" dirty="0"/>
          </a:p>
        </p:txBody>
      </p:sp>
      <p:sp>
        <p:nvSpPr>
          <p:cNvPr id="22" name="Text 20"/>
          <p:cNvSpPr/>
          <p:nvPr/>
        </p:nvSpPr>
        <p:spPr>
          <a:xfrm>
            <a:off x="4828032" y="2450592"/>
            <a:ext cx="1737360" cy="1097280"/>
          </a:xfrm>
          <a:prstGeom prst="rect">
            <a:avLst/>
          </a:prstGeom>
          <a:noFill/>
          <a:ln/>
        </p:spPr>
        <p:txBody>
          <a:bodyPr wrap="square" lIns="0" tIns="0" rIns="0" bIns="0" rtlCol="0" anchor="ctr"/>
          <a:lstStyle/>
          <a:p>
            <a:pPr algn="ctr" indent="0" marL="0">
              <a:buNone/>
            </a:pPr>
            <a:r>
              <a:rPr lang="en-US" sz="900" dirty="0">
                <a:solidFill>
                  <a:srgbClr val="4A6080"/>
                </a:solidFill>
                <a:latin typeface="Calibri" pitchFamily="34" charset="0"/>
                <a:ea typeface="Calibri" pitchFamily="34" charset="-122"/>
                <a:cs typeface="Calibri" pitchFamily="34" charset="-120"/>
              </a:rPr>
              <a:t>Ensure CLM FID (Functional ID)</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has write access to your</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Bitbucket / GitHub repositories</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Enables auto-PR creation</a:t>
            </a:r>
            <a:endParaRPr lang="en-US" sz="900" dirty="0"/>
          </a:p>
        </p:txBody>
      </p:sp>
      <p:sp>
        <p:nvSpPr>
          <p:cNvPr id="23" name="Shape 21"/>
          <p:cNvSpPr/>
          <p:nvPr/>
        </p:nvSpPr>
        <p:spPr>
          <a:xfrm>
            <a:off x="6656832" y="1344168"/>
            <a:ext cx="256032" cy="54864"/>
          </a:xfrm>
          <a:prstGeom prst="rect">
            <a:avLst/>
          </a:prstGeom>
          <a:solidFill>
            <a:srgbClr val="056DAE"/>
          </a:solidFill>
          <a:ln w="12700">
            <a:solidFill>
              <a:srgbClr val="056DAE"/>
            </a:solidFill>
            <a:prstDash val="solid"/>
          </a:ln>
        </p:spPr>
      </p:sp>
      <p:sp>
        <p:nvSpPr>
          <p:cNvPr id="24" name="Shape 22"/>
          <p:cNvSpPr/>
          <p:nvPr/>
        </p:nvSpPr>
        <p:spPr>
          <a:xfrm>
            <a:off x="6912864" y="960120"/>
            <a:ext cx="1920240" cy="2697480"/>
          </a:xfrm>
          <a:prstGeom prst="rect">
            <a:avLst/>
          </a:prstGeom>
          <a:solidFill>
            <a:srgbClr val="EBF4FB"/>
          </a:solidFill>
          <a:ln w="12700">
            <a:solidFill>
              <a:srgbClr val="D6E8F5"/>
            </a:solidFill>
            <a:prstDash val="solid"/>
          </a:ln>
          <a:effectLst>
            <a:outerShdw sx="100000" sy="100000" kx="0" ky="0" algn="bl" rotWithShape="0" blurRad="63500" dist="25400" dir="8100000">
              <a:srgbClr val="000000">
                <a:alpha val="7000"/>
              </a:srgbClr>
            </a:outerShdw>
          </a:effectLst>
        </p:spPr>
      </p:sp>
      <p:sp>
        <p:nvSpPr>
          <p:cNvPr id="25" name="Shape 23"/>
          <p:cNvSpPr/>
          <p:nvPr/>
        </p:nvSpPr>
        <p:spPr>
          <a:xfrm>
            <a:off x="7507224" y="1051560"/>
            <a:ext cx="731520" cy="731520"/>
          </a:xfrm>
          <a:prstGeom prst="ellipse">
            <a:avLst/>
          </a:prstGeom>
          <a:solidFill>
            <a:srgbClr val="003B70"/>
          </a:solidFill>
          <a:ln w="12700">
            <a:solidFill>
              <a:srgbClr val="003B70"/>
            </a:solidFill>
            <a:prstDash val="solid"/>
          </a:ln>
        </p:spPr>
      </p:sp>
      <p:sp>
        <p:nvSpPr>
          <p:cNvPr id="26" name="Text 24"/>
          <p:cNvSpPr/>
          <p:nvPr/>
        </p:nvSpPr>
        <p:spPr>
          <a:xfrm>
            <a:off x="7507224" y="1078992"/>
            <a:ext cx="73152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Text 25"/>
          <p:cNvSpPr/>
          <p:nvPr/>
        </p:nvSpPr>
        <p:spPr>
          <a:xfrm>
            <a:off x="7004304" y="1920240"/>
            <a:ext cx="1737360" cy="457200"/>
          </a:xfrm>
          <a:prstGeom prst="rect">
            <a:avLst/>
          </a:prstGeom>
          <a:noFill/>
          <a:ln/>
        </p:spPr>
        <p:txBody>
          <a:bodyPr wrap="square" lIns="0" tIns="0" rIns="0" bIns="0" rtlCol="0" anchor="ctr"/>
          <a:lstStyle/>
          <a:p>
            <a:pPr algn="ctr" indent="0" marL="0">
              <a:buNone/>
            </a:pPr>
            <a:r>
              <a:rPr lang="en-US" sz="1100" b="1" dirty="0">
                <a:solidFill>
                  <a:srgbClr val="003B70"/>
                </a:solidFill>
                <a:latin typeface="Calibri" pitchFamily="34" charset="0"/>
                <a:ea typeface="Calibri" pitchFamily="34" charset="-122"/>
                <a:cs typeface="Calibri" pitchFamily="34" charset="-120"/>
              </a:rPr>
              <a:t>CLM Activates</a:t>
            </a:r>
            <a:endParaRPr lang="en-US" sz="1100" dirty="0"/>
          </a:p>
          <a:p>
            <a:pPr algn="ctr" indent="0" marL="0">
              <a:buNone/>
            </a:pPr>
            <a:r>
              <a:rPr lang="en-US" sz="1100" b="1" dirty="0">
                <a:solidFill>
                  <a:srgbClr val="003B70"/>
                </a:solidFill>
                <a:latin typeface="Calibri" pitchFamily="34" charset="0"/>
                <a:ea typeface="Calibri" pitchFamily="34" charset="-122"/>
                <a:cs typeface="Calibri" pitchFamily="34" charset="-120"/>
              </a:rPr>
              <a:t>Scan &amp;</a:t>
            </a:r>
            <a:endParaRPr lang="en-US" sz="1100" dirty="0"/>
          </a:p>
          <a:p>
            <a:pPr algn="ctr" indent="0" marL="0">
              <a:buNone/>
            </a:pPr>
            <a:r>
              <a:rPr lang="en-US" sz="1100" b="1" dirty="0">
                <a:solidFill>
                  <a:srgbClr val="003B70"/>
                </a:solidFill>
                <a:latin typeface="Calibri" pitchFamily="34" charset="0"/>
                <a:ea typeface="Calibri" pitchFamily="34" charset="-122"/>
                <a:cs typeface="Calibri" pitchFamily="34" charset="-120"/>
              </a:rPr>
              <a:t>Monitoring</a:t>
            </a:r>
            <a:endParaRPr lang="en-US" sz="1100" dirty="0"/>
          </a:p>
        </p:txBody>
      </p:sp>
      <p:sp>
        <p:nvSpPr>
          <p:cNvPr id="28" name="Text 26"/>
          <p:cNvSpPr/>
          <p:nvPr/>
        </p:nvSpPr>
        <p:spPr>
          <a:xfrm>
            <a:off x="7004304" y="2450592"/>
            <a:ext cx="1737360" cy="1097280"/>
          </a:xfrm>
          <a:prstGeom prst="rect">
            <a:avLst/>
          </a:prstGeom>
          <a:noFill/>
          <a:ln/>
        </p:spPr>
        <p:txBody>
          <a:bodyPr wrap="square" lIns="0" tIns="0" rIns="0" bIns="0" rtlCol="0" anchor="ctr"/>
          <a:lstStyle/>
          <a:p>
            <a:pPr algn="ctr" indent="0" marL="0">
              <a:buNone/>
            </a:pPr>
            <a:r>
              <a:rPr lang="en-US" sz="900" dirty="0">
                <a:solidFill>
                  <a:srgbClr val="4A6080"/>
                </a:solidFill>
                <a:latin typeface="Calibri" pitchFamily="34" charset="0"/>
                <a:ea typeface="Calibri" pitchFamily="34" charset="-122"/>
                <a:cs typeface="Calibri" pitchFamily="34" charset="-120"/>
              </a:rPr>
              <a:t>CLM connects to NGC Vault,</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builds cert inventory, begins</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60-day SLA monitoring,</a:t>
            </a:r>
            <a:endParaRPr lang="en-US" sz="900" dirty="0"/>
          </a:p>
          <a:p>
            <a:pPr algn="ctr" indent="0" marL="0">
              <a:buNone/>
            </a:pPr>
            <a:r>
              <a:rPr lang="en-US" sz="900" dirty="0">
                <a:solidFill>
                  <a:srgbClr val="4A6080"/>
                </a:solidFill>
                <a:latin typeface="Calibri" pitchFamily="34" charset="0"/>
                <a:ea typeface="Calibri" pitchFamily="34" charset="-122"/>
                <a:cs typeface="Calibri" pitchFamily="34" charset="-120"/>
              </a:rPr>
              <a:t>starts code scanning</a:t>
            </a:r>
            <a:endParaRPr lang="en-US" sz="900" dirty="0"/>
          </a:p>
        </p:txBody>
      </p:sp>
      <p:sp>
        <p:nvSpPr>
          <p:cNvPr id="29" name="Shape 27"/>
          <p:cNvSpPr/>
          <p:nvPr/>
        </p:nvSpPr>
        <p:spPr>
          <a:xfrm>
            <a:off x="274320" y="3776472"/>
            <a:ext cx="8595360" cy="310896"/>
          </a:xfrm>
          <a:prstGeom prst="rect">
            <a:avLst/>
          </a:prstGeom>
          <a:solidFill>
            <a:srgbClr val="003B70"/>
          </a:solidFill>
          <a:ln w="12700">
            <a:solidFill>
              <a:srgbClr val="003B70"/>
            </a:solidFill>
            <a:prstDash val="solid"/>
          </a:ln>
        </p:spPr>
      </p:sp>
      <p:sp>
        <p:nvSpPr>
          <p:cNvPr id="30" name="Text 28"/>
          <p:cNvSpPr/>
          <p:nvPr/>
        </p:nvSpPr>
        <p:spPr>
          <a:xfrm>
            <a:off x="402336" y="3803904"/>
            <a:ext cx="83210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Critical fields — get these right before starting:</a:t>
            </a:r>
            <a:endParaRPr lang="en-US" sz="1100" dirty="0"/>
          </a:p>
        </p:txBody>
      </p:sp>
      <p:sp>
        <p:nvSpPr>
          <p:cNvPr id="31" name="Shape 29"/>
          <p:cNvSpPr/>
          <p:nvPr/>
        </p:nvSpPr>
        <p:spPr>
          <a:xfrm>
            <a:off x="274320" y="4151376"/>
            <a:ext cx="8595360" cy="182880"/>
          </a:xfrm>
          <a:prstGeom prst="rect">
            <a:avLst/>
          </a:prstGeom>
          <a:solidFill>
            <a:srgbClr val="EBF4FB"/>
          </a:solidFill>
          <a:ln w="3810">
            <a:solidFill>
              <a:srgbClr val="E2E8F0"/>
            </a:solidFill>
            <a:prstDash val="solid"/>
          </a:ln>
        </p:spPr>
      </p:sp>
      <p:sp>
        <p:nvSpPr>
          <p:cNvPr id="32" name="Shape 30"/>
          <p:cNvSpPr/>
          <p:nvPr/>
        </p:nvSpPr>
        <p:spPr>
          <a:xfrm>
            <a:off x="274320" y="4178808"/>
            <a:ext cx="1463040" cy="146304"/>
          </a:xfrm>
          <a:prstGeom prst="rect">
            <a:avLst/>
          </a:prstGeom>
          <a:solidFill>
            <a:srgbClr val="C8102E">
              <a:alpha val="12000"/>
            </a:srgbClr>
          </a:solidFill>
          <a:ln w="12700">
            <a:solidFill>
              <a:srgbClr val="C8102E"/>
            </a:solidFill>
            <a:prstDash val="solid"/>
          </a:ln>
        </p:spPr>
      </p:sp>
      <p:sp>
        <p:nvSpPr>
          <p:cNvPr id="33" name="Text 31"/>
          <p:cNvSpPr/>
          <p:nvPr/>
        </p:nvSpPr>
        <p:spPr>
          <a:xfrm>
            <a:off x="274320" y="4178808"/>
            <a:ext cx="1463040" cy="146304"/>
          </a:xfrm>
          <a:prstGeom prst="rect">
            <a:avLst/>
          </a:prstGeom>
          <a:noFill/>
          <a:ln/>
        </p:spPr>
        <p:txBody>
          <a:bodyPr wrap="square" lIns="0" tIns="0" rIns="0" bIns="0" rtlCol="0" anchor="ctr"/>
          <a:lstStyle/>
          <a:p>
            <a:pPr algn="ctr" indent="0" marL="0">
              <a:buNone/>
            </a:pPr>
            <a:r>
              <a:rPr lang="en-US" sz="750" b="1" dirty="0">
                <a:solidFill>
                  <a:srgbClr val="C8102E"/>
                </a:solidFill>
                <a:latin typeface="Calibri" pitchFamily="34" charset="0"/>
                <a:ea typeface="Calibri" pitchFamily="34" charset="-122"/>
                <a:cs typeface="Calibri" pitchFamily="34" charset="-120"/>
              </a:rPr>
              <a:t>Required</a:t>
            </a:r>
            <a:endParaRPr lang="en-US" sz="750" dirty="0"/>
          </a:p>
        </p:txBody>
      </p:sp>
      <p:sp>
        <p:nvSpPr>
          <p:cNvPr id="34" name="Text 32"/>
          <p:cNvSpPr/>
          <p:nvPr/>
        </p:nvSpPr>
        <p:spPr>
          <a:xfrm>
            <a:off x="1828800" y="4178808"/>
            <a:ext cx="1828800" cy="146304"/>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SNOW DL</a:t>
            </a:r>
            <a:endParaRPr lang="en-US" sz="950" dirty="0"/>
          </a:p>
        </p:txBody>
      </p:sp>
      <p:sp>
        <p:nvSpPr>
          <p:cNvPr id="35" name="Text 33"/>
          <p:cNvSpPr/>
          <p:nvPr/>
        </p:nvSpPr>
        <p:spPr>
          <a:xfrm>
            <a:off x="3749040" y="4178808"/>
            <a:ext cx="5029200" cy="146304"/>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CR for certificate deployment assigned here. Wrong DL = missed deployments.</a:t>
            </a:r>
            <a:endParaRPr lang="en-US" sz="900" dirty="0"/>
          </a:p>
        </p:txBody>
      </p:sp>
      <p:sp>
        <p:nvSpPr>
          <p:cNvPr id="36" name="Shape 34"/>
          <p:cNvSpPr/>
          <p:nvPr/>
        </p:nvSpPr>
        <p:spPr>
          <a:xfrm>
            <a:off x="274320" y="4352544"/>
            <a:ext cx="8595360" cy="182880"/>
          </a:xfrm>
          <a:prstGeom prst="rect">
            <a:avLst/>
          </a:prstGeom>
          <a:solidFill>
            <a:srgbClr val="FFFFFF"/>
          </a:solidFill>
          <a:ln w="3810">
            <a:solidFill>
              <a:srgbClr val="E2E8F0"/>
            </a:solidFill>
            <a:prstDash val="solid"/>
          </a:ln>
        </p:spPr>
      </p:sp>
      <p:sp>
        <p:nvSpPr>
          <p:cNvPr id="37" name="Shape 35"/>
          <p:cNvSpPr/>
          <p:nvPr/>
        </p:nvSpPr>
        <p:spPr>
          <a:xfrm>
            <a:off x="274320" y="4379976"/>
            <a:ext cx="1463040" cy="146304"/>
          </a:xfrm>
          <a:prstGeom prst="rect">
            <a:avLst/>
          </a:prstGeom>
          <a:solidFill>
            <a:srgbClr val="C8102E">
              <a:alpha val="12000"/>
            </a:srgbClr>
          </a:solidFill>
          <a:ln w="12700">
            <a:solidFill>
              <a:srgbClr val="C8102E"/>
            </a:solidFill>
            <a:prstDash val="solid"/>
          </a:ln>
        </p:spPr>
      </p:sp>
      <p:sp>
        <p:nvSpPr>
          <p:cNvPr id="38" name="Text 36"/>
          <p:cNvSpPr/>
          <p:nvPr/>
        </p:nvSpPr>
        <p:spPr>
          <a:xfrm>
            <a:off x="274320" y="4379976"/>
            <a:ext cx="1463040" cy="146304"/>
          </a:xfrm>
          <a:prstGeom prst="rect">
            <a:avLst/>
          </a:prstGeom>
          <a:noFill/>
          <a:ln/>
        </p:spPr>
        <p:txBody>
          <a:bodyPr wrap="square" lIns="0" tIns="0" rIns="0" bIns="0" rtlCol="0" anchor="ctr"/>
          <a:lstStyle/>
          <a:p>
            <a:pPr algn="ctr" indent="0" marL="0">
              <a:buNone/>
            </a:pPr>
            <a:r>
              <a:rPr lang="en-US" sz="750" b="1" dirty="0">
                <a:solidFill>
                  <a:srgbClr val="C8102E"/>
                </a:solidFill>
                <a:latin typeface="Calibri" pitchFamily="34" charset="0"/>
                <a:ea typeface="Calibri" pitchFamily="34" charset="-122"/>
                <a:cs typeface="Calibri" pitchFamily="34" charset="-120"/>
              </a:rPr>
              <a:t>Required</a:t>
            </a:r>
            <a:endParaRPr lang="en-US" sz="750" dirty="0"/>
          </a:p>
        </p:txBody>
      </p:sp>
      <p:sp>
        <p:nvSpPr>
          <p:cNvPr id="39" name="Text 37"/>
          <p:cNvSpPr/>
          <p:nvPr/>
        </p:nvSpPr>
        <p:spPr>
          <a:xfrm>
            <a:off x="1828800" y="4379976"/>
            <a:ext cx="1828800" cy="146304"/>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Primary Contact SOEID</a:t>
            </a:r>
            <a:endParaRPr lang="en-US" sz="950" dirty="0"/>
          </a:p>
        </p:txBody>
      </p:sp>
      <p:sp>
        <p:nvSpPr>
          <p:cNvPr id="40" name="Text 38"/>
          <p:cNvSpPr/>
          <p:nvPr/>
        </p:nvSpPr>
        <p:spPr>
          <a:xfrm>
            <a:off x="3749040" y="4379976"/>
            <a:ext cx="5029200" cy="146304"/>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All CMP certificate procurements and CRs are raised to this SOEID.</a:t>
            </a:r>
            <a:endParaRPr lang="en-US" sz="900" dirty="0"/>
          </a:p>
        </p:txBody>
      </p:sp>
      <p:sp>
        <p:nvSpPr>
          <p:cNvPr id="41" name="Shape 39"/>
          <p:cNvSpPr/>
          <p:nvPr/>
        </p:nvSpPr>
        <p:spPr>
          <a:xfrm>
            <a:off x="274320" y="4553712"/>
            <a:ext cx="8595360" cy="182880"/>
          </a:xfrm>
          <a:prstGeom prst="rect">
            <a:avLst/>
          </a:prstGeom>
          <a:solidFill>
            <a:srgbClr val="EBF4FB"/>
          </a:solidFill>
          <a:ln w="3810">
            <a:solidFill>
              <a:srgbClr val="E2E8F0"/>
            </a:solidFill>
            <a:prstDash val="solid"/>
          </a:ln>
        </p:spPr>
      </p:sp>
      <p:sp>
        <p:nvSpPr>
          <p:cNvPr id="42" name="Shape 40"/>
          <p:cNvSpPr/>
          <p:nvPr/>
        </p:nvSpPr>
        <p:spPr>
          <a:xfrm>
            <a:off x="274320" y="4581144"/>
            <a:ext cx="1463040" cy="146304"/>
          </a:xfrm>
          <a:prstGeom prst="rect">
            <a:avLst/>
          </a:prstGeom>
          <a:solidFill>
            <a:srgbClr val="7C5C00">
              <a:alpha val="12000"/>
            </a:srgbClr>
          </a:solidFill>
          <a:ln w="12700">
            <a:solidFill>
              <a:srgbClr val="7C5C00"/>
            </a:solidFill>
            <a:prstDash val="solid"/>
          </a:ln>
        </p:spPr>
      </p:sp>
      <p:sp>
        <p:nvSpPr>
          <p:cNvPr id="43" name="Text 41"/>
          <p:cNvSpPr/>
          <p:nvPr/>
        </p:nvSpPr>
        <p:spPr>
          <a:xfrm>
            <a:off x="274320" y="4581144"/>
            <a:ext cx="1463040" cy="146304"/>
          </a:xfrm>
          <a:prstGeom prst="rect">
            <a:avLst/>
          </a:prstGeom>
          <a:noFill/>
          <a:ln/>
        </p:spPr>
        <p:txBody>
          <a:bodyPr wrap="square" lIns="0" tIns="0" rIns="0" bIns="0" rtlCol="0" anchor="ctr"/>
          <a:lstStyle/>
          <a:p>
            <a:pPr algn="ctr" indent="0" marL="0">
              <a:buNone/>
            </a:pPr>
            <a:r>
              <a:rPr lang="en-US" sz="750" b="1" dirty="0">
                <a:solidFill>
                  <a:srgbClr val="7C5C00"/>
                </a:solidFill>
                <a:latin typeface="Calibri" pitchFamily="34" charset="0"/>
                <a:ea typeface="Calibri" pitchFamily="34" charset="-122"/>
                <a:cs typeface="Calibri" pitchFamily="34" charset="-120"/>
              </a:rPr>
              <a:t>Required for Containers</a:t>
            </a:r>
            <a:endParaRPr lang="en-US" sz="750" dirty="0"/>
          </a:p>
        </p:txBody>
      </p:sp>
      <p:sp>
        <p:nvSpPr>
          <p:cNvPr id="44" name="Text 42"/>
          <p:cNvSpPr/>
          <p:nvPr/>
        </p:nvSpPr>
        <p:spPr>
          <a:xfrm>
            <a:off x="1828800" y="4581144"/>
            <a:ext cx="1828800" cy="146304"/>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Bitbucket/GitHub URL</a:t>
            </a:r>
            <a:endParaRPr lang="en-US" sz="950" dirty="0"/>
          </a:p>
        </p:txBody>
      </p:sp>
      <p:sp>
        <p:nvSpPr>
          <p:cNvPr id="45" name="Text 43"/>
          <p:cNvSpPr/>
          <p:nvPr/>
        </p:nvSpPr>
        <p:spPr>
          <a:xfrm>
            <a:off x="3749040" y="4581144"/>
            <a:ext cx="5029200" cy="146304"/>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Without this, CLM cannot scan your repositories. Impact assessment will be incomplete.</a:t>
            </a:r>
            <a:endParaRPr lang="en-US" sz="900" dirty="0"/>
          </a:p>
        </p:txBody>
      </p:sp>
      <p:sp>
        <p:nvSpPr>
          <p:cNvPr id="46" name="Shape 44"/>
          <p:cNvSpPr/>
          <p:nvPr/>
        </p:nvSpPr>
        <p:spPr>
          <a:xfrm>
            <a:off x="274320" y="4754880"/>
            <a:ext cx="8595360" cy="182880"/>
          </a:xfrm>
          <a:prstGeom prst="rect">
            <a:avLst/>
          </a:prstGeom>
          <a:solidFill>
            <a:srgbClr val="FFFFFF"/>
          </a:solidFill>
          <a:ln w="3810">
            <a:solidFill>
              <a:srgbClr val="E2E8F0"/>
            </a:solidFill>
            <a:prstDash val="solid"/>
          </a:ln>
        </p:spPr>
      </p:sp>
      <p:sp>
        <p:nvSpPr>
          <p:cNvPr id="47" name="Shape 45"/>
          <p:cNvSpPr/>
          <p:nvPr/>
        </p:nvSpPr>
        <p:spPr>
          <a:xfrm>
            <a:off x="274320" y="4782312"/>
            <a:ext cx="1463040" cy="146304"/>
          </a:xfrm>
          <a:prstGeom prst="rect">
            <a:avLst/>
          </a:prstGeom>
          <a:solidFill>
            <a:srgbClr val="7C5C00">
              <a:alpha val="12000"/>
            </a:srgbClr>
          </a:solidFill>
          <a:ln w="12700">
            <a:solidFill>
              <a:srgbClr val="7C5C00"/>
            </a:solidFill>
            <a:prstDash val="solid"/>
          </a:ln>
        </p:spPr>
      </p:sp>
      <p:sp>
        <p:nvSpPr>
          <p:cNvPr id="48" name="Text 46"/>
          <p:cNvSpPr/>
          <p:nvPr/>
        </p:nvSpPr>
        <p:spPr>
          <a:xfrm>
            <a:off x="274320" y="4782312"/>
            <a:ext cx="1463040" cy="146304"/>
          </a:xfrm>
          <a:prstGeom prst="rect">
            <a:avLst/>
          </a:prstGeom>
          <a:noFill/>
          <a:ln/>
        </p:spPr>
        <p:txBody>
          <a:bodyPr wrap="square" lIns="0" tIns="0" rIns="0" bIns="0" rtlCol="0" anchor="ctr"/>
          <a:lstStyle/>
          <a:p>
            <a:pPr algn="ctr" indent="0" marL="0">
              <a:buNone/>
            </a:pPr>
            <a:r>
              <a:rPr lang="en-US" sz="750" b="1" dirty="0">
                <a:solidFill>
                  <a:srgbClr val="7C5C00"/>
                </a:solidFill>
                <a:latin typeface="Calibri" pitchFamily="34" charset="0"/>
                <a:ea typeface="Calibri" pitchFamily="34" charset="-122"/>
                <a:cs typeface="Calibri" pitchFamily="34" charset="-120"/>
              </a:rPr>
              <a:t>Required for Auto-PR</a:t>
            </a:r>
            <a:endParaRPr lang="en-US" sz="750" dirty="0"/>
          </a:p>
        </p:txBody>
      </p:sp>
      <p:sp>
        <p:nvSpPr>
          <p:cNvPr id="49" name="Text 47"/>
          <p:cNvSpPr/>
          <p:nvPr/>
        </p:nvSpPr>
        <p:spPr>
          <a:xfrm>
            <a:off x="1828800" y="4782312"/>
            <a:ext cx="1828800" cy="146304"/>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FID Write Access</a:t>
            </a:r>
            <a:endParaRPr lang="en-US" sz="950" dirty="0"/>
          </a:p>
        </p:txBody>
      </p:sp>
      <p:sp>
        <p:nvSpPr>
          <p:cNvPr id="50" name="Text 48"/>
          <p:cNvSpPr/>
          <p:nvPr/>
        </p:nvSpPr>
        <p:spPr>
          <a:xfrm>
            <a:off x="3749040" y="4782312"/>
            <a:ext cx="5029200" cy="146304"/>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CLM FID must have write access to repos. Without this, automated PR creation fails — manual fallback only.</a:t>
            </a:r>
            <a:endParaRPr lang="en-US" sz="900" dirty="0"/>
          </a:p>
        </p:txBody>
      </p:sp>
      <p:sp>
        <p:nvSpPr>
          <p:cNvPr id="51" name="Shape 49"/>
          <p:cNvSpPr/>
          <p:nvPr/>
        </p:nvSpPr>
        <p:spPr>
          <a:xfrm>
            <a:off x="274320" y="4956048"/>
            <a:ext cx="8595360" cy="182880"/>
          </a:xfrm>
          <a:prstGeom prst="rect">
            <a:avLst/>
          </a:prstGeom>
          <a:solidFill>
            <a:srgbClr val="EBF4FB"/>
          </a:solidFill>
          <a:ln w="3810">
            <a:solidFill>
              <a:srgbClr val="E2E8F0"/>
            </a:solidFill>
            <a:prstDash val="solid"/>
          </a:ln>
        </p:spPr>
      </p:sp>
      <p:sp>
        <p:nvSpPr>
          <p:cNvPr id="52" name="Shape 50"/>
          <p:cNvSpPr/>
          <p:nvPr/>
        </p:nvSpPr>
        <p:spPr>
          <a:xfrm>
            <a:off x="274320" y="4983480"/>
            <a:ext cx="1463040" cy="146304"/>
          </a:xfrm>
          <a:prstGeom prst="rect">
            <a:avLst/>
          </a:prstGeom>
          <a:solidFill>
            <a:srgbClr val="1A6632">
              <a:alpha val="12000"/>
            </a:srgbClr>
          </a:solidFill>
          <a:ln w="12700">
            <a:solidFill>
              <a:srgbClr val="1A6632"/>
            </a:solidFill>
            <a:prstDash val="solid"/>
          </a:ln>
        </p:spPr>
      </p:sp>
      <p:sp>
        <p:nvSpPr>
          <p:cNvPr id="53" name="Text 51"/>
          <p:cNvSpPr/>
          <p:nvPr/>
        </p:nvSpPr>
        <p:spPr>
          <a:xfrm>
            <a:off x="274320" y="4983480"/>
            <a:ext cx="1463040" cy="146304"/>
          </a:xfrm>
          <a:prstGeom prst="rect">
            <a:avLst/>
          </a:prstGeom>
          <a:noFill/>
          <a:ln/>
        </p:spPr>
        <p:txBody>
          <a:bodyPr wrap="square" lIns="0" tIns="0" rIns="0" bIns="0" rtlCol="0" anchor="ctr"/>
          <a:lstStyle/>
          <a:p>
            <a:pPr algn="ctr" indent="0" marL="0">
              <a:buNone/>
            </a:pPr>
            <a:r>
              <a:rPr lang="en-US" sz="750" b="1" dirty="0">
                <a:solidFill>
                  <a:srgbClr val="1A6632"/>
                </a:solidFill>
                <a:latin typeface="Calibri" pitchFamily="34" charset="0"/>
                <a:ea typeface="Calibri" pitchFamily="34" charset="-122"/>
                <a:cs typeface="Calibri" pitchFamily="34" charset="-120"/>
              </a:rPr>
              <a:t>Recommended</a:t>
            </a:r>
            <a:endParaRPr lang="en-US" sz="750" dirty="0"/>
          </a:p>
        </p:txBody>
      </p:sp>
      <p:sp>
        <p:nvSpPr>
          <p:cNvPr id="54" name="Text 52"/>
          <p:cNvSpPr/>
          <p:nvPr/>
        </p:nvSpPr>
        <p:spPr>
          <a:xfrm>
            <a:off x="1828800" y="4983480"/>
            <a:ext cx="1828800" cy="146304"/>
          </a:xfrm>
          <a:prstGeom prst="rect">
            <a:avLst/>
          </a:prstGeom>
          <a:noFill/>
          <a:ln/>
        </p:spPr>
        <p:txBody>
          <a:bodyPr wrap="square" lIns="0" tIns="0" rIns="0" bIns="0" rtlCol="0" anchor="ctr"/>
          <a:lstStyle/>
          <a:p>
            <a:pPr indent="0" marL="0">
              <a:buNone/>
            </a:pPr>
            <a:r>
              <a:rPr lang="en-US" sz="950" b="1" dirty="0">
                <a:solidFill>
                  <a:srgbClr val="003B70"/>
                </a:solidFill>
                <a:latin typeface="Calibri" pitchFamily="34" charset="0"/>
                <a:ea typeface="Calibri" pitchFamily="34" charset="-122"/>
                <a:cs typeface="Calibri" pitchFamily="34" charset="-120"/>
              </a:rPr>
              <a:t>Notification Emails</a:t>
            </a:r>
            <a:endParaRPr lang="en-US" sz="950" dirty="0"/>
          </a:p>
        </p:txBody>
      </p:sp>
      <p:sp>
        <p:nvSpPr>
          <p:cNvPr id="55" name="Text 53"/>
          <p:cNvSpPr/>
          <p:nvPr/>
        </p:nvSpPr>
        <p:spPr>
          <a:xfrm>
            <a:off x="3749040" y="4983480"/>
            <a:ext cx="5029200" cy="146304"/>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Add DLs for stakeholders who should receive all 11 notification types.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How CLM for Containers Measures Against Ideal State</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Honest, transparent assessment — what is achieved, what is partial, and the path forward</a:t>
            </a:r>
            <a:endParaRPr lang="en-US" sz="1050" dirty="0"/>
          </a:p>
        </p:txBody>
      </p:sp>
      <p:sp>
        <p:nvSpPr>
          <p:cNvPr id="6" name="Shape 4"/>
          <p:cNvSpPr/>
          <p:nvPr/>
        </p:nvSpPr>
        <p:spPr>
          <a:xfrm>
            <a:off x="274320" y="868680"/>
            <a:ext cx="2331720" cy="310896"/>
          </a:xfrm>
          <a:prstGeom prst="rect">
            <a:avLst/>
          </a:prstGeom>
          <a:solidFill>
            <a:srgbClr val="003B70"/>
          </a:solidFill>
          <a:ln w="12700">
            <a:solidFill>
              <a:srgbClr val="003B70"/>
            </a:solidFill>
            <a:prstDash val="solid"/>
          </a:ln>
        </p:spPr>
      </p:sp>
      <p:sp>
        <p:nvSpPr>
          <p:cNvPr id="7" name="Text 5"/>
          <p:cNvSpPr/>
          <p:nvPr/>
        </p:nvSpPr>
        <p:spPr>
          <a:xfrm>
            <a:off x="329184" y="886968"/>
            <a:ext cx="2258568"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Pillar</a:t>
            </a:r>
            <a:endParaRPr lang="en-US" sz="1050" dirty="0"/>
          </a:p>
        </p:txBody>
      </p:sp>
      <p:sp>
        <p:nvSpPr>
          <p:cNvPr id="8" name="Shape 6"/>
          <p:cNvSpPr/>
          <p:nvPr/>
        </p:nvSpPr>
        <p:spPr>
          <a:xfrm>
            <a:off x="2651760" y="868680"/>
            <a:ext cx="1078992" cy="310896"/>
          </a:xfrm>
          <a:prstGeom prst="rect">
            <a:avLst/>
          </a:prstGeom>
          <a:solidFill>
            <a:srgbClr val="003B70"/>
          </a:solidFill>
          <a:ln w="12700">
            <a:solidFill>
              <a:srgbClr val="003B70"/>
            </a:solidFill>
            <a:prstDash val="solid"/>
          </a:ln>
        </p:spPr>
      </p:sp>
      <p:sp>
        <p:nvSpPr>
          <p:cNvPr id="9" name="Text 7"/>
          <p:cNvSpPr/>
          <p:nvPr/>
        </p:nvSpPr>
        <p:spPr>
          <a:xfrm>
            <a:off x="2706624" y="886968"/>
            <a:ext cx="100584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p>
        </p:txBody>
      </p:sp>
      <p:sp>
        <p:nvSpPr>
          <p:cNvPr id="10" name="Shape 8"/>
          <p:cNvSpPr/>
          <p:nvPr/>
        </p:nvSpPr>
        <p:spPr>
          <a:xfrm>
            <a:off x="3767328" y="868680"/>
            <a:ext cx="5138928" cy="310896"/>
          </a:xfrm>
          <a:prstGeom prst="rect">
            <a:avLst/>
          </a:prstGeom>
          <a:solidFill>
            <a:srgbClr val="003B70"/>
          </a:solidFill>
          <a:ln w="12700">
            <a:solidFill>
              <a:srgbClr val="003B70"/>
            </a:solidFill>
            <a:prstDash val="solid"/>
          </a:ln>
        </p:spPr>
      </p:sp>
      <p:sp>
        <p:nvSpPr>
          <p:cNvPr id="11" name="Text 9"/>
          <p:cNvSpPr/>
          <p:nvPr/>
        </p:nvSpPr>
        <p:spPr>
          <a:xfrm>
            <a:off x="3822192" y="886968"/>
            <a:ext cx="5065776"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Notes — Container</a:t>
            </a:r>
            <a:endParaRPr lang="en-US" sz="1050" dirty="0"/>
          </a:p>
        </p:txBody>
      </p:sp>
      <p:sp>
        <p:nvSpPr>
          <p:cNvPr id="12" name="Shape 10"/>
          <p:cNvSpPr/>
          <p:nvPr/>
        </p:nvSpPr>
        <p:spPr>
          <a:xfrm>
            <a:off x="274320" y="1225296"/>
            <a:ext cx="8631936" cy="594360"/>
          </a:xfrm>
          <a:prstGeom prst="rect">
            <a:avLst/>
          </a:prstGeom>
          <a:solidFill>
            <a:srgbClr val="FFFFFF"/>
          </a:solidFill>
          <a:ln w="3810">
            <a:solidFill>
              <a:srgbClr val="E2E8F0"/>
            </a:solidFill>
            <a:prstDash val="solid"/>
          </a:ln>
        </p:spPr>
      </p:sp>
      <p:sp>
        <p:nvSpPr>
          <p:cNvPr id="13" name="Text 11"/>
          <p:cNvSpPr/>
          <p:nvPr/>
        </p:nvSpPr>
        <p:spPr>
          <a:xfrm>
            <a:off x="384048" y="1380744"/>
            <a:ext cx="2148840" cy="274320"/>
          </a:xfrm>
          <a:prstGeom prst="rect">
            <a:avLst/>
          </a:prstGeom>
          <a:noFill/>
          <a:ln/>
        </p:spPr>
        <p:txBody>
          <a:bodyPr wrap="square" lIns="0" tIns="0" rIns="0" bIns="0" rtlCol="0" anchor="ctr"/>
          <a:lstStyle/>
          <a:p>
            <a:pPr indent="0" marL="0">
              <a:buNone/>
            </a:pPr>
            <a:r>
              <a:rPr lang="en-US" sz="1100" b="1" dirty="0">
                <a:solidFill>
                  <a:srgbClr val="003B70"/>
                </a:solidFill>
                <a:latin typeface="Calibri" pitchFamily="34" charset="0"/>
                <a:ea typeface="Calibri" pitchFamily="34" charset="-122"/>
                <a:cs typeface="Calibri" pitchFamily="34" charset="-120"/>
              </a:rPr>
              <a:t>Full Visibility</a:t>
            </a:r>
            <a:endParaRPr lang="en-US" sz="1100" dirty="0"/>
          </a:p>
        </p:txBody>
      </p:sp>
      <p:sp>
        <p:nvSpPr>
          <p:cNvPr id="14" name="Shape 12"/>
          <p:cNvSpPr/>
          <p:nvPr/>
        </p:nvSpPr>
        <p:spPr>
          <a:xfrm>
            <a:off x="2743200" y="1371600"/>
            <a:ext cx="914400" cy="274320"/>
          </a:xfrm>
          <a:prstGeom prst="rect">
            <a:avLst/>
          </a:prstGeom>
          <a:solidFill>
            <a:srgbClr val="EBF7EE"/>
          </a:solidFill>
          <a:ln w="12700">
            <a:solidFill>
              <a:srgbClr val="9AE6B4"/>
            </a:solidFill>
            <a:prstDash val="solid"/>
          </a:ln>
        </p:spPr>
      </p:sp>
      <p:sp>
        <p:nvSpPr>
          <p:cNvPr id="15" name="Text 13"/>
          <p:cNvSpPr/>
          <p:nvPr/>
        </p:nvSpPr>
        <p:spPr>
          <a:xfrm>
            <a:off x="2743200" y="1371600"/>
            <a:ext cx="914400" cy="274320"/>
          </a:xfrm>
          <a:prstGeom prst="rect">
            <a:avLst/>
          </a:prstGeom>
          <a:noFill/>
          <a:ln/>
        </p:spPr>
        <p:txBody>
          <a:bodyPr wrap="square" lIns="0" tIns="0" rIns="0" bIns="0" rtlCol="0" anchor="ctr"/>
          <a:lstStyle/>
          <a:p>
            <a:pPr algn="ctr" indent="0" marL="0">
              <a:buNone/>
            </a:pPr>
            <a:r>
              <a:rPr lang="en-US" sz="950" b="1" dirty="0">
                <a:solidFill>
                  <a:srgbClr val="1A6632"/>
                </a:solidFill>
                <a:latin typeface="Calibri" pitchFamily="34" charset="0"/>
                <a:ea typeface="Calibri" pitchFamily="34" charset="-122"/>
                <a:cs typeface="Calibri" pitchFamily="34" charset="-120"/>
              </a:rPr>
              <a:t>Achieved</a:t>
            </a:r>
            <a:endParaRPr lang="en-US" sz="950" dirty="0"/>
          </a:p>
        </p:txBody>
      </p:sp>
      <p:sp>
        <p:nvSpPr>
          <p:cNvPr id="16" name="Text 14"/>
          <p:cNvSpPr/>
          <p:nvPr/>
        </p:nvSpPr>
        <p:spPr>
          <a:xfrm>
            <a:off x="3840480" y="1298448"/>
            <a:ext cx="4983480" cy="457200"/>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Centralised discovery from NGC Vault. All certs stored in NGC Vault with Order ID/Nickname inventoried continuously. Certs embedded in YAML or scripts are outside CLM visibility.</a:t>
            </a:r>
            <a:endParaRPr lang="en-US" sz="900" dirty="0"/>
          </a:p>
        </p:txBody>
      </p:sp>
      <p:sp>
        <p:nvSpPr>
          <p:cNvPr id="17" name="Shape 15"/>
          <p:cNvSpPr/>
          <p:nvPr/>
        </p:nvSpPr>
        <p:spPr>
          <a:xfrm>
            <a:off x="274320" y="1865376"/>
            <a:ext cx="8631936" cy="594360"/>
          </a:xfrm>
          <a:prstGeom prst="rect">
            <a:avLst/>
          </a:prstGeom>
          <a:solidFill>
            <a:srgbClr val="F5F8FC"/>
          </a:solidFill>
          <a:ln w="3810">
            <a:solidFill>
              <a:srgbClr val="E2E8F0"/>
            </a:solidFill>
            <a:prstDash val="solid"/>
          </a:ln>
        </p:spPr>
      </p:sp>
      <p:sp>
        <p:nvSpPr>
          <p:cNvPr id="18" name="Text 16"/>
          <p:cNvSpPr/>
          <p:nvPr/>
        </p:nvSpPr>
        <p:spPr>
          <a:xfrm>
            <a:off x="384048" y="2020824"/>
            <a:ext cx="2148840" cy="274320"/>
          </a:xfrm>
          <a:prstGeom prst="rect">
            <a:avLst/>
          </a:prstGeom>
          <a:noFill/>
          <a:ln/>
        </p:spPr>
        <p:txBody>
          <a:bodyPr wrap="square" lIns="0" tIns="0" rIns="0" bIns="0" rtlCol="0" anchor="ctr"/>
          <a:lstStyle/>
          <a:p>
            <a:pPr indent="0" marL="0">
              <a:buNone/>
            </a:pPr>
            <a:r>
              <a:rPr lang="en-US" sz="1100" b="1" dirty="0">
                <a:solidFill>
                  <a:srgbClr val="003B70"/>
                </a:solidFill>
                <a:latin typeface="Calibri" pitchFamily="34" charset="0"/>
                <a:ea typeface="Calibri" pitchFamily="34" charset="-122"/>
                <a:cs typeface="Calibri" pitchFamily="34" charset="-120"/>
              </a:rPr>
              <a:t>Zero-Touch Renewal</a:t>
            </a:r>
            <a:endParaRPr lang="en-US" sz="1100" dirty="0"/>
          </a:p>
        </p:txBody>
      </p:sp>
      <p:sp>
        <p:nvSpPr>
          <p:cNvPr id="19" name="Shape 17"/>
          <p:cNvSpPr/>
          <p:nvPr/>
        </p:nvSpPr>
        <p:spPr>
          <a:xfrm>
            <a:off x="2743200" y="2011680"/>
            <a:ext cx="914400" cy="274320"/>
          </a:xfrm>
          <a:prstGeom prst="rect">
            <a:avLst/>
          </a:prstGeom>
          <a:solidFill>
            <a:srgbClr val="EBF7EE"/>
          </a:solidFill>
          <a:ln w="12700">
            <a:solidFill>
              <a:srgbClr val="9AE6B4"/>
            </a:solidFill>
            <a:prstDash val="solid"/>
          </a:ln>
        </p:spPr>
      </p:sp>
      <p:sp>
        <p:nvSpPr>
          <p:cNvPr id="20" name="Text 18"/>
          <p:cNvSpPr/>
          <p:nvPr/>
        </p:nvSpPr>
        <p:spPr>
          <a:xfrm>
            <a:off x="2743200" y="2011680"/>
            <a:ext cx="914400" cy="274320"/>
          </a:xfrm>
          <a:prstGeom prst="rect">
            <a:avLst/>
          </a:prstGeom>
          <a:noFill/>
          <a:ln/>
        </p:spPr>
        <p:txBody>
          <a:bodyPr wrap="square" lIns="0" tIns="0" rIns="0" bIns="0" rtlCol="0" anchor="ctr"/>
          <a:lstStyle/>
          <a:p>
            <a:pPr algn="ctr" indent="0" marL="0">
              <a:buNone/>
            </a:pPr>
            <a:r>
              <a:rPr lang="en-US" sz="950" b="1" dirty="0">
                <a:solidFill>
                  <a:srgbClr val="1A6632"/>
                </a:solidFill>
                <a:latin typeface="Calibri" pitchFamily="34" charset="0"/>
                <a:ea typeface="Calibri" pitchFamily="34" charset="-122"/>
                <a:cs typeface="Calibri" pitchFamily="34" charset="-120"/>
              </a:rPr>
              <a:t>Achieved</a:t>
            </a:r>
            <a:endParaRPr lang="en-US" sz="950" dirty="0"/>
          </a:p>
        </p:txBody>
      </p:sp>
      <p:sp>
        <p:nvSpPr>
          <p:cNvPr id="21" name="Text 19"/>
          <p:cNvSpPr/>
          <p:nvPr/>
        </p:nvSpPr>
        <p:spPr>
          <a:xfrm>
            <a:off x="3840480" y="1938528"/>
            <a:ext cx="4983480" cy="457200"/>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60-day SLA auto-renewal for all NGC Vault certificates. Code reference updated automatically via PR if FID has write access. Fully automated end-to-end.</a:t>
            </a:r>
            <a:endParaRPr lang="en-US" sz="900" dirty="0"/>
          </a:p>
        </p:txBody>
      </p:sp>
      <p:sp>
        <p:nvSpPr>
          <p:cNvPr id="22" name="Shape 20"/>
          <p:cNvSpPr/>
          <p:nvPr/>
        </p:nvSpPr>
        <p:spPr>
          <a:xfrm>
            <a:off x="274320" y="2505456"/>
            <a:ext cx="8631936" cy="594360"/>
          </a:xfrm>
          <a:prstGeom prst="rect">
            <a:avLst/>
          </a:prstGeom>
          <a:solidFill>
            <a:srgbClr val="FFFFFF"/>
          </a:solidFill>
          <a:ln w="3810">
            <a:solidFill>
              <a:srgbClr val="E2E8F0"/>
            </a:solidFill>
            <a:prstDash val="solid"/>
          </a:ln>
        </p:spPr>
      </p:sp>
      <p:sp>
        <p:nvSpPr>
          <p:cNvPr id="23" name="Text 21"/>
          <p:cNvSpPr/>
          <p:nvPr/>
        </p:nvSpPr>
        <p:spPr>
          <a:xfrm>
            <a:off x="384048" y="2660904"/>
            <a:ext cx="2148840" cy="274320"/>
          </a:xfrm>
          <a:prstGeom prst="rect">
            <a:avLst/>
          </a:prstGeom>
          <a:noFill/>
          <a:ln/>
        </p:spPr>
        <p:txBody>
          <a:bodyPr wrap="square" lIns="0" tIns="0" rIns="0" bIns="0" rtlCol="0" anchor="ctr"/>
          <a:lstStyle/>
          <a:p>
            <a:pPr indent="0" marL="0">
              <a:buNone/>
            </a:pPr>
            <a:r>
              <a:rPr lang="en-US" sz="1100" b="1" dirty="0">
                <a:solidFill>
                  <a:srgbClr val="003B70"/>
                </a:solidFill>
                <a:latin typeface="Calibri" pitchFamily="34" charset="0"/>
                <a:ea typeface="Calibri" pitchFamily="34" charset="-122"/>
                <a:cs typeface="Calibri" pitchFamily="34" charset="-120"/>
              </a:rPr>
              <a:t>Impact Awareness</a:t>
            </a:r>
            <a:endParaRPr lang="en-US" sz="1100" dirty="0"/>
          </a:p>
        </p:txBody>
      </p:sp>
      <p:sp>
        <p:nvSpPr>
          <p:cNvPr id="24" name="Shape 22"/>
          <p:cNvSpPr/>
          <p:nvPr/>
        </p:nvSpPr>
        <p:spPr>
          <a:xfrm>
            <a:off x="2743200" y="2651760"/>
            <a:ext cx="914400" cy="274320"/>
          </a:xfrm>
          <a:prstGeom prst="rect">
            <a:avLst/>
          </a:prstGeom>
          <a:solidFill>
            <a:srgbClr val="FFF8E6"/>
          </a:solidFill>
          <a:ln w="12700">
            <a:solidFill>
              <a:srgbClr val="FBD38D"/>
            </a:solidFill>
            <a:prstDash val="solid"/>
          </a:ln>
        </p:spPr>
      </p:sp>
      <p:sp>
        <p:nvSpPr>
          <p:cNvPr id="25" name="Text 23"/>
          <p:cNvSpPr/>
          <p:nvPr/>
        </p:nvSpPr>
        <p:spPr>
          <a:xfrm>
            <a:off x="2743200" y="2651760"/>
            <a:ext cx="914400" cy="274320"/>
          </a:xfrm>
          <a:prstGeom prst="rect">
            <a:avLst/>
          </a:prstGeom>
          <a:noFill/>
          <a:ln/>
        </p:spPr>
        <p:txBody>
          <a:bodyPr wrap="square" lIns="0" tIns="0" rIns="0" bIns="0" rtlCol="0" anchor="ctr"/>
          <a:lstStyle/>
          <a:p>
            <a:pPr algn="ctr" indent="0" marL="0">
              <a:buNone/>
            </a:pPr>
            <a:r>
              <a:rPr lang="en-US" sz="950" b="1" dirty="0">
                <a:solidFill>
                  <a:srgbClr val="7C5C00"/>
                </a:solidFill>
                <a:latin typeface="Calibri" pitchFamily="34" charset="0"/>
                <a:ea typeface="Calibri" pitchFamily="34" charset="-122"/>
                <a:cs typeface="Calibri" pitchFamily="34" charset="-120"/>
              </a:rPr>
              <a:t>Partial</a:t>
            </a:r>
            <a:endParaRPr lang="en-US" sz="950" dirty="0"/>
          </a:p>
        </p:txBody>
      </p:sp>
      <p:sp>
        <p:nvSpPr>
          <p:cNvPr id="26" name="Text 24"/>
          <p:cNvSpPr/>
          <p:nvPr/>
        </p:nvSpPr>
        <p:spPr>
          <a:xfrm>
            <a:off x="3840480" y="2578608"/>
            <a:ext cx="4983480" cy="457200"/>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Code-centric scanning via Bitbucket/GitHub identifies all Order ID/Nickname references. Gap: if repository URL not configured at onboarding, that repo will not be scanned — impact assessment may be incomplete.</a:t>
            </a:r>
            <a:endParaRPr lang="en-US" sz="900" dirty="0"/>
          </a:p>
        </p:txBody>
      </p:sp>
      <p:sp>
        <p:nvSpPr>
          <p:cNvPr id="27" name="Shape 25"/>
          <p:cNvSpPr/>
          <p:nvPr/>
        </p:nvSpPr>
        <p:spPr>
          <a:xfrm>
            <a:off x="274320" y="3145536"/>
            <a:ext cx="8631936" cy="594360"/>
          </a:xfrm>
          <a:prstGeom prst="rect">
            <a:avLst/>
          </a:prstGeom>
          <a:solidFill>
            <a:srgbClr val="F5F8FC"/>
          </a:solidFill>
          <a:ln w="3810">
            <a:solidFill>
              <a:srgbClr val="E2E8F0"/>
            </a:solidFill>
            <a:prstDash val="solid"/>
          </a:ln>
        </p:spPr>
      </p:sp>
      <p:sp>
        <p:nvSpPr>
          <p:cNvPr id="28" name="Text 26"/>
          <p:cNvSpPr/>
          <p:nvPr/>
        </p:nvSpPr>
        <p:spPr>
          <a:xfrm>
            <a:off x="384048" y="3300984"/>
            <a:ext cx="2148840" cy="274320"/>
          </a:xfrm>
          <a:prstGeom prst="rect">
            <a:avLst/>
          </a:prstGeom>
          <a:noFill/>
          <a:ln/>
        </p:spPr>
        <p:txBody>
          <a:bodyPr wrap="square" lIns="0" tIns="0" rIns="0" bIns="0" rtlCol="0" anchor="ctr"/>
          <a:lstStyle/>
          <a:p>
            <a:pPr indent="0" marL="0">
              <a:buNone/>
            </a:pPr>
            <a:r>
              <a:rPr lang="en-US" sz="1100" b="1" dirty="0">
                <a:solidFill>
                  <a:srgbClr val="003B70"/>
                </a:solidFill>
                <a:latin typeface="Calibri" pitchFamily="34" charset="0"/>
                <a:ea typeface="Calibri" pitchFamily="34" charset="-122"/>
                <a:cs typeface="Calibri" pitchFamily="34" charset="-120"/>
              </a:rPr>
              <a:t>Automated in Greenzone Time</a:t>
            </a:r>
            <a:endParaRPr lang="en-US" sz="1100" dirty="0"/>
          </a:p>
        </p:txBody>
      </p:sp>
      <p:sp>
        <p:nvSpPr>
          <p:cNvPr id="29" name="Shape 27"/>
          <p:cNvSpPr/>
          <p:nvPr/>
        </p:nvSpPr>
        <p:spPr>
          <a:xfrm>
            <a:off x="2743200" y="3291840"/>
            <a:ext cx="914400" cy="274320"/>
          </a:xfrm>
          <a:prstGeom prst="rect">
            <a:avLst/>
          </a:prstGeom>
          <a:solidFill>
            <a:srgbClr val="FFF8E6"/>
          </a:solidFill>
          <a:ln w="12700">
            <a:solidFill>
              <a:srgbClr val="FBD38D"/>
            </a:solidFill>
            <a:prstDash val="solid"/>
          </a:ln>
        </p:spPr>
      </p:sp>
      <p:sp>
        <p:nvSpPr>
          <p:cNvPr id="30" name="Text 28"/>
          <p:cNvSpPr/>
          <p:nvPr/>
        </p:nvSpPr>
        <p:spPr>
          <a:xfrm>
            <a:off x="2743200" y="3291840"/>
            <a:ext cx="914400" cy="274320"/>
          </a:xfrm>
          <a:prstGeom prst="rect">
            <a:avLst/>
          </a:prstGeom>
          <a:noFill/>
          <a:ln/>
        </p:spPr>
        <p:txBody>
          <a:bodyPr wrap="square" lIns="0" tIns="0" rIns="0" bIns="0" rtlCol="0" anchor="ctr"/>
          <a:lstStyle/>
          <a:p>
            <a:pPr algn="ctr" indent="0" marL="0">
              <a:buNone/>
            </a:pPr>
            <a:r>
              <a:rPr lang="en-US" sz="950" b="1" dirty="0">
                <a:solidFill>
                  <a:srgbClr val="7C5C00"/>
                </a:solidFill>
                <a:latin typeface="Calibri" pitchFamily="34" charset="0"/>
                <a:ea typeface="Calibri" pitchFamily="34" charset="-122"/>
                <a:cs typeface="Calibri" pitchFamily="34" charset="-120"/>
              </a:rPr>
              <a:t>Partial</a:t>
            </a:r>
            <a:endParaRPr lang="en-US" sz="950" dirty="0"/>
          </a:p>
        </p:txBody>
      </p:sp>
      <p:sp>
        <p:nvSpPr>
          <p:cNvPr id="31" name="Text 29"/>
          <p:cNvSpPr/>
          <p:nvPr/>
        </p:nvSpPr>
        <p:spPr>
          <a:xfrm>
            <a:off x="3840480" y="3218688"/>
            <a:ext cx="4983480" cy="457200"/>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NGC Vault cert available immediately post-renewal. Code update PR auto-created if FID has write access. Gap: PR merge requires team action — not yet fully zero-touch to production.</a:t>
            </a:r>
            <a:endParaRPr lang="en-US" sz="900" dirty="0"/>
          </a:p>
        </p:txBody>
      </p:sp>
      <p:sp>
        <p:nvSpPr>
          <p:cNvPr id="32" name="Shape 30"/>
          <p:cNvSpPr/>
          <p:nvPr/>
        </p:nvSpPr>
        <p:spPr>
          <a:xfrm>
            <a:off x="274320" y="3785616"/>
            <a:ext cx="8631936" cy="594360"/>
          </a:xfrm>
          <a:prstGeom prst="rect">
            <a:avLst/>
          </a:prstGeom>
          <a:solidFill>
            <a:srgbClr val="FFFFFF"/>
          </a:solidFill>
          <a:ln w="3810">
            <a:solidFill>
              <a:srgbClr val="E2E8F0"/>
            </a:solidFill>
            <a:prstDash val="solid"/>
          </a:ln>
        </p:spPr>
      </p:sp>
      <p:sp>
        <p:nvSpPr>
          <p:cNvPr id="33" name="Text 31"/>
          <p:cNvSpPr/>
          <p:nvPr/>
        </p:nvSpPr>
        <p:spPr>
          <a:xfrm>
            <a:off x="384048" y="3941064"/>
            <a:ext cx="2148840" cy="274320"/>
          </a:xfrm>
          <a:prstGeom prst="rect">
            <a:avLst/>
          </a:prstGeom>
          <a:noFill/>
          <a:ln/>
        </p:spPr>
        <p:txBody>
          <a:bodyPr wrap="square" lIns="0" tIns="0" rIns="0" bIns="0" rtlCol="0" anchor="ctr"/>
          <a:lstStyle/>
          <a:p>
            <a:pPr indent="0" marL="0">
              <a:buNone/>
            </a:pPr>
            <a:r>
              <a:rPr lang="en-US" sz="1100" b="1" dirty="0">
                <a:solidFill>
                  <a:srgbClr val="003B70"/>
                </a:solidFill>
                <a:latin typeface="Calibri" pitchFamily="34" charset="0"/>
                <a:ea typeface="Calibri" pitchFamily="34" charset="-122"/>
                <a:cs typeface="Calibri" pitchFamily="34" charset="-120"/>
              </a:rPr>
              <a:t>Full Audit &amp; Compliance</a:t>
            </a:r>
            <a:endParaRPr lang="en-US" sz="1100" dirty="0"/>
          </a:p>
        </p:txBody>
      </p:sp>
      <p:sp>
        <p:nvSpPr>
          <p:cNvPr id="34" name="Shape 32"/>
          <p:cNvSpPr/>
          <p:nvPr/>
        </p:nvSpPr>
        <p:spPr>
          <a:xfrm>
            <a:off x="2743200" y="3931920"/>
            <a:ext cx="914400" cy="274320"/>
          </a:xfrm>
          <a:prstGeom prst="rect">
            <a:avLst/>
          </a:prstGeom>
          <a:solidFill>
            <a:srgbClr val="EBF7EE"/>
          </a:solidFill>
          <a:ln w="12700">
            <a:solidFill>
              <a:srgbClr val="9AE6B4"/>
            </a:solidFill>
            <a:prstDash val="solid"/>
          </a:ln>
        </p:spPr>
      </p:sp>
      <p:sp>
        <p:nvSpPr>
          <p:cNvPr id="35" name="Text 33"/>
          <p:cNvSpPr/>
          <p:nvPr/>
        </p:nvSpPr>
        <p:spPr>
          <a:xfrm>
            <a:off x="2743200" y="3931920"/>
            <a:ext cx="914400" cy="274320"/>
          </a:xfrm>
          <a:prstGeom prst="rect">
            <a:avLst/>
          </a:prstGeom>
          <a:noFill/>
          <a:ln/>
        </p:spPr>
        <p:txBody>
          <a:bodyPr wrap="square" lIns="0" tIns="0" rIns="0" bIns="0" rtlCol="0" anchor="ctr"/>
          <a:lstStyle/>
          <a:p>
            <a:pPr algn="ctr" indent="0" marL="0">
              <a:buNone/>
            </a:pPr>
            <a:r>
              <a:rPr lang="en-US" sz="950" b="1" dirty="0">
                <a:solidFill>
                  <a:srgbClr val="1A6632"/>
                </a:solidFill>
                <a:latin typeface="Calibri" pitchFamily="34" charset="0"/>
                <a:ea typeface="Calibri" pitchFamily="34" charset="-122"/>
                <a:cs typeface="Calibri" pitchFamily="34" charset="-120"/>
              </a:rPr>
              <a:t>Achieved</a:t>
            </a:r>
            <a:endParaRPr lang="en-US" sz="950" dirty="0"/>
          </a:p>
        </p:txBody>
      </p:sp>
      <p:sp>
        <p:nvSpPr>
          <p:cNvPr id="36" name="Text 34"/>
          <p:cNvSpPr/>
          <p:nvPr/>
        </p:nvSpPr>
        <p:spPr>
          <a:xfrm>
            <a:off x="3840480" y="3858768"/>
            <a:ext cx="4983480" cy="457200"/>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All renewal and scan activities logged to MongoDB. PR creation and notification history retained. Full audit trail. SNOW CR raised for all certificate deployments.</a:t>
            </a:r>
            <a:endParaRPr lang="en-US" sz="900" dirty="0"/>
          </a:p>
        </p:txBody>
      </p:sp>
      <p:sp>
        <p:nvSpPr>
          <p:cNvPr id="37" name="Shape 35"/>
          <p:cNvSpPr/>
          <p:nvPr/>
        </p:nvSpPr>
        <p:spPr>
          <a:xfrm>
            <a:off x="274320" y="4425696"/>
            <a:ext cx="8631936" cy="594360"/>
          </a:xfrm>
          <a:prstGeom prst="rect">
            <a:avLst/>
          </a:prstGeom>
          <a:solidFill>
            <a:srgbClr val="F5F8FC"/>
          </a:solidFill>
          <a:ln w="3810">
            <a:solidFill>
              <a:srgbClr val="E2E8F0"/>
            </a:solidFill>
            <a:prstDash val="solid"/>
          </a:ln>
        </p:spPr>
      </p:sp>
      <p:sp>
        <p:nvSpPr>
          <p:cNvPr id="38" name="Text 36"/>
          <p:cNvSpPr/>
          <p:nvPr/>
        </p:nvSpPr>
        <p:spPr>
          <a:xfrm>
            <a:off x="384048" y="4581144"/>
            <a:ext cx="2148840" cy="274320"/>
          </a:xfrm>
          <a:prstGeom prst="rect">
            <a:avLst/>
          </a:prstGeom>
          <a:noFill/>
          <a:ln/>
        </p:spPr>
        <p:txBody>
          <a:bodyPr wrap="square" lIns="0" tIns="0" rIns="0" bIns="0" rtlCol="0" anchor="ctr"/>
          <a:lstStyle/>
          <a:p>
            <a:pPr indent="0" marL="0">
              <a:buNone/>
            </a:pPr>
            <a:r>
              <a:rPr lang="en-US" sz="1100" b="1" dirty="0">
                <a:solidFill>
                  <a:srgbClr val="003B70"/>
                </a:solidFill>
                <a:latin typeface="Calibri" pitchFamily="34" charset="0"/>
                <a:ea typeface="Calibri" pitchFamily="34" charset="-122"/>
                <a:cs typeface="Calibri" pitchFamily="34" charset="-120"/>
              </a:rPr>
              <a:t>Proactive Governance</a:t>
            </a:r>
            <a:endParaRPr lang="en-US" sz="1100" dirty="0"/>
          </a:p>
        </p:txBody>
      </p:sp>
      <p:sp>
        <p:nvSpPr>
          <p:cNvPr id="39" name="Shape 37"/>
          <p:cNvSpPr/>
          <p:nvPr/>
        </p:nvSpPr>
        <p:spPr>
          <a:xfrm>
            <a:off x="2743200" y="4572000"/>
            <a:ext cx="914400" cy="274320"/>
          </a:xfrm>
          <a:prstGeom prst="rect">
            <a:avLst/>
          </a:prstGeom>
          <a:solidFill>
            <a:srgbClr val="EBF7EE"/>
          </a:solidFill>
          <a:ln w="12700">
            <a:solidFill>
              <a:srgbClr val="9AE6B4"/>
            </a:solidFill>
            <a:prstDash val="solid"/>
          </a:ln>
        </p:spPr>
      </p:sp>
      <p:sp>
        <p:nvSpPr>
          <p:cNvPr id="40" name="Text 38"/>
          <p:cNvSpPr/>
          <p:nvPr/>
        </p:nvSpPr>
        <p:spPr>
          <a:xfrm>
            <a:off x="2743200" y="4572000"/>
            <a:ext cx="914400" cy="274320"/>
          </a:xfrm>
          <a:prstGeom prst="rect">
            <a:avLst/>
          </a:prstGeom>
          <a:noFill/>
          <a:ln/>
        </p:spPr>
        <p:txBody>
          <a:bodyPr wrap="square" lIns="0" tIns="0" rIns="0" bIns="0" rtlCol="0" anchor="ctr"/>
          <a:lstStyle/>
          <a:p>
            <a:pPr algn="ctr" indent="0" marL="0">
              <a:buNone/>
            </a:pPr>
            <a:r>
              <a:rPr lang="en-US" sz="950" b="1" dirty="0">
                <a:solidFill>
                  <a:srgbClr val="1A6632"/>
                </a:solidFill>
                <a:latin typeface="Calibri" pitchFamily="34" charset="0"/>
                <a:ea typeface="Calibri" pitchFamily="34" charset="-122"/>
                <a:cs typeface="Calibri" pitchFamily="34" charset="-120"/>
              </a:rPr>
              <a:t>Achieved</a:t>
            </a:r>
            <a:endParaRPr lang="en-US" sz="950" dirty="0"/>
          </a:p>
        </p:txBody>
      </p:sp>
      <p:sp>
        <p:nvSpPr>
          <p:cNvPr id="41" name="Text 39"/>
          <p:cNvSpPr/>
          <p:nvPr/>
        </p:nvSpPr>
        <p:spPr>
          <a:xfrm>
            <a:off x="3840480" y="4498848"/>
            <a:ext cx="4983480" cy="457200"/>
          </a:xfrm>
          <a:prstGeom prst="rect">
            <a:avLst/>
          </a:prstGeom>
          <a:noFill/>
          <a:ln/>
        </p:spPr>
        <p:txBody>
          <a:bodyPr wrap="square" lIns="0" tIns="0" rIns="0" bIns="0" rtlCol="0" anchor="ctr"/>
          <a:lstStyle/>
          <a:p>
            <a:pPr indent="0" marL="0">
              <a:buNone/>
            </a:pPr>
            <a:r>
              <a:rPr lang="en-US" sz="900" dirty="0">
                <a:solidFill>
                  <a:srgbClr val="4A6080"/>
                </a:solidFill>
                <a:latin typeface="Calibri" pitchFamily="34" charset="0"/>
                <a:ea typeface="Calibri" pitchFamily="34" charset="-122"/>
                <a:cs typeface="Calibri" pitchFamily="34" charset="-120"/>
              </a:rPr>
              <a:t>11 notification types covering full lifecycle. RBAC via CSI admin roles. Escalation matrix configured. Onboarded application awareness notifications active.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a:ln/>
        </p:spPr>
        <p:txBody>
          <a:bodyPr wrap="square" lIns="0" tIns="0" rIns="0" bIns="0" rtlCol="0" anchor="ctr"/>
          <a:lstStyle/>
          <a:p>
            <a:pPr indent="0" marL="0">
              <a:buNone/>
            </a:pPr>
            <a:r>
              <a:rPr lang="en-US" sz="1900" b="1" dirty="0">
                <a:solidFill>
                  <a:srgbClr val="003B70"/>
                </a:solidFill>
                <a:latin typeface="Calibri" pitchFamily="34" charset="0"/>
                <a:ea typeface="Calibri" pitchFamily="34" charset="-122"/>
                <a:cs typeface="Calibri" pitchFamily="34" charset="-120"/>
              </a:rPr>
              <a:t>Container CLM Roadmap — What is Live, What is Next</a:t>
            </a:r>
            <a:endParaRPr lang="en-US" sz="1900" dirty="0"/>
          </a:p>
        </p:txBody>
      </p:sp>
      <p:sp>
        <p:nvSpPr>
          <p:cNvPr id="5" name="Text 3"/>
          <p:cNvSpPr/>
          <p:nvPr/>
        </p:nvSpPr>
        <p:spPr>
          <a:xfrm>
            <a:off x="347472" y="548640"/>
            <a:ext cx="8595360" cy="237744"/>
          </a:xfrm>
          <a:prstGeom prst="rect">
            <a:avLst/>
          </a:prstGeom>
          <a:noFill/>
          <a:ln/>
        </p:spPr>
        <p:txBody>
          <a:bodyPr wrap="square" lIns="0" tIns="0" rIns="0" bIns="0" rtlCol="0" anchor="ctr"/>
          <a:lstStyle/>
          <a:p>
            <a:pPr indent="0" marL="0">
              <a:buNone/>
            </a:pPr>
            <a:r>
              <a:rPr lang="en-US" sz="1050" i="1" dirty="0">
                <a:solidFill>
                  <a:srgbClr val="4A6080"/>
                </a:solidFill>
                <a:latin typeface="Calibri" pitchFamily="34" charset="0"/>
                <a:ea typeface="Calibri" pitchFamily="34" charset="-122"/>
                <a:cs typeface="Calibri" pitchFamily="34" charset="-120"/>
              </a:rPr>
              <a:t>Where container certificate management is today and where it is heading</a:t>
            </a:r>
            <a:endParaRPr lang="en-US" sz="1050" dirty="0"/>
          </a:p>
        </p:txBody>
      </p:sp>
      <p:sp>
        <p:nvSpPr>
          <p:cNvPr id="6" name="Shape 4"/>
          <p:cNvSpPr/>
          <p:nvPr/>
        </p:nvSpPr>
        <p:spPr>
          <a:xfrm>
            <a:off x="274320" y="886968"/>
            <a:ext cx="2834640" cy="4133088"/>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7" name="Shape 5"/>
          <p:cNvSpPr/>
          <p:nvPr/>
        </p:nvSpPr>
        <p:spPr>
          <a:xfrm>
            <a:off x="274320" y="886968"/>
            <a:ext cx="2834640" cy="402336"/>
          </a:xfrm>
          <a:prstGeom prst="rect">
            <a:avLst/>
          </a:prstGeom>
          <a:solidFill>
            <a:srgbClr val="003B70"/>
          </a:solidFill>
          <a:ln w="12700">
            <a:solidFill>
              <a:srgbClr val="003B70"/>
            </a:solidFill>
            <a:prstDash val="solid"/>
          </a:ln>
        </p:spPr>
      </p:sp>
      <p:sp>
        <p:nvSpPr>
          <p:cNvPr id="8" name="Text 6"/>
          <p:cNvSpPr/>
          <p:nvPr/>
        </p:nvSpPr>
        <p:spPr>
          <a:xfrm>
            <a:off x="365760" y="905256"/>
            <a:ext cx="27066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NOW — Live</a:t>
            </a:r>
            <a:endParaRPr lang="en-US" sz="1200" dirty="0"/>
          </a:p>
        </p:txBody>
      </p:sp>
      <p:sp>
        <p:nvSpPr>
          <p:cNvPr id="9" name="Text 7"/>
          <p:cNvSpPr/>
          <p:nvPr/>
        </p:nvSpPr>
        <p:spPr>
          <a:xfrm>
            <a:off x="402336" y="1371600"/>
            <a:ext cx="2633472" cy="3566160"/>
          </a:xfrm>
          <a:prstGeom prst="rect">
            <a:avLst/>
          </a:prstGeom>
          <a:noFill/>
          <a:ln/>
        </p:spPr>
        <p:txBody>
          <a:bodyPr wrap="square" rtlCol="0" anchor="ctr"/>
          <a:lstStyle/>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NGC Vault certificate discovery — continuous, scheduled</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60-day SLA auto-renewal for all MSPKI certificates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Bitbucket repository scanning for Order ID/Nickname references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Automated PR creation if FID has write access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Manual email alert if FID lacks write access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Seamless coexistence: old and new certs work concurrently</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11 notification types — full lifecycle coverage</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SNOW CR raised for all deployments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Full MongoDB audit trail</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RBAC via CSI admin roles</a:t>
            </a:r>
            <a:endParaRPr lang="en-US" sz="950" dirty="0"/>
          </a:p>
        </p:txBody>
      </p:sp>
      <p:sp>
        <p:nvSpPr>
          <p:cNvPr id="10" name="Shape 8"/>
          <p:cNvSpPr/>
          <p:nvPr/>
        </p:nvSpPr>
        <p:spPr>
          <a:xfrm>
            <a:off x="3255264" y="886968"/>
            <a:ext cx="2834640" cy="4133088"/>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1" name="Shape 9"/>
          <p:cNvSpPr/>
          <p:nvPr/>
        </p:nvSpPr>
        <p:spPr>
          <a:xfrm>
            <a:off x="3255264" y="886968"/>
            <a:ext cx="2834640" cy="402336"/>
          </a:xfrm>
          <a:prstGeom prst="rect">
            <a:avLst/>
          </a:prstGeom>
          <a:solidFill>
            <a:srgbClr val="056DAE"/>
          </a:solidFill>
          <a:ln w="12700">
            <a:solidFill>
              <a:srgbClr val="056DAE"/>
            </a:solidFill>
            <a:prstDash val="solid"/>
          </a:ln>
        </p:spPr>
      </p:sp>
      <p:sp>
        <p:nvSpPr>
          <p:cNvPr id="12" name="Text 10"/>
          <p:cNvSpPr/>
          <p:nvPr/>
        </p:nvSpPr>
        <p:spPr>
          <a:xfrm>
            <a:off x="3346704" y="905256"/>
            <a:ext cx="27066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p>
        </p:txBody>
      </p:sp>
      <p:sp>
        <p:nvSpPr>
          <p:cNvPr id="13" name="Text 11"/>
          <p:cNvSpPr/>
          <p:nvPr/>
        </p:nvSpPr>
        <p:spPr>
          <a:xfrm>
            <a:off x="3383280" y="1371600"/>
            <a:ext cx="2633472" cy="3566160"/>
          </a:xfrm>
          <a:prstGeom prst="rect">
            <a:avLst/>
          </a:prstGeom>
          <a:noFill/>
          <a:ln/>
        </p:spPr>
        <p:txBody>
          <a:bodyPr wrap="square" rtlCol="0" anchor="ctr"/>
          <a:lstStyle/>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GitHub repository integration (alongside Bitbucket)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OpenShift Route YAML certificate scanning</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Auto-merge PR capability (currently requires team merge)</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Enhanced weekly inventory report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BCM (Baseline Configuration Management) module</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EOVS (End-of-Vendor-Support) vulnerability assessment</a:t>
            </a:r>
            <a:endParaRPr lang="en-US" sz="950" dirty="0"/>
          </a:p>
        </p:txBody>
      </p:sp>
      <p:sp>
        <p:nvSpPr>
          <p:cNvPr id="14" name="Shape 12"/>
          <p:cNvSpPr/>
          <p:nvPr/>
        </p:nvSpPr>
        <p:spPr>
          <a:xfrm>
            <a:off x="6236208" y="886968"/>
            <a:ext cx="2834640" cy="4133088"/>
          </a:xfrm>
          <a:prstGeom prst="rect">
            <a:avLst/>
          </a:prstGeom>
          <a:solidFill>
            <a:srgbClr val="EBF4FB"/>
          </a:solidFill>
          <a:ln w="6350">
            <a:solidFill>
              <a:srgbClr val="D6E8F5"/>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6236208" y="886968"/>
            <a:ext cx="2834640" cy="402336"/>
          </a:xfrm>
          <a:prstGeom prst="rect">
            <a:avLst/>
          </a:prstGeom>
          <a:solidFill>
            <a:srgbClr val="4A6080"/>
          </a:solidFill>
          <a:ln w="12700">
            <a:solidFill>
              <a:srgbClr val="4A6080"/>
            </a:solidFill>
            <a:prstDash val="solid"/>
          </a:ln>
        </p:spPr>
      </p:sp>
      <p:sp>
        <p:nvSpPr>
          <p:cNvPr id="16" name="Text 14"/>
          <p:cNvSpPr/>
          <p:nvPr/>
        </p:nvSpPr>
        <p:spPr>
          <a:xfrm>
            <a:off x="6327648" y="905256"/>
            <a:ext cx="27066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PLANNED / FUTURE</a:t>
            </a:r>
            <a:endParaRPr lang="en-US" sz="1200" dirty="0"/>
          </a:p>
        </p:txBody>
      </p:sp>
      <p:sp>
        <p:nvSpPr>
          <p:cNvPr id="17" name="Text 15"/>
          <p:cNvSpPr/>
          <p:nvPr/>
        </p:nvSpPr>
        <p:spPr>
          <a:xfrm>
            <a:off x="6364224" y="1371600"/>
            <a:ext cx="2633472" cy="3566160"/>
          </a:xfrm>
          <a:prstGeom prst="rect">
            <a:avLst/>
          </a:prstGeom>
          <a:noFill/>
          <a:ln/>
        </p:spPr>
        <p:txBody>
          <a:bodyPr wrap="square" rtlCol="0" anchor="ctr"/>
          <a:lstStyle/>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Provisioning Portal API as alternative certificate provider</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ACM (AWS Certificate Manager) provider support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Full application-level connection validation</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Self-service CSI onboarding without PFY team involvement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Real-time certificate health dashboard — all CSIs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Automated handling of embedded YAML certificates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56DAE"/>
          </a:solidFill>
          <a:ln w="12700">
            <a:solidFill>
              <a:srgbClr val="056DAE"/>
            </a:solidFill>
            <a:prstDash val="solid"/>
          </a:ln>
        </p:spPr>
      </p:sp>
      <p:sp>
        <p:nvSpPr>
          <p:cNvPr id="3" name="Shape 1"/>
          <p:cNvSpPr/>
          <p:nvPr/>
        </p:nvSpPr>
        <p:spPr>
          <a:xfrm>
            <a:off x="201168" y="0"/>
            <a:ext cx="8942832" cy="73152"/>
          </a:xfrm>
          <a:prstGeom prst="rect">
            <a:avLst/>
          </a:prstGeom>
          <a:solidFill>
            <a:srgbClr val="056DAE"/>
          </a:solidFill>
          <a:ln w="12700">
            <a:solidFill>
              <a:srgbClr val="056DAE"/>
            </a:solidFill>
            <a:prstDash val="solid"/>
          </a:ln>
        </p:spPr>
      </p:sp>
      <p:sp>
        <p:nvSpPr>
          <p:cNvPr id="4" name="Text 2"/>
          <p:cNvSpPr/>
          <p:nvPr/>
        </p:nvSpPr>
        <p:spPr>
          <a:xfrm>
            <a:off x="384048" y="164592"/>
            <a:ext cx="841248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Summary &amp; What To Do Next</a:t>
            </a:r>
            <a:endParaRPr lang="en-US" sz="2200" dirty="0"/>
          </a:p>
        </p:txBody>
      </p:sp>
      <p:sp>
        <p:nvSpPr>
          <p:cNvPr id="5" name="Text 3"/>
          <p:cNvSpPr/>
          <p:nvPr/>
        </p:nvSpPr>
        <p:spPr>
          <a:xfrm>
            <a:off x="384048" y="667512"/>
            <a:ext cx="8412480" cy="274320"/>
          </a:xfrm>
          <a:prstGeom prst="rect">
            <a:avLst/>
          </a:prstGeom>
          <a:noFill/>
          <a:ln/>
        </p:spPr>
        <p:txBody>
          <a:bodyPr wrap="square" lIns="0" tIns="0" rIns="0" bIns="0" rtlCol="0" anchor="ctr"/>
          <a:lstStyle/>
          <a:p>
            <a:pPr indent="0" marL="0">
              <a:buNone/>
            </a:pPr>
            <a:r>
              <a:rPr lang="en-US" sz="1100" i="1" dirty="0">
                <a:solidFill>
                  <a:srgbClr val="D6E8F5"/>
                </a:solidFill>
                <a:latin typeface="Calibri" pitchFamily="34" charset="0"/>
                <a:ea typeface="Calibri" pitchFamily="34" charset="-122"/>
                <a:cs typeface="Calibri" pitchFamily="34" charset="-120"/>
              </a:rPr>
              <a:t>CLM makes container certificate management systematic, automated, and auditable — not reactive and manual</a:t>
            </a:r>
            <a:endParaRPr lang="en-US" sz="1100" dirty="0"/>
          </a:p>
        </p:txBody>
      </p:sp>
      <p:sp>
        <p:nvSpPr>
          <p:cNvPr id="6" name="Shape 4"/>
          <p:cNvSpPr/>
          <p:nvPr/>
        </p:nvSpPr>
        <p:spPr>
          <a:xfrm>
            <a:off x="384048" y="1078992"/>
            <a:ext cx="4160520" cy="1170432"/>
          </a:xfrm>
          <a:prstGeom prst="rect">
            <a:avLst/>
          </a:prstGeom>
          <a:solidFill>
            <a:srgbClr val="FFFFFF">
              <a:alpha val="8000"/>
            </a:srgbClr>
          </a:solidFill>
          <a:ln w="12700">
            <a:solidFill>
              <a:srgbClr val="056DAE">
                <a:alpha val="40000"/>
              </a:srgbClr>
            </a:solidFill>
            <a:prstDash val="solid"/>
          </a:ln>
        </p:spPr>
      </p:sp>
      <p:sp>
        <p:nvSpPr>
          <p:cNvPr id="7" name="Shape 5"/>
          <p:cNvSpPr/>
          <p:nvPr/>
        </p:nvSpPr>
        <p:spPr>
          <a:xfrm>
            <a:off x="384048" y="1078992"/>
            <a:ext cx="91440" cy="1170432"/>
          </a:xfrm>
          <a:prstGeom prst="rect">
            <a:avLst/>
          </a:prstGeom>
          <a:solidFill>
            <a:srgbClr val="056DAE"/>
          </a:solidFill>
          <a:ln w="12700">
            <a:solidFill>
              <a:srgbClr val="056DAE"/>
            </a:solidFill>
            <a:prstDash val="solid"/>
          </a:ln>
        </p:spPr>
      </p:sp>
      <p:sp>
        <p:nvSpPr>
          <p:cNvPr id="8" name="Text 6"/>
          <p:cNvSpPr/>
          <p:nvPr/>
        </p:nvSpPr>
        <p:spPr>
          <a:xfrm>
            <a:off x="585216" y="1170432"/>
            <a:ext cx="38862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CLM delivers</a:t>
            </a:r>
            <a:endParaRPr lang="en-US" sz="1150" dirty="0"/>
          </a:p>
        </p:txBody>
      </p:sp>
      <p:sp>
        <p:nvSpPr>
          <p:cNvPr id="9" name="Text 7"/>
          <p:cNvSpPr/>
          <p:nvPr/>
        </p:nvSpPr>
        <p:spPr>
          <a:xfrm>
            <a:off x="585216" y="1481328"/>
            <a:ext cx="3886200" cy="694944"/>
          </a:xfrm>
          <a:prstGeom prst="rect">
            <a:avLst/>
          </a:prstGeom>
          <a:noFill/>
          <a:ln/>
        </p:spPr>
        <p:txBody>
          <a:bodyPr wrap="square" lIns="0" tIns="0" rIns="0" bIns="0" rtlCol="0" anchor="ctr"/>
          <a:lstStyle/>
          <a:p>
            <a:pPr indent="0" marL="0">
              <a:buNone/>
            </a:pPr>
            <a:r>
              <a:rPr lang="en-US" sz="950" dirty="0">
                <a:solidFill>
                  <a:srgbClr val="D6E8F5"/>
                </a:solidFill>
                <a:latin typeface="Calibri" pitchFamily="34" charset="0"/>
                <a:ea typeface="Calibri" pitchFamily="34" charset="-122"/>
                <a:cs typeface="Calibri" pitchFamily="34" charset="-120"/>
              </a:rPr>
              <a:t>NGC Vault discovery → 60-day auto-renewal → Code scan → Automated PR → Seamless coexistence → Full audit. End-to-end, fully automated for NGC Vault-referenced certificates.</a:t>
            </a:r>
            <a:endParaRPr lang="en-US" sz="950" dirty="0"/>
          </a:p>
        </p:txBody>
      </p:sp>
      <p:sp>
        <p:nvSpPr>
          <p:cNvPr id="10" name="Shape 8"/>
          <p:cNvSpPr/>
          <p:nvPr/>
        </p:nvSpPr>
        <p:spPr>
          <a:xfrm>
            <a:off x="4754880" y="1078992"/>
            <a:ext cx="4160520" cy="1170432"/>
          </a:xfrm>
          <a:prstGeom prst="rect">
            <a:avLst/>
          </a:prstGeom>
          <a:solidFill>
            <a:srgbClr val="FFFFFF">
              <a:alpha val="8000"/>
            </a:srgbClr>
          </a:solidFill>
          <a:ln w="12700">
            <a:solidFill>
              <a:srgbClr val="056DAE">
                <a:alpha val="40000"/>
              </a:srgbClr>
            </a:solidFill>
            <a:prstDash val="solid"/>
          </a:ln>
        </p:spPr>
      </p:sp>
      <p:sp>
        <p:nvSpPr>
          <p:cNvPr id="11" name="Shape 9"/>
          <p:cNvSpPr/>
          <p:nvPr/>
        </p:nvSpPr>
        <p:spPr>
          <a:xfrm>
            <a:off x="4754880" y="1078992"/>
            <a:ext cx="91440" cy="1170432"/>
          </a:xfrm>
          <a:prstGeom prst="rect">
            <a:avLst/>
          </a:prstGeom>
          <a:solidFill>
            <a:srgbClr val="056DAE"/>
          </a:solidFill>
          <a:ln w="12700">
            <a:solidFill>
              <a:srgbClr val="056DAE"/>
            </a:solidFill>
            <a:prstDash val="solid"/>
          </a:ln>
        </p:spPr>
      </p:sp>
      <p:sp>
        <p:nvSpPr>
          <p:cNvPr id="12" name="Text 10"/>
          <p:cNvSpPr/>
          <p:nvPr/>
        </p:nvSpPr>
        <p:spPr>
          <a:xfrm>
            <a:off x="4956048" y="1170432"/>
            <a:ext cx="38862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CLM does not cover (yet)</a:t>
            </a:r>
            <a:endParaRPr lang="en-US" sz="1150" dirty="0"/>
          </a:p>
        </p:txBody>
      </p:sp>
      <p:sp>
        <p:nvSpPr>
          <p:cNvPr id="13" name="Text 11"/>
          <p:cNvSpPr/>
          <p:nvPr/>
        </p:nvSpPr>
        <p:spPr>
          <a:xfrm>
            <a:off x="4956048" y="1481328"/>
            <a:ext cx="3886200" cy="694944"/>
          </a:xfrm>
          <a:prstGeom prst="rect">
            <a:avLst/>
          </a:prstGeom>
          <a:noFill/>
          <a:ln/>
        </p:spPr>
        <p:txBody>
          <a:bodyPr wrap="square" lIns="0" tIns="0" rIns="0" bIns="0" rtlCol="0" anchor="ctr"/>
          <a:lstStyle/>
          <a:p>
            <a:pPr indent="0" marL="0">
              <a:buNone/>
            </a:pPr>
            <a:r>
              <a:rPr lang="en-US" sz="950" dirty="0">
                <a:solidFill>
                  <a:srgbClr val="D6E8F5"/>
                </a:solidFill>
                <a:latin typeface="Calibri" pitchFamily="34" charset="0"/>
                <a:ea typeface="Calibri" pitchFamily="34" charset="-122"/>
                <a:cs typeface="Calibri" pitchFamily="34" charset="-120"/>
              </a:rPr>
              <a:t>Certificates embedded in OpenShift Route YAML or scripts are outside CLM automation scope. Require manual renewal tracking — or migration to NGC Vault + Order ID pattern.</a:t>
            </a:r>
            <a:endParaRPr lang="en-US" sz="950" dirty="0"/>
          </a:p>
        </p:txBody>
      </p:sp>
      <p:sp>
        <p:nvSpPr>
          <p:cNvPr id="14" name="Shape 12"/>
          <p:cNvSpPr/>
          <p:nvPr/>
        </p:nvSpPr>
        <p:spPr>
          <a:xfrm>
            <a:off x="384048" y="2377440"/>
            <a:ext cx="4160520" cy="1170432"/>
          </a:xfrm>
          <a:prstGeom prst="rect">
            <a:avLst/>
          </a:prstGeom>
          <a:solidFill>
            <a:srgbClr val="FFFFFF">
              <a:alpha val="8000"/>
            </a:srgbClr>
          </a:solidFill>
          <a:ln w="12700">
            <a:solidFill>
              <a:srgbClr val="056DAE">
                <a:alpha val="40000"/>
              </a:srgbClr>
            </a:solidFill>
            <a:prstDash val="solid"/>
          </a:ln>
        </p:spPr>
      </p:sp>
      <p:sp>
        <p:nvSpPr>
          <p:cNvPr id="15" name="Shape 13"/>
          <p:cNvSpPr/>
          <p:nvPr/>
        </p:nvSpPr>
        <p:spPr>
          <a:xfrm>
            <a:off x="384048" y="2377440"/>
            <a:ext cx="91440" cy="1170432"/>
          </a:xfrm>
          <a:prstGeom prst="rect">
            <a:avLst/>
          </a:prstGeom>
          <a:solidFill>
            <a:srgbClr val="056DAE"/>
          </a:solidFill>
          <a:ln w="12700">
            <a:solidFill>
              <a:srgbClr val="056DAE"/>
            </a:solidFill>
            <a:prstDash val="solid"/>
          </a:ln>
        </p:spPr>
      </p:sp>
      <p:sp>
        <p:nvSpPr>
          <p:cNvPr id="16" name="Text 14"/>
          <p:cNvSpPr/>
          <p:nvPr/>
        </p:nvSpPr>
        <p:spPr>
          <a:xfrm>
            <a:off x="585216" y="2468880"/>
            <a:ext cx="38862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determines automation quality</a:t>
            </a:r>
            <a:endParaRPr lang="en-US" sz="1150" dirty="0"/>
          </a:p>
        </p:txBody>
      </p:sp>
      <p:sp>
        <p:nvSpPr>
          <p:cNvPr id="17" name="Text 15"/>
          <p:cNvSpPr/>
          <p:nvPr/>
        </p:nvSpPr>
        <p:spPr>
          <a:xfrm>
            <a:off x="585216" y="2779776"/>
            <a:ext cx="3886200" cy="694944"/>
          </a:xfrm>
          <a:prstGeom prst="rect">
            <a:avLst/>
          </a:prstGeom>
          <a:noFill/>
          <a:ln/>
        </p:spPr>
        <p:txBody>
          <a:bodyPr wrap="square" lIns="0" tIns="0" rIns="0" bIns="0" rtlCol="0" anchor="ctr"/>
          <a:lstStyle/>
          <a:p>
            <a:pPr indent="0" marL="0">
              <a:buNone/>
            </a:pPr>
            <a:r>
              <a:rPr lang="en-US" sz="950" dirty="0">
                <a:solidFill>
                  <a:srgbClr val="D6E8F5"/>
                </a:solidFill>
                <a:latin typeface="Calibri" pitchFamily="34" charset="0"/>
                <a:ea typeface="Calibri" pitchFamily="34" charset="-122"/>
                <a:cs typeface="Calibri" pitchFamily="34" charset="-120"/>
              </a:rPr>
              <a:t>(1) Repository URLs configured at onboarding → enables code scanning. (2) FID write access granted → enables auto-PR. (3) SNOW DL correct → enables CR assignment.</a:t>
            </a:r>
            <a:endParaRPr lang="en-US" sz="950" dirty="0"/>
          </a:p>
        </p:txBody>
      </p:sp>
      <p:sp>
        <p:nvSpPr>
          <p:cNvPr id="18" name="Shape 16"/>
          <p:cNvSpPr/>
          <p:nvPr/>
        </p:nvSpPr>
        <p:spPr>
          <a:xfrm>
            <a:off x="4754880" y="2377440"/>
            <a:ext cx="4160520" cy="1170432"/>
          </a:xfrm>
          <a:prstGeom prst="rect">
            <a:avLst/>
          </a:prstGeom>
          <a:solidFill>
            <a:srgbClr val="FFFFFF">
              <a:alpha val="8000"/>
            </a:srgbClr>
          </a:solidFill>
          <a:ln w="12700">
            <a:solidFill>
              <a:srgbClr val="056DAE">
                <a:alpha val="40000"/>
              </a:srgbClr>
            </a:solidFill>
            <a:prstDash val="solid"/>
          </a:ln>
        </p:spPr>
      </p:sp>
      <p:sp>
        <p:nvSpPr>
          <p:cNvPr id="19" name="Shape 17"/>
          <p:cNvSpPr/>
          <p:nvPr/>
        </p:nvSpPr>
        <p:spPr>
          <a:xfrm>
            <a:off x="4754880" y="2377440"/>
            <a:ext cx="91440" cy="1170432"/>
          </a:xfrm>
          <a:prstGeom prst="rect">
            <a:avLst/>
          </a:prstGeom>
          <a:solidFill>
            <a:srgbClr val="056DAE"/>
          </a:solidFill>
          <a:ln w="12700">
            <a:solidFill>
              <a:srgbClr val="056DAE"/>
            </a:solidFill>
            <a:prstDash val="solid"/>
          </a:ln>
        </p:spPr>
      </p:sp>
      <p:sp>
        <p:nvSpPr>
          <p:cNvPr id="20" name="Text 18"/>
          <p:cNvSpPr/>
          <p:nvPr/>
        </p:nvSpPr>
        <p:spPr>
          <a:xfrm>
            <a:off x="4956048" y="2468880"/>
            <a:ext cx="38862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4 of 6 ideal state pillars achieved</a:t>
            </a:r>
            <a:endParaRPr lang="en-US" sz="1150" dirty="0"/>
          </a:p>
        </p:txBody>
      </p:sp>
      <p:sp>
        <p:nvSpPr>
          <p:cNvPr id="21" name="Text 19"/>
          <p:cNvSpPr/>
          <p:nvPr/>
        </p:nvSpPr>
        <p:spPr>
          <a:xfrm>
            <a:off x="4956048" y="2779776"/>
            <a:ext cx="3886200" cy="694944"/>
          </a:xfrm>
          <a:prstGeom prst="rect">
            <a:avLst/>
          </a:prstGeom>
          <a:noFill/>
          <a:ln/>
        </p:spPr>
        <p:txBody>
          <a:bodyPr wrap="square" lIns="0" tIns="0" rIns="0" bIns="0" rtlCol="0" anchor="ctr"/>
          <a:lstStyle/>
          <a:p>
            <a:pPr indent="0" marL="0">
              <a:buNone/>
            </a:pPr>
            <a:r>
              <a:rPr lang="en-US" sz="950" dirty="0">
                <a:solidFill>
                  <a:srgbClr val="D6E8F5"/>
                </a:solidFill>
                <a:latin typeface="Calibri" pitchFamily="34" charset="0"/>
                <a:ea typeface="Calibri" pitchFamily="34" charset="-122"/>
                <a:cs typeface="Calibri" pitchFamily="34" charset="-120"/>
              </a:rPr>
              <a:t>Full Visibility, Zero-Touch Renewal, Full Audit, and Proactive Governance are fully achieved. Impact Awareness and Greenzone Time automation are partial — with clear roadmap to close.</a:t>
            </a:r>
            <a:endParaRPr lang="en-US" sz="950" dirty="0"/>
          </a:p>
        </p:txBody>
      </p:sp>
      <p:sp>
        <p:nvSpPr>
          <p:cNvPr id="22" name="Shape 20"/>
          <p:cNvSpPr/>
          <p:nvPr/>
        </p:nvSpPr>
        <p:spPr>
          <a:xfrm>
            <a:off x="384048" y="3675888"/>
            <a:ext cx="4160520" cy="1170432"/>
          </a:xfrm>
          <a:prstGeom prst="rect">
            <a:avLst/>
          </a:prstGeom>
          <a:solidFill>
            <a:srgbClr val="FFFFFF">
              <a:alpha val="8000"/>
            </a:srgbClr>
          </a:solidFill>
          <a:ln w="12700">
            <a:solidFill>
              <a:srgbClr val="056DAE">
                <a:alpha val="40000"/>
              </a:srgbClr>
            </a:solidFill>
            <a:prstDash val="solid"/>
          </a:ln>
        </p:spPr>
      </p:sp>
      <p:sp>
        <p:nvSpPr>
          <p:cNvPr id="23" name="Shape 21"/>
          <p:cNvSpPr/>
          <p:nvPr/>
        </p:nvSpPr>
        <p:spPr>
          <a:xfrm>
            <a:off x="384048" y="3675888"/>
            <a:ext cx="91440" cy="1170432"/>
          </a:xfrm>
          <a:prstGeom prst="rect">
            <a:avLst/>
          </a:prstGeom>
          <a:solidFill>
            <a:srgbClr val="056DAE"/>
          </a:solidFill>
          <a:ln w="12700">
            <a:solidFill>
              <a:srgbClr val="056DAE"/>
            </a:solidFill>
            <a:prstDash val="solid"/>
          </a:ln>
        </p:spPr>
      </p:sp>
      <p:sp>
        <p:nvSpPr>
          <p:cNvPr id="24" name="Text 22"/>
          <p:cNvSpPr/>
          <p:nvPr/>
        </p:nvSpPr>
        <p:spPr>
          <a:xfrm>
            <a:off x="585216" y="3767328"/>
            <a:ext cx="38862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Next session — coming soon</a:t>
            </a:r>
            <a:endParaRPr lang="en-US" sz="1150" dirty="0"/>
          </a:p>
        </p:txBody>
      </p:sp>
      <p:sp>
        <p:nvSpPr>
          <p:cNvPr id="25" name="Text 23"/>
          <p:cNvSpPr/>
          <p:nvPr/>
        </p:nvSpPr>
        <p:spPr>
          <a:xfrm>
            <a:off x="585216" y="4078224"/>
            <a:ext cx="3886200" cy="694944"/>
          </a:xfrm>
          <a:prstGeom prst="rect">
            <a:avLst/>
          </a:prstGeom>
          <a:noFill/>
          <a:ln/>
        </p:spPr>
        <p:txBody>
          <a:bodyPr wrap="square" lIns="0" tIns="0" rIns="0" bIns="0" rtlCol="0" anchor="ctr"/>
          <a:lstStyle/>
          <a:p>
            <a:pPr indent="0" marL="0">
              <a:buNone/>
            </a:pPr>
            <a:r>
              <a:rPr lang="en-US" sz="950" dirty="0">
                <a:solidFill>
                  <a:srgbClr val="D6E8F5"/>
                </a:solidFill>
                <a:latin typeface="Calibri" pitchFamily="34" charset="0"/>
                <a:ea typeface="Calibri" pitchFamily="34" charset="-122"/>
                <a:cs typeface="Calibri" pitchFamily="34" charset="-120"/>
              </a:rPr>
              <a:t>GitHub integration, OpenShift Route scanning, and auto-merge deep dive. Separate invite to follow.</a:t>
            </a:r>
            <a:endParaRPr lang="en-US" sz="950" dirty="0"/>
          </a:p>
        </p:txBody>
      </p:sp>
      <p:sp>
        <p:nvSpPr>
          <p:cNvPr id="26" name="Shape 24"/>
          <p:cNvSpPr/>
          <p:nvPr/>
        </p:nvSpPr>
        <p:spPr>
          <a:xfrm>
            <a:off x="4754880" y="3675888"/>
            <a:ext cx="4160520" cy="1170432"/>
          </a:xfrm>
          <a:prstGeom prst="rect">
            <a:avLst/>
          </a:prstGeom>
          <a:solidFill>
            <a:srgbClr val="FFFFFF">
              <a:alpha val="8000"/>
            </a:srgbClr>
          </a:solidFill>
          <a:ln w="12700">
            <a:solidFill>
              <a:srgbClr val="056DAE">
                <a:alpha val="40000"/>
              </a:srgbClr>
            </a:solidFill>
            <a:prstDash val="solid"/>
          </a:ln>
        </p:spPr>
      </p:sp>
      <p:sp>
        <p:nvSpPr>
          <p:cNvPr id="27" name="Shape 25"/>
          <p:cNvSpPr/>
          <p:nvPr/>
        </p:nvSpPr>
        <p:spPr>
          <a:xfrm>
            <a:off x="4754880" y="3675888"/>
            <a:ext cx="91440" cy="1170432"/>
          </a:xfrm>
          <a:prstGeom prst="rect">
            <a:avLst/>
          </a:prstGeom>
          <a:solidFill>
            <a:srgbClr val="056DAE"/>
          </a:solidFill>
          <a:ln w="12700">
            <a:solidFill>
              <a:srgbClr val="056DAE"/>
            </a:solidFill>
            <a:prstDash val="solid"/>
          </a:ln>
        </p:spPr>
      </p:sp>
      <p:sp>
        <p:nvSpPr>
          <p:cNvPr id="28" name="Text 26"/>
          <p:cNvSpPr/>
          <p:nvPr/>
        </p:nvSpPr>
        <p:spPr>
          <a:xfrm>
            <a:off x="4956048" y="3767328"/>
            <a:ext cx="38862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Your action</a:t>
            </a:r>
            <a:endParaRPr lang="en-US" sz="1150" dirty="0"/>
          </a:p>
        </p:txBody>
      </p:sp>
      <p:sp>
        <p:nvSpPr>
          <p:cNvPr id="29" name="Text 27"/>
          <p:cNvSpPr/>
          <p:nvPr/>
        </p:nvSpPr>
        <p:spPr>
          <a:xfrm>
            <a:off x="4956048" y="4078224"/>
            <a:ext cx="3886200" cy="694944"/>
          </a:xfrm>
          <a:prstGeom prst="rect">
            <a:avLst/>
          </a:prstGeom>
          <a:noFill/>
          <a:ln/>
        </p:spPr>
        <p:txBody>
          <a:bodyPr wrap="square" lIns="0" tIns="0" rIns="0" bIns="0" rtlCol="0" anchor="ctr"/>
          <a:lstStyle/>
          <a:p>
            <a:pPr indent="0" marL="0">
              <a:buNone/>
            </a:pPr>
            <a:r>
              <a:rPr lang="en-US" sz="950" dirty="0">
                <a:solidFill>
                  <a:srgbClr val="D6E8F5"/>
                </a:solidFill>
                <a:latin typeface="Calibri" pitchFamily="34" charset="0"/>
                <a:ea typeface="Calibri" pitchFamily="34" charset="-122"/>
                <a:cs typeface="Calibri" pitchFamily="34" charset="-120"/>
              </a:rPr>
              <a:t>1. Raise CMP Marketplace request for portal access.  2. Onboard CSI — provide repo URLs and ensure FID write access.  3. CLM activates scan and monitoring automatically.</a:t>
            </a:r>
            <a:endParaRPr lang="en-US" sz="950" dirty="0"/>
          </a:p>
        </p:txBody>
      </p:sp>
      <p:sp>
        <p:nvSpPr>
          <p:cNvPr id="30" name="Text 28"/>
          <p:cNvSpPr/>
          <p:nvPr/>
        </p:nvSpPr>
        <p:spPr>
          <a:xfrm>
            <a:off x="384048" y="4828032"/>
            <a:ext cx="8375904" cy="256032"/>
          </a:xfrm>
          <a:prstGeom prst="rect">
            <a:avLst/>
          </a:prstGeom>
          <a:noFill/>
          <a:ln/>
        </p:spPr>
        <p:txBody>
          <a:bodyPr wrap="square" lIns="0" tIns="0" rIns="0" bIns="0" rtlCol="0" anchor="ctr"/>
          <a:lstStyle/>
          <a:p>
            <a:pPr algn="ctr" indent="0" marL="0">
              <a:buNone/>
            </a:pPr>
            <a:r>
              <a:rPr lang="en-US" sz="1200" b="1" i="1" dirty="0">
                <a:solidFill>
                  <a:srgbClr val="056DAE"/>
                </a:solidFill>
                <a:latin typeface="Calibri" pitchFamily="34" charset="0"/>
                <a:ea typeface="Calibri" pitchFamily="34" charset="-122"/>
                <a:cs typeface="Calibri" pitchFamily="34" charset="-120"/>
              </a:rPr>
              <a:t>CLM is not a project. It is the platform for certificate lifecycle management at Citi.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CLM – Container Certificate Management</dc:title>
  <dc:subject>PptxGenJS Presentation</dc:subject>
  <dc:creator>PptxGenJS</dc:creator>
  <cp:lastModifiedBy>PptxGenJS</cp:lastModifiedBy>
  <cp:revision>1</cp:revision>
  <dcterms:created xsi:type="dcterms:W3CDTF">2026-03-30T06:33:02Z</dcterms:created>
  <dcterms:modified xsi:type="dcterms:W3CDTF">2026-03-30T06:33:02Z</dcterms:modified>
</cp:coreProperties>
</file>