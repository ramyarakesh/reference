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B7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56DAE"/>
          </a:solidFill>
          <a:ln w="12700">
            <a:solidFill>
              <a:srgbClr val="056DAE"/>
            </a:solidFill>
            <a:prstDash val="solid"/>
          </a:ln>
        </p:spPr>
      </p:sp>
      <p:sp>
        <p:nvSpPr>
          <p:cNvPr id="3" name="Shape 1"/>
          <p:cNvSpPr/>
          <p:nvPr/>
        </p:nvSpPr>
        <p:spPr>
          <a:xfrm>
            <a:off x="201168" y="0"/>
            <a:ext cx="8942832" cy="73152"/>
          </a:xfrm>
          <a:prstGeom prst="rect">
            <a:avLst/>
          </a:prstGeom>
          <a:solidFill>
            <a:srgbClr val="056DAE"/>
          </a:solidFill>
          <a:ln w="12700">
            <a:solidFill>
              <a:srgbClr val="056DAE"/>
            </a:solidFill>
            <a:prstDash val="solid"/>
          </a:ln>
        </p:spPr>
      </p:sp>
      <p:sp>
        <p:nvSpPr>
          <p:cNvPr id="5" name="Text 3"/>
          <p:cNvSpPr/>
          <p:nvPr/>
        </p:nvSpPr>
        <p:spPr>
          <a:xfrm>
            <a:off x="457200" y="411480"/>
            <a:ext cx="7315200" cy="1143000"/>
          </a:xfrm>
          <a:prstGeom prst="rect">
            <a:avLst/>
          </a:prstGeom>
          <a:noFill/>
        </p:spPr>
        <p:txBody>
          <a:bodyPr wrap="square" lIns="0" tIns="0" rIns="0" bIns="0" rtlCol="0" anchor="ctr"/>
          <a:lstStyle/>
          <a:p>
            <a:pPr marL="0" indent="0">
              <a:buNone/>
            </a:pPr>
            <a:r>
              <a:rPr lang="en-US" sz="8200" b="1" dirty="0">
                <a:solidFill>
                  <a:srgbClr val="FFFFFF"/>
                </a:solidFill>
                <a:latin typeface="Calibri" pitchFamily="34" charset="0"/>
                <a:ea typeface="Calibri" pitchFamily="34" charset="-122"/>
                <a:cs typeface="Calibri" pitchFamily="34" charset="-120"/>
              </a:rPr>
              <a:t>CLM</a:t>
            </a:r>
            <a:endParaRPr lang="en-US" sz="8200" dirty="0"/>
          </a:p>
        </p:txBody>
      </p:sp>
      <p:sp>
        <p:nvSpPr>
          <p:cNvPr id="6" name="Text 4"/>
          <p:cNvSpPr/>
          <p:nvPr/>
        </p:nvSpPr>
        <p:spPr>
          <a:xfrm>
            <a:off x="457200" y="1536192"/>
            <a:ext cx="8229600" cy="475488"/>
          </a:xfrm>
          <a:prstGeom prst="rect">
            <a:avLst/>
          </a:prstGeom>
          <a:noFill/>
        </p:spPr>
        <p:txBody>
          <a:bodyPr wrap="square" lIns="0" tIns="0" rIns="0" bIns="0" rtlCol="0" anchor="ctr"/>
          <a:lstStyle/>
          <a:p>
            <a:pPr marL="0" indent="0">
              <a:buNone/>
            </a:pPr>
            <a:r>
              <a:rPr lang="en-US" sz="2100" dirty="0">
                <a:solidFill>
                  <a:srgbClr val="D6E8F5"/>
                </a:solidFill>
                <a:latin typeface="Calibri" pitchFamily="34" charset="0"/>
                <a:ea typeface="Calibri" pitchFamily="34" charset="-122"/>
                <a:cs typeface="Calibri" pitchFamily="34" charset="-120"/>
              </a:rPr>
              <a:t>Certificate Lifecycle Management</a:t>
            </a:r>
            <a:endParaRPr lang="en-US" sz="2100" dirty="0"/>
          </a:p>
        </p:txBody>
      </p:sp>
      <p:sp>
        <p:nvSpPr>
          <p:cNvPr id="7" name="Shape 5"/>
          <p:cNvSpPr/>
          <p:nvPr/>
        </p:nvSpPr>
        <p:spPr>
          <a:xfrm>
            <a:off x="457200" y="2148840"/>
            <a:ext cx="3291840" cy="54864"/>
          </a:xfrm>
          <a:prstGeom prst="rect">
            <a:avLst/>
          </a:prstGeom>
          <a:solidFill>
            <a:srgbClr val="056DAE"/>
          </a:solidFill>
          <a:ln w="12700">
            <a:solidFill>
              <a:srgbClr val="056DAE"/>
            </a:solidFill>
            <a:prstDash val="solid"/>
          </a:ln>
        </p:spPr>
      </p:sp>
      <p:sp>
        <p:nvSpPr>
          <p:cNvPr id="8" name="Text 6"/>
          <p:cNvSpPr/>
          <p:nvPr/>
        </p:nvSpPr>
        <p:spPr>
          <a:xfrm>
            <a:off x="457200" y="2331720"/>
            <a:ext cx="7772400" cy="502920"/>
          </a:xfrm>
          <a:prstGeom prst="rect">
            <a:avLst/>
          </a:prstGeom>
          <a:noFill/>
        </p:spPr>
        <p:txBody>
          <a:bodyPr wrap="square" lIns="0" tIns="0" rIns="0" bIns="0" rtlCol="0" anchor="ctr"/>
          <a:lstStyle/>
          <a:p>
            <a:pPr marL="0" indent="0">
              <a:buNone/>
            </a:pPr>
            <a:r>
              <a:rPr lang="en-US" sz="1400" dirty="0">
                <a:solidFill>
                  <a:srgbClr val="D6E8F5"/>
                </a:solidFill>
                <a:latin typeface="Calibri" pitchFamily="34" charset="0"/>
                <a:ea typeface="Calibri" pitchFamily="34" charset="-122"/>
                <a:cs typeface="Calibri" pitchFamily="34" charset="-120"/>
              </a:rPr>
              <a:t>Automating the full lifecycle of certificates — from discovery to renewal, deployment and validation</a:t>
            </a:r>
            <a:endParaRPr lang="en-US" sz="1400" dirty="0"/>
          </a:p>
        </p:txBody>
      </p:sp>
      <p:sp>
        <p:nvSpPr>
          <p:cNvPr id="9" name="Text 7"/>
          <p:cNvSpPr/>
          <p:nvPr/>
        </p:nvSpPr>
        <p:spPr>
          <a:xfrm>
            <a:off x="457200" y="2926080"/>
            <a:ext cx="7315200" cy="347472"/>
          </a:xfrm>
          <a:prstGeom prst="rect">
            <a:avLst/>
          </a:prstGeom>
          <a:noFill/>
        </p:spPr>
        <p:txBody>
          <a:bodyPr wrap="square" lIns="0" tIns="0" rIns="0" bIns="0" rtlCol="0" anchor="ctr"/>
          <a:lstStyle/>
          <a:p>
            <a:pPr marL="0" indent="0">
              <a:buNone/>
            </a:pPr>
            <a:r>
              <a:rPr lang="en-US" sz="1200" i="1" dirty="0">
                <a:solidFill>
                  <a:srgbClr val="D6E8F5"/>
                </a:solidFill>
                <a:latin typeface="Calibri" pitchFamily="34" charset="0"/>
                <a:ea typeface="Calibri" pitchFamily="34" charset="-122"/>
                <a:cs typeface="Calibri" pitchFamily="34" charset="-120"/>
              </a:rPr>
              <a:t>Platform scope: VM Servers  ·  Containers (OpenShift)</a:t>
            </a:r>
            <a:endParaRPr lang="en-US" sz="1200" dirty="0"/>
          </a:p>
        </p:txBody>
      </p:sp>
      <p:sp>
        <p:nvSpPr>
          <p:cNvPr id="10" name="Shape 8"/>
          <p:cNvSpPr/>
          <p:nvPr/>
        </p:nvSpPr>
        <p:spPr>
          <a:xfrm>
            <a:off x="457200" y="3749040"/>
            <a:ext cx="2560320" cy="749808"/>
          </a:xfrm>
          <a:prstGeom prst="rect">
            <a:avLst/>
          </a:prstGeom>
          <a:solidFill>
            <a:srgbClr val="FFFFFF">
              <a:alpha val="12000"/>
            </a:srgbClr>
          </a:solidFill>
          <a:ln w="12700">
            <a:solidFill>
              <a:srgbClr val="056DAE">
                <a:alpha val="50000"/>
              </a:srgbClr>
            </a:solidFill>
            <a:prstDash val="solid"/>
          </a:ln>
        </p:spPr>
      </p:sp>
      <p:sp>
        <p:nvSpPr>
          <p:cNvPr id="11" name="Text 9"/>
          <p:cNvSpPr/>
          <p:nvPr/>
        </p:nvSpPr>
        <p:spPr>
          <a:xfrm>
            <a:off x="457200" y="3767328"/>
            <a:ext cx="2560320" cy="365760"/>
          </a:xfrm>
          <a:prstGeom prst="rect">
            <a:avLst/>
          </a:prstGeom>
          <a:noFill/>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51+</a:t>
            </a:r>
            <a:endParaRPr lang="en-US" sz="2400" dirty="0"/>
          </a:p>
        </p:txBody>
      </p:sp>
      <p:sp>
        <p:nvSpPr>
          <p:cNvPr id="12" name="Text 10"/>
          <p:cNvSpPr/>
          <p:nvPr/>
        </p:nvSpPr>
        <p:spPr>
          <a:xfrm>
            <a:off x="457200" y="4151376"/>
            <a:ext cx="2560320" cy="292608"/>
          </a:xfrm>
          <a:prstGeom prst="rect">
            <a:avLst/>
          </a:prstGeom>
          <a:noFill/>
        </p:spPr>
        <p:txBody>
          <a:bodyPr wrap="square" lIns="0" tIns="0" rIns="0" bIns="0"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MIMs prevented</a:t>
            </a:r>
            <a:endParaRPr lang="en-US" sz="1000" dirty="0"/>
          </a:p>
        </p:txBody>
      </p:sp>
      <p:sp>
        <p:nvSpPr>
          <p:cNvPr id="13" name="Shape 11"/>
          <p:cNvSpPr/>
          <p:nvPr/>
        </p:nvSpPr>
        <p:spPr>
          <a:xfrm>
            <a:off x="3246120" y="3749040"/>
            <a:ext cx="2560320" cy="749808"/>
          </a:xfrm>
          <a:prstGeom prst="rect">
            <a:avLst/>
          </a:prstGeom>
          <a:solidFill>
            <a:srgbClr val="FFFFFF">
              <a:alpha val="12000"/>
            </a:srgbClr>
          </a:solidFill>
          <a:ln w="12700">
            <a:solidFill>
              <a:srgbClr val="056DAE">
                <a:alpha val="50000"/>
              </a:srgbClr>
            </a:solidFill>
            <a:prstDash val="solid"/>
          </a:ln>
        </p:spPr>
      </p:sp>
      <p:sp>
        <p:nvSpPr>
          <p:cNvPr id="14" name="Text 12"/>
          <p:cNvSpPr/>
          <p:nvPr/>
        </p:nvSpPr>
        <p:spPr>
          <a:xfrm>
            <a:off x="3246120" y="3767328"/>
            <a:ext cx="2560320" cy="365760"/>
          </a:xfrm>
          <a:prstGeom prst="rect">
            <a:avLst/>
          </a:prstGeom>
          <a:noFill/>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400+</a:t>
            </a:r>
            <a:endParaRPr lang="en-US" sz="2400" dirty="0"/>
          </a:p>
        </p:txBody>
      </p:sp>
      <p:sp>
        <p:nvSpPr>
          <p:cNvPr id="15" name="Text 13"/>
          <p:cNvSpPr/>
          <p:nvPr/>
        </p:nvSpPr>
        <p:spPr>
          <a:xfrm>
            <a:off x="3246120" y="4151376"/>
            <a:ext cx="2560320" cy="292608"/>
          </a:xfrm>
          <a:prstGeom prst="rect">
            <a:avLst/>
          </a:prstGeom>
          <a:noFill/>
        </p:spPr>
        <p:txBody>
          <a:bodyPr wrap="square" lIns="0" tIns="0" rIns="0" bIns="0"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Hrs downtime recovered</a:t>
            </a:r>
            <a:endParaRPr lang="en-US" sz="1000" dirty="0"/>
          </a:p>
        </p:txBody>
      </p:sp>
      <p:sp>
        <p:nvSpPr>
          <p:cNvPr id="16" name="Shape 14"/>
          <p:cNvSpPr/>
          <p:nvPr/>
        </p:nvSpPr>
        <p:spPr>
          <a:xfrm>
            <a:off x="6035040" y="3749040"/>
            <a:ext cx="2560320" cy="749808"/>
          </a:xfrm>
          <a:prstGeom prst="rect">
            <a:avLst/>
          </a:prstGeom>
          <a:solidFill>
            <a:srgbClr val="FFFFFF">
              <a:alpha val="12000"/>
            </a:srgbClr>
          </a:solidFill>
          <a:ln w="12700">
            <a:solidFill>
              <a:srgbClr val="056DAE">
                <a:alpha val="50000"/>
              </a:srgbClr>
            </a:solidFill>
            <a:prstDash val="solid"/>
          </a:ln>
        </p:spPr>
      </p:sp>
      <p:sp>
        <p:nvSpPr>
          <p:cNvPr id="17" name="Text 15"/>
          <p:cNvSpPr/>
          <p:nvPr/>
        </p:nvSpPr>
        <p:spPr>
          <a:xfrm>
            <a:off x="6035040" y="3767328"/>
            <a:ext cx="2560320" cy="365760"/>
          </a:xfrm>
          <a:prstGeom prst="rect">
            <a:avLst/>
          </a:prstGeom>
          <a:noFill/>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60 days</a:t>
            </a:r>
            <a:endParaRPr lang="en-US" sz="2400" dirty="0"/>
          </a:p>
        </p:txBody>
      </p:sp>
      <p:sp>
        <p:nvSpPr>
          <p:cNvPr id="18" name="Text 16"/>
          <p:cNvSpPr/>
          <p:nvPr/>
        </p:nvSpPr>
        <p:spPr>
          <a:xfrm>
            <a:off x="6035040" y="4151376"/>
            <a:ext cx="2560320" cy="292608"/>
          </a:xfrm>
          <a:prstGeom prst="rect">
            <a:avLst/>
          </a:prstGeom>
          <a:noFill/>
        </p:spPr>
        <p:txBody>
          <a:bodyPr wrap="square" lIns="0" tIns="0" rIns="0" bIns="0" rtlCol="0" anchor="ctr"/>
          <a:lstStyle/>
          <a:p>
            <a:pPr marL="0" indent="0" algn="ctr">
              <a:buNone/>
            </a:pPr>
            <a:r>
              <a:rPr lang="en-US" sz="1000" dirty="0">
                <a:solidFill>
                  <a:srgbClr val="D6E8F5"/>
                </a:solidFill>
                <a:latin typeface="Calibri" pitchFamily="34" charset="0"/>
                <a:ea typeface="Calibri" pitchFamily="34" charset="-122"/>
                <a:cs typeface="Calibri" pitchFamily="34" charset="-120"/>
              </a:rPr>
              <a:t>SLA enforcement</a:t>
            </a:r>
            <a:endParaRPr lang="en-US" sz="1000" dirty="0"/>
          </a:p>
        </p:txBody>
      </p:sp>
      <p:sp>
        <p:nvSpPr>
          <p:cNvPr id="19" name="Text 17"/>
          <p:cNvSpPr/>
          <p:nvPr/>
        </p:nvSpPr>
        <p:spPr>
          <a:xfrm>
            <a:off x="457200" y="4727448"/>
            <a:ext cx="8321040" cy="256032"/>
          </a:xfrm>
          <a:prstGeom prst="rect">
            <a:avLst/>
          </a:prstGeom>
          <a:noFill/>
        </p:spPr>
        <p:txBody>
          <a:bodyPr wrap="square" lIns="0" tIns="0" rIns="0" bIns="0" rtlCol="0" anchor="ctr"/>
          <a:lstStyle/>
          <a:p>
            <a:pPr marL="0" indent="0">
              <a:buNone/>
            </a:pPr>
            <a:r>
              <a:rPr lang="en-US" sz="1000" dirty="0">
                <a:solidFill>
                  <a:srgbClr val="8294A8"/>
                </a:solidFill>
                <a:latin typeface="Calibri" pitchFamily="34" charset="0"/>
                <a:ea typeface="Calibri" pitchFamily="34" charset="-122"/>
                <a:cs typeface="Calibri" pitchFamily="34" charset="-120"/>
              </a:rPr>
              <a:t>Audience: Senior Leadership  ·  Platform Engineering  ·  Application Owners  ·  Support Teams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Why CLM? — The Business Case</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Certificate mismanagement is not a risk — it is a proven cause of operational failure</a:t>
            </a:r>
            <a:endParaRPr lang="en-US" sz="1050" dirty="0"/>
          </a:p>
        </p:txBody>
      </p:sp>
      <p:sp>
        <p:nvSpPr>
          <p:cNvPr id="6" name="Shape 4"/>
          <p:cNvSpPr/>
          <p:nvPr/>
        </p:nvSpPr>
        <p:spPr>
          <a:xfrm>
            <a:off x="292608" y="886968"/>
            <a:ext cx="2788920" cy="1874520"/>
          </a:xfrm>
          <a:prstGeom prst="rect">
            <a:avLst/>
          </a:prstGeom>
          <a:solidFill>
            <a:srgbClr val="FDE8EC"/>
          </a:solidFill>
          <a:ln w="12700">
            <a:solidFill>
              <a:srgbClr val="C8102E"/>
            </a:solidFill>
            <a:prstDash val="solid"/>
          </a:ln>
          <a:effectLst>
            <a:outerShdw blurRad="63500" dist="25400" dir="8100000" algn="bl" rotWithShape="0">
              <a:srgbClr val="000000">
                <a:alpha val="7000"/>
              </a:srgbClr>
            </a:outerShdw>
          </a:effectLst>
        </p:spPr>
      </p:sp>
      <p:sp>
        <p:nvSpPr>
          <p:cNvPr id="7" name="Shape 5"/>
          <p:cNvSpPr/>
          <p:nvPr/>
        </p:nvSpPr>
        <p:spPr>
          <a:xfrm>
            <a:off x="292608" y="886968"/>
            <a:ext cx="2788920" cy="64008"/>
          </a:xfrm>
          <a:prstGeom prst="rect">
            <a:avLst/>
          </a:prstGeom>
          <a:solidFill>
            <a:srgbClr val="C8102E"/>
          </a:solidFill>
          <a:ln w="12700">
            <a:solidFill>
              <a:srgbClr val="C8102E"/>
            </a:solidFill>
            <a:prstDash val="solid"/>
          </a:ln>
        </p:spPr>
      </p:sp>
      <p:sp>
        <p:nvSpPr>
          <p:cNvPr id="8" name="Text 6"/>
          <p:cNvSpPr/>
          <p:nvPr/>
        </p:nvSpPr>
        <p:spPr>
          <a:xfrm>
            <a:off x="384048" y="978408"/>
            <a:ext cx="2606040" cy="749808"/>
          </a:xfrm>
          <a:prstGeom prst="rect">
            <a:avLst/>
          </a:prstGeom>
          <a:noFill/>
        </p:spPr>
        <p:txBody>
          <a:bodyPr wrap="square" lIns="0" tIns="0" rIns="0" bIns="0" rtlCol="0" anchor="ctr"/>
          <a:lstStyle/>
          <a:p>
            <a:pPr marL="0" indent="0" algn="ctr">
              <a:buNone/>
            </a:pPr>
            <a:r>
              <a:rPr lang="en-US" sz="4400" b="1" dirty="0">
                <a:solidFill>
                  <a:srgbClr val="C8102E"/>
                </a:solidFill>
                <a:latin typeface="Calibri" pitchFamily="34" charset="0"/>
                <a:ea typeface="Calibri" pitchFamily="34" charset="-122"/>
                <a:cs typeface="Calibri" pitchFamily="34" charset="-120"/>
              </a:rPr>
              <a:t>51+</a:t>
            </a:r>
            <a:endParaRPr lang="en-US" sz="4400" dirty="0"/>
          </a:p>
        </p:txBody>
      </p:sp>
      <p:sp>
        <p:nvSpPr>
          <p:cNvPr id="9" name="Text 7"/>
          <p:cNvSpPr/>
          <p:nvPr/>
        </p:nvSpPr>
        <p:spPr>
          <a:xfrm>
            <a:off x="384048" y="1755648"/>
            <a:ext cx="2606040" cy="274320"/>
          </a:xfrm>
          <a:prstGeom prst="rect">
            <a:avLst/>
          </a:prstGeom>
          <a:noFill/>
        </p:spPr>
        <p:txBody>
          <a:bodyPr wrap="square" lIns="0" tIns="0" rIns="0" bIns="0" rtlCol="0" anchor="ctr"/>
          <a:lstStyle/>
          <a:p>
            <a:pPr marL="0" indent="0" algn="ctr">
              <a:buNone/>
            </a:pPr>
            <a:r>
              <a:rPr lang="en-US" sz="1200" b="1" dirty="0">
                <a:solidFill>
                  <a:srgbClr val="1A2B40"/>
                </a:solidFill>
                <a:latin typeface="Calibri" pitchFamily="34" charset="0"/>
                <a:ea typeface="Calibri" pitchFamily="34" charset="-122"/>
                <a:cs typeface="Calibri" pitchFamily="34" charset="-120"/>
              </a:rPr>
              <a:t>Major Incidents (MIMs)</a:t>
            </a:r>
            <a:endParaRPr lang="en-US" sz="1200" dirty="0"/>
          </a:p>
        </p:txBody>
      </p:sp>
      <p:sp>
        <p:nvSpPr>
          <p:cNvPr id="10" name="Text 8"/>
          <p:cNvSpPr/>
          <p:nvPr/>
        </p:nvSpPr>
        <p:spPr>
          <a:xfrm>
            <a:off x="384048" y="2066544"/>
            <a:ext cx="2606040" cy="621792"/>
          </a:xfrm>
          <a:prstGeom prst="rect">
            <a:avLst/>
          </a:prstGeom>
          <a:noFill/>
        </p:spPr>
        <p:txBody>
          <a:bodyPr wrap="square" lIns="0" tIns="0" rIns="0" bIns="0"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Directly attributed to</a:t>
            </a:r>
            <a:endParaRPr lang="en-US" sz="1000" dirty="0"/>
          </a:p>
          <a:p>
            <a:pPr marL="0" indent="0" algn="ctr">
              <a:buNone/>
            </a:pPr>
            <a:r>
              <a:rPr lang="en-US" sz="1000" dirty="0">
                <a:solidFill>
                  <a:srgbClr val="4A6080"/>
                </a:solidFill>
                <a:latin typeface="Calibri" pitchFamily="34" charset="0"/>
                <a:ea typeface="Calibri" pitchFamily="34" charset="-122"/>
                <a:cs typeface="Calibri" pitchFamily="34" charset="-120"/>
              </a:rPr>
              <a:t>certificate handling</a:t>
            </a:r>
            <a:endParaRPr lang="en-US" sz="1000" dirty="0"/>
          </a:p>
          <a:p>
            <a:pPr marL="0" indent="0" algn="ctr">
              <a:buNone/>
            </a:pPr>
            <a:r>
              <a:rPr lang="en-US" sz="1000" dirty="0">
                <a:solidFill>
                  <a:srgbClr val="4A6080"/>
                </a:solidFill>
                <a:latin typeface="Calibri" pitchFamily="34" charset="0"/>
                <a:ea typeface="Calibri" pitchFamily="34" charset="-122"/>
                <a:cs typeface="Calibri" pitchFamily="34" charset="-120"/>
              </a:rPr>
              <a:t>failures since 2019</a:t>
            </a:r>
            <a:endParaRPr lang="en-US" sz="1000" dirty="0"/>
          </a:p>
        </p:txBody>
      </p:sp>
      <p:sp>
        <p:nvSpPr>
          <p:cNvPr id="11" name="Shape 9"/>
          <p:cNvSpPr/>
          <p:nvPr/>
        </p:nvSpPr>
        <p:spPr>
          <a:xfrm>
            <a:off x="3236976" y="886968"/>
            <a:ext cx="2788920" cy="1874520"/>
          </a:xfrm>
          <a:prstGeom prst="rect">
            <a:avLst/>
          </a:prstGeom>
          <a:solidFill>
            <a:srgbClr val="FFF8E6"/>
          </a:solidFill>
          <a:ln w="12700">
            <a:solidFill>
              <a:srgbClr val="7C5C00"/>
            </a:solidFill>
            <a:prstDash val="solid"/>
          </a:ln>
          <a:effectLst>
            <a:outerShdw blurRad="63500" dist="25400" dir="8100000" algn="bl" rotWithShape="0">
              <a:srgbClr val="000000">
                <a:alpha val="7000"/>
              </a:srgbClr>
            </a:outerShdw>
          </a:effectLst>
        </p:spPr>
      </p:sp>
      <p:sp>
        <p:nvSpPr>
          <p:cNvPr id="12" name="Shape 10"/>
          <p:cNvSpPr/>
          <p:nvPr/>
        </p:nvSpPr>
        <p:spPr>
          <a:xfrm>
            <a:off x="3236976" y="886968"/>
            <a:ext cx="2788920" cy="64008"/>
          </a:xfrm>
          <a:prstGeom prst="rect">
            <a:avLst/>
          </a:prstGeom>
          <a:solidFill>
            <a:srgbClr val="7C5C00"/>
          </a:solidFill>
          <a:ln w="12700">
            <a:solidFill>
              <a:srgbClr val="7C5C00"/>
            </a:solidFill>
            <a:prstDash val="solid"/>
          </a:ln>
        </p:spPr>
      </p:sp>
      <p:sp>
        <p:nvSpPr>
          <p:cNvPr id="13" name="Text 11"/>
          <p:cNvSpPr/>
          <p:nvPr/>
        </p:nvSpPr>
        <p:spPr>
          <a:xfrm>
            <a:off x="3328416" y="978408"/>
            <a:ext cx="2606040" cy="749808"/>
          </a:xfrm>
          <a:prstGeom prst="rect">
            <a:avLst/>
          </a:prstGeom>
          <a:noFill/>
        </p:spPr>
        <p:txBody>
          <a:bodyPr wrap="square" lIns="0" tIns="0" rIns="0" bIns="0" rtlCol="0" anchor="ctr"/>
          <a:lstStyle/>
          <a:p>
            <a:pPr marL="0" indent="0" algn="ctr">
              <a:buNone/>
            </a:pPr>
            <a:r>
              <a:rPr lang="en-US" sz="4400" b="1" dirty="0">
                <a:solidFill>
                  <a:srgbClr val="7C5C00"/>
                </a:solidFill>
                <a:latin typeface="Calibri" pitchFamily="34" charset="0"/>
                <a:ea typeface="Calibri" pitchFamily="34" charset="-122"/>
                <a:cs typeface="Calibri" pitchFamily="34" charset="-120"/>
              </a:rPr>
              <a:t>400+</a:t>
            </a:r>
            <a:endParaRPr lang="en-US" sz="4400" dirty="0"/>
          </a:p>
        </p:txBody>
      </p:sp>
      <p:sp>
        <p:nvSpPr>
          <p:cNvPr id="14" name="Text 12"/>
          <p:cNvSpPr/>
          <p:nvPr/>
        </p:nvSpPr>
        <p:spPr>
          <a:xfrm>
            <a:off x="3328416" y="1755648"/>
            <a:ext cx="2606040" cy="274320"/>
          </a:xfrm>
          <a:prstGeom prst="rect">
            <a:avLst/>
          </a:prstGeom>
          <a:noFill/>
        </p:spPr>
        <p:txBody>
          <a:bodyPr wrap="square" lIns="0" tIns="0" rIns="0" bIns="0" rtlCol="0" anchor="ctr"/>
          <a:lstStyle/>
          <a:p>
            <a:pPr marL="0" indent="0" algn="ctr">
              <a:buNone/>
            </a:pPr>
            <a:r>
              <a:rPr lang="en-US" sz="1200" b="1" dirty="0">
                <a:solidFill>
                  <a:srgbClr val="1A2B40"/>
                </a:solidFill>
                <a:latin typeface="Calibri" pitchFamily="34" charset="0"/>
                <a:ea typeface="Calibri" pitchFamily="34" charset="-122"/>
                <a:cs typeface="Calibri" pitchFamily="34" charset="-120"/>
              </a:rPr>
              <a:t>Hours of Downtime</a:t>
            </a:r>
            <a:endParaRPr lang="en-US" sz="1200" dirty="0"/>
          </a:p>
        </p:txBody>
      </p:sp>
      <p:sp>
        <p:nvSpPr>
          <p:cNvPr id="15" name="Text 13"/>
          <p:cNvSpPr/>
          <p:nvPr/>
        </p:nvSpPr>
        <p:spPr>
          <a:xfrm>
            <a:off x="3328416" y="2066544"/>
            <a:ext cx="2606040" cy="621792"/>
          </a:xfrm>
          <a:prstGeom prst="rect">
            <a:avLst/>
          </a:prstGeom>
          <a:noFill/>
        </p:spPr>
        <p:txBody>
          <a:bodyPr wrap="square" lIns="0" tIns="0" rIns="0" bIns="0"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Approximate total caused</a:t>
            </a:r>
            <a:endParaRPr lang="en-US" sz="1000" dirty="0"/>
          </a:p>
          <a:p>
            <a:pPr marL="0" indent="0" algn="ctr">
              <a:buNone/>
            </a:pPr>
            <a:r>
              <a:rPr lang="en-US" sz="1000" dirty="0">
                <a:solidFill>
                  <a:srgbClr val="4A6080"/>
                </a:solidFill>
                <a:latin typeface="Calibri" pitchFamily="34" charset="0"/>
                <a:ea typeface="Calibri" pitchFamily="34" charset="-122"/>
                <a:cs typeface="Calibri" pitchFamily="34" charset="-120"/>
              </a:rPr>
              <a:t>by certificate expiry</a:t>
            </a:r>
            <a:endParaRPr lang="en-US" sz="1000" dirty="0"/>
          </a:p>
          <a:p>
            <a:pPr marL="0" indent="0" algn="ctr">
              <a:buNone/>
            </a:pPr>
            <a:r>
              <a:rPr lang="en-US" sz="1000" dirty="0">
                <a:solidFill>
                  <a:srgbClr val="4A6080"/>
                </a:solidFill>
                <a:latin typeface="Calibri" pitchFamily="34" charset="0"/>
                <a:ea typeface="Calibri" pitchFamily="34" charset="-122"/>
                <a:cs typeface="Calibri" pitchFamily="34" charset="-120"/>
              </a:rPr>
              <a:t>across critical systems</a:t>
            </a:r>
            <a:endParaRPr lang="en-US" sz="1000" dirty="0"/>
          </a:p>
        </p:txBody>
      </p:sp>
      <p:sp>
        <p:nvSpPr>
          <p:cNvPr id="16" name="Shape 14"/>
          <p:cNvSpPr/>
          <p:nvPr/>
        </p:nvSpPr>
        <p:spPr>
          <a:xfrm>
            <a:off x="6181344" y="886968"/>
            <a:ext cx="2788920" cy="1874520"/>
          </a:xfrm>
          <a:prstGeom prst="rect">
            <a:avLst/>
          </a:prstGeom>
          <a:solidFill>
            <a:srgbClr val="EBF4FB"/>
          </a:solidFill>
          <a:ln w="12700">
            <a:solidFill>
              <a:srgbClr val="003B70"/>
            </a:solidFill>
            <a:prstDash val="solid"/>
          </a:ln>
          <a:effectLst>
            <a:outerShdw blurRad="63500" dist="25400" dir="8100000" algn="bl" rotWithShape="0">
              <a:srgbClr val="000000">
                <a:alpha val="7000"/>
              </a:srgbClr>
            </a:outerShdw>
          </a:effectLst>
        </p:spPr>
      </p:sp>
      <p:sp>
        <p:nvSpPr>
          <p:cNvPr id="17" name="Shape 15"/>
          <p:cNvSpPr/>
          <p:nvPr/>
        </p:nvSpPr>
        <p:spPr>
          <a:xfrm>
            <a:off x="6181344" y="886968"/>
            <a:ext cx="2788920" cy="64008"/>
          </a:xfrm>
          <a:prstGeom prst="rect">
            <a:avLst/>
          </a:prstGeom>
          <a:solidFill>
            <a:srgbClr val="003B70"/>
          </a:solidFill>
          <a:ln w="12700">
            <a:solidFill>
              <a:srgbClr val="003B70"/>
            </a:solidFill>
            <a:prstDash val="solid"/>
          </a:ln>
        </p:spPr>
      </p:sp>
      <p:sp>
        <p:nvSpPr>
          <p:cNvPr id="18" name="Text 16"/>
          <p:cNvSpPr/>
          <p:nvPr/>
        </p:nvSpPr>
        <p:spPr>
          <a:xfrm>
            <a:off x="6272784" y="978408"/>
            <a:ext cx="2606040" cy="749808"/>
          </a:xfrm>
          <a:prstGeom prst="rect">
            <a:avLst/>
          </a:prstGeom>
          <a:noFill/>
        </p:spPr>
        <p:txBody>
          <a:bodyPr wrap="square" lIns="0" tIns="0" rIns="0" bIns="0" rtlCol="0" anchor="ctr"/>
          <a:lstStyle/>
          <a:p>
            <a:pPr marL="0" indent="0" algn="ctr">
              <a:buNone/>
            </a:pPr>
            <a:r>
              <a:rPr lang="en-US" sz="4400" b="1" dirty="0">
                <a:solidFill>
                  <a:srgbClr val="003B70"/>
                </a:solidFill>
                <a:latin typeface="Calibri" pitchFamily="34" charset="0"/>
                <a:ea typeface="Calibri" pitchFamily="34" charset="-122"/>
                <a:cs typeface="Calibri" pitchFamily="34" charset="-120"/>
              </a:rPr>
              <a:t>4 hrs</a:t>
            </a:r>
            <a:endParaRPr lang="en-US" sz="4400" dirty="0"/>
          </a:p>
        </p:txBody>
      </p:sp>
      <p:sp>
        <p:nvSpPr>
          <p:cNvPr id="19" name="Text 17"/>
          <p:cNvSpPr/>
          <p:nvPr/>
        </p:nvSpPr>
        <p:spPr>
          <a:xfrm>
            <a:off x="6272784" y="1755648"/>
            <a:ext cx="2606040" cy="274320"/>
          </a:xfrm>
          <a:prstGeom prst="rect">
            <a:avLst/>
          </a:prstGeom>
          <a:noFill/>
        </p:spPr>
        <p:txBody>
          <a:bodyPr wrap="square" lIns="0" tIns="0" rIns="0" bIns="0" rtlCol="0" anchor="ctr"/>
          <a:lstStyle/>
          <a:p>
            <a:pPr marL="0" indent="0" algn="ctr">
              <a:buNone/>
            </a:pPr>
            <a:r>
              <a:rPr lang="en-US" sz="1200" b="1" dirty="0">
                <a:solidFill>
                  <a:srgbClr val="1A2B40"/>
                </a:solidFill>
                <a:latin typeface="Calibri" pitchFamily="34" charset="0"/>
                <a:ea typeface="Calibri" pitchFamily="34" charset="-122"/>
                <a:cs typeface="Calibri" pitchFamily="34" charset="-120"/>
              </a:rPr>
              <a:t>MAS RTO Limit</a:t>
            </a:r>
            <a:endParaRPr lang="en-US" sz="1200" dirty="0"/>
          </a:p>
        </p:txBody>
      </p:sp>
      <p:sp>
        <p:nvSpPr>
          <p:cNvPr id="20" name="Text 18"/>
          <p:cNvSpPr/>
          <p:nvPr/>
        </p:nvSpPr>
        <p:spPr>
          <a:xfrm>
            <a:off x="6272784" y="2066544"/>
            <a:ext cx="2606040" cy="621792"/>
          </a:xfrm>
          <a:prstGeom prst="rect">
            <a:avLst/>
          </a:prstGeom>
          <a:noFill/>
        </p:spPr>
        <p:txBody>
          <a:bodyPr wrap="square" lIns="0" tIns="0" rIns="0" bIns="0"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Max allowed unscheduled</a:t>
            </a:r>
            <a:endParaRPr lang="en-US" sz="1000" dirty="0"/>
          </a:p>
          <a:p>
            <a:pPr marL="0" indent="0" algn="ctr">
              <a:buNone/>
            </a:pPr>
            <a:r>
              <a:rPr lang="en-US" sz="1000" dirty="0">
                <a:solidFill>
                  <a:srgbClr val="4A6080"/>
                </a:solidFill>
                <a:latin typeface="Calibri" pitchFamily="34" charset="0"/>
                <a:ea typeface="Calibri" pitchFamily="34" charset="-122"/>
                <a:cs typeface="Calibri" pitchFamily="34" charset="-120"/>
              </a:rPr>
              <a:t>downtime per critical system</a:t>
            </a:r>
            <a:endParaRPr lang="en-US" sz="1000" dirty="0"/>
          </a:p>
          <a:p>
            <a:pPr marL="0" indent="0" algn="ctr">
              <a:buNone/>
            </a:pPr>
            <a:r>
              <a:rPr lang="en-US" sz="1000" dirty="0">
                <a:solidFill>
                  <a:srgbClr val="4A6080"/>
                </a:solidFill>
                <a:latin typeface="Calibri" pitchFamily="34" charset="0"/>
                <a:ea typeface="Calibri" pitchFamily="34" charset="-122"/>
                <a:cs typeface="Calibri" pitchFamily="34" charset="-120"/>
              </a:rPr>
              <a:t>per year — MAS mandate</a:t>
            </a:r>
            <a:endParaRPr lang="en-US" sz="1000" dirty="0"/>
          </a:p>
        </p:txBody>
      </p:sp>
      <p:sp>
        <p:nvSpPr>
          <p:cNvPr id="21" name="Shape 19"/>
          <p:cNvSpPr/>
          <p:nvPr/>
        </p:nvSpPr>
        <p:spPr>
          <a:xfrm>
            <a:off x="292608" y="2926080"/>
            <a:ext cx="4315968" cy="2011680"/>
          </a:xfrm>
          <a:prstGeom prst="rect">
            <a:avLst/>
          </a:prstGeom>
          <a:solidFill>
            <a:srgbClr val="FDE8EC"/>
          </a:solidFill>
          <a:ln w="10160">
            <a:solidFill>
              <a:srgbClr val="C8102E"/>
            </a:solidFill>
            <a:prstDash val="solid"/>
          </a:ln>
          <a:effectLst>
            <a:outerShdw blurRad="63500" dist="25400" dir="8100000" algn="bl" rotWithShape="0">
              <a:srgbClr val="000000">
                <a:alpha val="7000"/>
              </a:srgbClr>
            </a:outerShdw>
          </a:effectLst>
        </p:spPr>
      </p:sp>
      <p:sp>
        <p:nvSpPr>
          <p:cNvPr id="22" name="Shape 20"/>
          <p:cNvSpPr/>
          <p:nvPr/>
        </p:nvSpPr>
        <p:spPr>
          <a:xfrm>
            <a:off x="292608" y="2926080"/>
            <a:ext cx="4315968" cy="365760"/>
          </a:xfrm>
          <a:prstGeom prst="rect">
            <a:avLst/>
          </a:prstGeom>
          <a:solidFill>
            <a:srgbClr val="C8102E"/>
          </a:solidFill>
          <a:ln w="12700">
            <a:solidFill>
              <a:srgbClr val="C8102E"/>
            </a:solidFill>
            <a:prstDash val="solid"/>
          </a:ln>
        </p:spPr>
      </p:sp>
      <p:sp>
        <p:nvSpPr>
          <p:cNvPr id="23" name="Text 21"/>
          <p:cNvSpPr/>
          <p:nvPr/>
        </p:nvSpPr>
        <p:spPr>
          <a:xfrm>
            <a:off x="384048" y="2944368"/>
            <a:ext cx="4114800" cy="310896"/>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Root Cause — Manual Process</a:t>
            </a:r>
            <a:endParaRPr lang="en-US" sz="1100" dirty="0"/>
          </a:p>
        </p:txBody>
      </p:sp>
      <p:sp>
        <p:nvSpPr>
          <p:cNvPr id="24" name="Text 22"/>
          <p:cNvSpPr/>
          <p:nvPr/>
        </p:nvSpPr>
        <p:spPr>
          <a:xfrm>
            <a:off x="402336" y="3383280"/>
            <a:ext cx="4114800" cy="1508760"/>
          </a:xfrm>
          <a:prstGeom prst="rect">
            <a:avLst/>
          </a:prstGeom>
          <a:noFill/>
        </p:spPr>
        <p:txBody>
          <a:bodyPr wrap="square" rtlCol="0" anchor="ctr"/>
          <a:lstStyle/>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No centralised certificate inventory across VM and Container environments</a:t>
            </a:r>
            <a:endParaRPr lang="en-US" sz="1000" dirty="0"/>
          </a:p>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Certificate renewals owned by individuals — high single-point-of-failure risk</a:t>
            </a:r>
            <a:endParaRPr lang="en-US" sz="1000" dirty="0"/>
          </a:p>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Multiple hand-offs across teams cause delays, inconsistency and missed renewals</a:t>
            </a:r>
            <a:endParaRPr lang="en-US" sz="1000" dirty="0"/>
          </a:p>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MAS reprimand already issued — Citi Singapore Limited cited for RTO non-compliance</a:t>
            </a:r>
            <a:endParaRPr lang="en-US" sz="1000" dirty="0"/>
          </a:p>
        </p:txBody>
      </p:sp>
      <p:sp>
        <p:nvSpPr>
          <p:cNvPr id="25" name="Shape 23"/>
          <p:cNvSpPr/>
          <p:nvPr/>
        </p:nvSpPr>
        <p:spPr>
          <a:xfrm>
            <a:off x="4818888" y="2926080"/>
            <a:ext cx="4315968" cy="2011680"/>
          </a:xfrm>
          <a:prstGeom prst="rect">
            <a:avLst/>
          </a:prstGeom>
          <a:solidFill>
            <a:srgbClr val="EBF4FB"/>
          </a:solidFill>
          <a:ln w="10160">
            <a:solidFill>
              <a:srgbClr val="003B70"/>
            </a:solidFill>
            <a:prstDash val="solid"/>
          </a:ln>
          <a:effectLst>
            <a:outerShdw blurRad="63500" dist="25400" dir="8100000" algn="bl" rotWithShape="0">
              <a:srgbClr val="000000">
                <a:alpha val="7000"/>
              </a:srgbClr>
            </a:outerShdw>
          </a:effectLst>
        </p:spPr>
      </p:sp>
      <p:sp>
        <p:nvSpPr>
          <p:cNvPr id="26" name="Shape 24"/>
          <p:cNvSpPr/>
          <p:nvPr/>
        </p:nvSpPr>
        <p:spPr>
          <a:xfrm>
            <a:off x="4818888" y="2926080"/>
            <a:ext cx="4315968" cy="365760"/>
          </a:xfrm>
          <a:prstGeom prst="rect">
            <a:avLst/>
          </a:prstGeom>
          <a:solidFill>
            <a:srgbClr val="003B70"/>
          </a:solidFill>
          <a:ln w="12700">
            <a:solidFill>
              <a:srgbClr val="003B70"/>
            </a:solidFill>
            <a:prstDash val="solid"/>
          </a:ln>
        </p:spPr>
      </p:sp>
      <p:sp>
        <p:nvSpPr>
          <p:cNvPr id="27" name="Text 25"/>
          <p:cNvSpPr/>
          <p:nvPr/>
        </p:nvSpPr>
        <p:spPr>
          <a:xfrm>
            <a:off x="4910328" y="2944368"/>
            <a:ext cx="4114800" cy="310896"/>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Business Impact if Left Unaddressed</a:t>
            </a:r>
            <a:endParaRPr lang="en-US" sz="1100" dirty="0"/>
          </a:p>
        </p:txBody>
      </p:sp>
      <p:sp>
        <p:nvSpPr>
          <p:cNvPr id="28" name="Text 26"/>
          <p:cNvSpPr/>
          <p:nvPr/>
        </p:nvSpPr>
        <p:spPr>
          <a:xfrm>
            <a:off x="4928616" y="3383280"/>
            <a:ext cx="4114800" cy="1508760"/>
          </a:xfrm>
          <a:prstGeom prst="rect">
            <a:avLst/>
          </a:prstGeom>
          <a:noFill/>
        </p:spPr>
        <p:txBody>
          <a:bodyPr wrap="square" rtlCol="0" anchor="ctr"/>
          <a:lstStyle/>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Continued MIM-level service outages from expired certificates</a:t>
            </a:r>
            <a:endParaRPr lang="en-US" sz="1000" dirty="0"/>
          </a:p>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Regulatory enforcement risk — further MAS action and audit exposure</a:t>
            </a:r>
            <a:endParaRPr lang="en-US" sz="1000" dirty="0"/>
          </a:p>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Reputational and trust impact on customers and internal stakeholders</a:t>
            </a:r>
            <a:endParaRPr lang="en-US" sz="1000" dirty="0"/>
          </a:p>
          <a:p>
            <a:pPr marL="342900" indent="-342900">
              <a:spcAft>
                <a:spcPts val="400"/>
              </a:spcAft>
              <a:buSzPct val="100000"/>
              <a:buChar char="•"/>
            </a:pPr>
            <a:r>
              <a:rPr lang="en-US" sz="1000" dirty="0">
                <a:solidFill>
                  <a:srgbClr val="1A2B40"/>
                </a:solidFill>
                <a:latin typeface="Calibri" pitchFamily="34" charset="0"/>
                <a:ea typeface="Calibri" pitchFamily="34" charset="-122"/>
                <a:cs typeface="Calibri" pitchFamily="34" charset="-120"/>
              </a:rPr>
              <a:t>Ongoing operational cost of manual incident response and certificate tracking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What Does the Ideal State Look Like?</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Six pillars of industry-best enterprise certificate lifecycle management — the benchmark CLM is built against</a:t>
            </a:r>
            <a:endParaRPr lang="en-US" sz="1050" dirty="0"/>
          </a:p>
        </p:txBody>
      </p:sp>
      <p:sp>
        <p:nvSpPr>
          <p:cNvPr id="6" name="Shape 4"/>
          <p:cNvSpPr/>
          <p:nvPr/>
        </p:nvSpPr>
        <p:spPr>
          <a:xfrm>
            <a:off x="292608" y="886968"/>
            <a:ext cx="2724912" cy="1920240"/>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7" name="Shape 5"/>
          <p:cNvSpPr/>
          <p:nvPr/>
        </p:nvSpPr>
        <p:spPr>
          <a:xfrm>
            <a:off x="292608" y="886968"/>
            <a:ext cx="2724912" cy="420624"/>
          </a:xfrm>
          <a:prstGeom prst="rect">
            <a:avLst/>
          </a:prstGeom>
          <a:solidFill>
            <a:srgbClr val="003B70"/>
          </a:solidFill>
          <a:ln w="12700">
            <a:solidFill>
              <a:srgbClr val="003B70"/>
            </a:solidFill>
            <a:prstDash val="solid"/>
          </a:ln>
        </p:spPr>
      </p:sp>
      <p:sp>
        <p:nvSpPr>
          <p:cNvPr id="8" name="Text 6"/>
          <p:cNvSpPr/>
          <p:nvPr/>
        </p:nvSpPr>
        <p:spPr>
          <a:xfrm>
            <a:off x="402336" y="969264"/>
            <a:ext cx="2560320" cy="292608"/>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  Full Visibility</a:t>
            </a:r>
            <a:endParaRPr lang="en-US" sz="1150" dirty="0"/>
          </a:p>
        </p:txBody>
      </p:sp>
      <p:sp>
        <p:nvSpPr>
          <p:cNvPr id="9" name="Text 7"/>
          <p:cNvSpPr/>
          <p:nvPr/>
        </p:nvSpPr>
        <p:spPr>
          <a:xfrm>
            <a:off x="402336" y="1417320"/>
            <a:ext cx="2542032" cy="12984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Complete, real-time inventory of all certificates across VMs, containers, and trust stores — including CN, SAN, expiry, owner, and infrastructure dependencies.</a:t>
            </a:r>
            <a:endParaRPr lang="en-US" sz="950" dirty="0"/>
          </a:p>
        </p:txBody>
      </p:sp>
      <p:sp>
        <p:nvSpPr>
          <p:cNvPr id="10" name="Shape 8"/>
          <p:cNvSpPr/>
          <p:nvPr/>
        </p:nvSpPr>
        <p:spPr>
          <a:xfrm>
            <a:off x="3108960" y="886968"/>
            <a:ext cx="2724912" cy="1920240"/>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11" name="Shape 9"/>
          <p:cNvSpPr/>
          <p:nvPr/>
        </p:nvSpPr>
        <p:spPr>
          <a:xfrm>
            <a:off x="3108960" y="886968"/>
            <a:ext cx="2724912" cy="420624"/>
          </a:xfrm>
          <a:prstGeom prst="rect">
            <a:avLst/>
          </a:prstGeom>
          <a:solidFill>
            <a:srgbClr val="003B70"/>
          </a:solidFill>
          <a:ln w="12700">
            <a:solidFill>
              <a:srgbClr val="003B70"/>
            </a:solidFill>
            <a:prstDash val="solid"/>
          </a:ln>
        </p:spPr>
      </p:sp>
      <p:sp>
        <p:nvSpPr>
          <p:cNvPr id="12" name="Text 10"/>
          <p:cNvSpPr/>
          <p:nvPr/>
        </p:nvSpPr>
        <p:spPr>
          <a:xfrm>
            <a:off x="3218688" y="969264"/>
            <a:ext cx="2560320" cy="292608"/>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2  Zero-Touch Renewal</a:t>
            </a:r>
            <a:endParaRPr lang="en-US" sz="1150" dirty="0"/>
          </a:p>
        </p:txBody>
      </p:sp>
      <p:sp>
        <p:nvSpPr>
          <p:cNvPr id="13" name="Text 11"/>
          <p:cNvSpPr/>
          <p:nvPr/>
        </p:nvSpPr>
        <p:spPr>
          <a:xfrm>
            <a:off x="3218688" y="1417320"/>
            <a:ext cx="2542032" cy="12984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Certificates are renewed automatically when approaching expiry. No human trigger required. SLA-bound auto-renewal with escalation when automation fails.</a:t>
            </a:r>
            <a:endParaRPr lang="en-US" sz="950" dirty="0"/>
          </a:p>
        </p:txBody>
      </p:sp>
      <p:sp>
        <p:nvSpPr>
          <p:cNvPr id="14" name="Shape 12"/>
          <p:cNvSpPr/>
          <p:nvPr/>
        </p:nvSpPr>
        <p:spPr>
          <a:xfrm>
            <a:off x="5925312" y="886968"/>
            <a:ext cx="2724912" cy="1920240"/>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15" name="Shape 13"/>
          <p:cNvSpPr/>
          <p:nvPr/>
        </p:nvSpPr>
        <p:spPr>
          <a:xfrm>
            <a:off x="5925312" y="886968"/>
            <a:ext cx="2724912" cy="420624"/>
          </a:xfrm>
          <a:prstGeom prst="rect">
            <a:avLst/>
          </a:prstGeom>
          <a:solidFill>
            <a:srgbClr val="003B70"/>
          </a:solidFill>
          <a:ln w="12700">
            <a:solidFill>
              <a:srgbClr val="003B70"/>
            </a:solidFill>
            <a:prstDash val="solid"/>
          </a:ln>
        </p:spPr>
      </p:sp>
      <p:sp>
        <p:nvSpPr>
          <p:cNvPr id="16" name="Text 14"/>
          <p:cNvSpPr/>
          <p:nvPr/>
        </p:nvSpPr>
        <p:spPr>
          <a:xfrm>
            <a:off x="6035040" y="969264"/>
            <a:ext cx="2560320" cy="292608"/>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3  Impact Awareness</a:t>
            </a:r>
            <a:endParaRPr lang="en-US" sz="1150" dirty="0"/>
          </a:p>
        </p:txBody>
      </p:sp>
      <p:sp>
        <p:nvSpPr>
          <p:cNvPr id="17" name="Text 15"/>
          <p:cNvSpPr/>
          <p:nvPr/>
        </p:nvSpPr>
        <p:spPr>
          <a:xfrm>
            <a:off x="6035040" y="1417320"/>
            <a:ext cx="2542032" cy="12984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System knows which applications, APIs, and downstream services consume each certificate. No blind spots — affected parties are identified and notified before renewal.</a:t>
            </a:r>
            <a:endParaRPr lang="en-US" sz="950" dirty="0"/>
          </a:p>
        </p:txBody>
      </p:sp>
      <p:sp>
        <p:nvSpPr>
          <p:cNvPr id="18" name="Shape 16"/>
          <p:cNvSpPr/>
          <p:nvPr/>
        </p:nvSpPr>
        <p:spPr>
          <a:xfrm>
            <a:off x="292608" y="2898648"/>
            <a:ext cx="2724912" cy="1920240"/>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19" name="Shape 17"/>
          <p:cNvSpPr/>
          <p:nvPr/>
        </p:nvSpPr>
        <p:spPr>
          <a:xfrm>
            <a:off x="292608" y="2898648"/>
            <a:ext cx="2724912" cy="420624"/>
          </a:xfrm>
          <a:prstGeom prst="rect">
            <a:avLst/>
          </a:prstGeom>
          <a:solidFill>
            <a:srgbClr val="003B70"/>
          </a:solidFill>
          <a:ln w="12700">
            <a:solidFill>
              <a:srgbClr val="003B70"/>
            </a:solidFill>
            <a:prstDash val="solid"/>
          </a:ln>
        </p:spPr>
      </p:sp>
      <p:sp>
        <p:nvSpPr>
          <p:cNvPr id="20" name="Text 18"/>
          <p:cNvSpPr/>
          <p:nvPr/>
        </p:nvSpPr>
        <p:spPr>
          <a:xfrm>
            <a:off x="402336" y="2980944"/>
            <a:ext cx="2560320" cy="292608"/>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4 Seamless Deployment </a:t>
            </a:r>
            <a:endParaRPr lang="en-US" sz="1150" dirty="0"/>
          </a:p>
        </p:txBody>
      </p:sp>
      <p:sp>
        <p:nvSpPr>
          <p:cNvPr id="21" name="Text 19"/>
          <p:cNvSpPr/>
          <p:nvPr/>
        </p:nvSpPr>
        <p:spPr>
          <a:xfrm>
            <a:off x="402336" y="3429000"/>
            <a:ext cx="2542032" cy="12984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New certificates are deployed automatically without requiring downtime windows. Old and new certificates coexist seamlessly during transition. Deployment is greenzone-safe.</a:t>
            </a:r>
            <a:endParaRPr lang="en-US" sz="950" dirty="0"/>
          </a:p>
        </p:txBody>
      </p:sp>
      <p:sp>
        <p:nvSpPr>
          <p:cNvPr id="22" name="Shape 20"/>
          <p:cNvSpPr/>
          <p:nvPr/>
        </p:nvSpPr>
        <p:spPr>
          <a:xfrm>
            <a:off x="3108960" y="2898648"/>
            <a:ext cx="2724912" cy="1920240"/>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23" name="Shape 21"/>
          <p:cNvSpPr/>
          <p:nvPr/>
        </p:nvSpPr>
        <p:spPr>
          <a:xfrm>
            <a:off x="3108960" y="2898648"/>
            <a:ext cx="2724912" cy="420624"/>
          </a:xfrm>
          <a:prstGeom prst="rect">
            <a:avLst/>
          </a:prstGeom>
          <a:solidFill>
            <a:srgbClr val="003B70"/>
          </a:solidFill>
          <a:ln w="12700">
            <a:solidFill>
              <a:srgbClr val="003B70"/>
            </a:solidFill>
            <a:prstDash val="solid"/>
          </a:ln>
        </p:spPr>
      </p:sp>
      <p:sp>
        <p:nvSpPr>
          <p:cNvPr id="24" name="Text 22"/>
          <p:cNvSpPr/>
          <p:nvPr/>
        </p:nvSpPr>
        <p:spPr>
          <a:xfrm>
            <a:off x="3218688" y="2980944"/>
            <a:ext cx="2560320" cy="292608"/>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5  Full Audit &amp; Compliance</a:t>
            </a:r>
            <a:endParaRPr lang="en-US" sz="1150" dirty="0"/>
          </a:p>
        </p:txBody>
      </p:sp>
      <p:sp>
        <p:nvSpPr>
          <p:cNvPr id="25" name="Text 23"/>
          <p:cNvSpPr/>
          <p:nvPr/>
        </p:nvSpPr>
        <p:spPr>
          <a:xfrm>
            <a:off x="3218688" y="3429000"/>
            <a:ext cx="2542032" cy="12984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Every certificate action — renewal, deployment, escalation — is logged with full context. Change Management (SNOW CR) enforced. Regulatory reporting-ready at all times.</a:t>
            </a:r>
            <a:endParaRPr lang="en-US" sz="950" dirty="0"/>
          </a:p>
        </p:txBody>
      </p:sp>
      <p:sp>
        <p:nvSpPr>
          <p:cNvPr id="26" name="Shape 24"/>
          <p:cNvSpPr/>
          <p:nvPr/>
        </p:nvSpPr>
        <p:spPr>
          <a:xfrm>
            <a:off x="5925312" y="2898648"/>
            <a:ext cx="2724912" cy="1920240"/>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27" name="Shape 25"/>
          <p:cNvSpPr/>
          <p:nvPr/>
        </p:nvSpPr>
        <p:spPr>
          <a:xfrm>
            <a:off x="5925312" y="2898648"/>
            <a:ext cx="2724912" cy="420624"/>
          </a:xfrm>
          <a:prstGeom prst="rect">
            <a:avLst/>
          </a:prstGeom>
          <a:solidFill>
            <a:srgbClr val="003B70"/>
          </a:solidFill>
          <a:ln w="12700">
            <a:solidFill>
              <a:srgbClr val="003B70"/>
            </a:solidFill>
            <a:prstDash val="solid"/>
          </a:ln>
        </p:spPr>
      </p:sp>
      <p:sp>
        <p:nvSpPr>
          <p:cNvPr id="28" name="Text 26"/>
          <p:cNvSpPr/>
          <p:nvPr/>
        </p:nvSpPr>
        <p:spPr>
          <a:xfrm>
            <a:off x="6035040" y="2980944"/>
            <a:ext cx="2560320" cy="292608"/>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6  Proactive Governance</a:t>
            </a:r>
            <a:endParaRPr lang="en-US" sz="1150" dirty="0"/>
          </a:p>
        </p:txBody>
      </p:sp>
      <p:sp>
        <p:nvSpPr>
          <p:cNvPr id="29" name="Text 27"/>
          <p:cNvSpPr/>
          <p:nvPr/>
        </p:nvSpPr>
        <p:spPr>
          <a:xfrm>
            <a:off x="6035040" y="3429000"/>
            <a:ext cx="2542032" cy="12984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RBAC, defined escalation paths, multi-tier stakeholder notifications, and centralised policy control. No reactive fire-fighting — issues are caught before they become incidents.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How CLM Measures Against Ideal State</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Honest, transparent assessment — what is achieved, what is partial, and why</a:t>
            </a:r>
            <a:endParaRPr lang="en-US" sz="1050" dirty="0"/>
          </a:p>
        </p:txBody>
      </p:sp>
      <p:sp>
        <p:nvSpPr>
          <p:cNvPr id="6" name="Shape 4"/>
          <p:cNvSpPr/>
          <p:nvPr/>
        </p:nvSpPr>
        <p:spPr>
          <a:xfrm>
            <a:off x="292608" y="868680"/>
            <a:ext cx="2331720" cy="310896"/>
          </a:xfrm>
          <a:prstGeom prst="rect">
            <a:avLst/>
          </a:prstGeom>
          <a:solidFill>
            <a:srgbClr val="003B70"/>
          </a:solidFill>
          <a:ln w="12700">
            <a:solidFill>
              <a:srgbClr val="003B70"/>
            </a:solidFill>
            <a:prstDash val="solid"/>
          </a:ln>
        </p:spPr>
      </p:sp>
      <p:sp>
        <p:nvSpPr>
          <p:cNvPr id="7" name="Text 5"/>
          <p:cNvSpPr/>
          <p:nvPr/>
        </p:nvSpPr>
        <p:spPr>
          <a:xfrm>
            <a:off x="338328" y="877824"/>
            <a:ext cx="2276856" cy="256032"/>
          </a:xfrm>
          <a:prstGeom prst="rect">
            <a:avLst/>
          </a:prstGeom>
          <a:noFill/>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Pillar</a:t>
            </a:r>
            <a:endParaRPr lang="en-US" sz="1000" dirty="0"/>
          </a:p>
        </p:txBody>
      </p:sp>
      <p:sp>
        <p:nvSpPr>
          <p:cNvPr id="8" name="Shape 6"/>
          <p:cNvSpPr/>
          <p:nvPr/>
        </p:nvSpPr>
        <p:spPr>
          <a:xfrm>
            <a:off x="2670048" y="868680"/>
            <a:ext cx="914400" cy="310896"/>
          </a:xfrm>
          <a:prstGeom prst="rect">
            <a:avLst/>
          </a:prstGeom>
          <a:solidFill>
            <a:srgbClr val="003B70"/>
          </a:solidFill>
          <a:ln w="12700">
            <a:solidFill>
              <a:srgbClr val="003B70"/>
            </a:solidFill>
            <a:prstDash val="solid"/>
          </a:ln>
        </p:spPr>
      </p:sp>
      <p:sp>
        <p:nvSpPr>
          <p:cNvPr id="9" name="Text 7"/>
          <p:cNvSpPr/>
          <p:nvPr/>
        </p:nvSpPr>
        <p:spPr>
          <a:xfrm>
            <a:off x="2715768" y="877824"/>
            <a:ext cx="859536" cy="256032"/>
          </a:xfrm>
          <a:prstGeom prst="rect">
            <a:avLst/>
          </a:prstGeom>
          <a:noFill/>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VM</a:t>
            </a:r>
            <a:endParaRPr lang="en-US" sz="1000" dirty="0"/>
          </a:p>
        </p:txBody>
      </p:sp>
      <p:sp>
        <p:nvSpPr>
          <p:cNvPr id="10" name="Shape 8"/>
          <p:cNvSpPr/>
          <p:nvPr/>
        </p:nvSpPr>
        <p:spPr>
          <a:xfrm>
            <a:off x="3639312" y="868680"/>
            <a:ext cx="914400" cy="310896"/>
          </a:xfrm>
          <a:prstGeom prst="rect">
            <a:avLst/>
          </a:prstGeom>
          <a:solidFill>
            <a:srgbClr val="003B70"/>
          </a:solidFill>
          <a:ln w="12700">
            <a:solidFill>
              <a:srgbClr val="003B70"/>
            </a:solidFill>
            <a:prstDash val="solid"/>
          </a:ln>
        </p:spPr>
      </p:sp>
      <p:sp>
        <p:nvSpPr>
          <p:cNvPr id="11" name="Text 9"/>
          <p:cNvSpPr/>
          <p:nvPr/>
        </p:nvSpPr>
        <p:spPr>
          <a:xfrm>
            <a:off x="3685032" y="877824"/>
            <a:ext cx="859536" cy="256032"/>
          </a:xfrm>
          <a:prstGeom prst="rect">
            <a:avLst/>
          </a:prstGeom>
          <a:noFill/>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Container</a:t>
            </a:r>
            <a:endParaRPr lang="en-US" sz="1000" dirty="0"/>
          </a:p>
        </p:txBody>
      </p:sp>
      <p:sp>
        <p:nvSpPr>
          <p:cNvPr id="12" name="Shape 10"/>
          <p:cNvSpPr/>
          <p:nvPr/>
        </p:nvSpPr>
        <p:spPr>
          <a:xfrm>
            <a:off x="4617720" y="868680"/>
            <a:ext cx="896112" cy="310896"/>
          </a:xfrm>
          <a:prstGeom prst="rect">
            <a:avLst/>
          </a:prstGeom>
          <a:solidFill>
            <a:srgbClr val="003B70"/>
          </a:solidFill>
          <a:ln w="12700">
            <a:solidFill>
              <a:srgbClr val="003B70"/>
            </a:solidFill>
            <a:prstDash val="solid"/>
          </a:ln>
        </p:spPr>
      </p:sp>
      <p:sp>
        <p:nvSpPr>
          <p:cNvPr id="13" name="Text 11"/>
          <p:cNvSpPr/>
          <p:nvPr/>
        </p:nvSpPr>
        <p:spPr>
          <a:xfrm>
            <a:off x="4663440" y="877824"/>
            <a:ext cx="841248" cy="256032"/>
          </a:xfrm>
          <a:prstGeom prst="rect">
            <a:avLst/>
          </a:prstGeom>
          <a:noFill/>
        </p:spPr>
        <p:txBody>
          <a:bodyPr wrap="square" lIns="0" tIns="0" rIns="0" bIns="0" rtlCol="0" anchor="ctr"/>
          <a:lstStyle/>
          <a:p>
            <a:pPr marL="0" indent="0">
              <a:buNone/>
            </a:pPr>
            <a:endParaRPr lang="en-US" sz="1000" dirty="0"/>
          </a:p>
        </p:txBody>
      </p:sp>
      <p:sp>
        <p:nvSpPr>
          <p:cNvPr id="14" name="Shape 12"/>
          <p:cNvSpPr/>
          <p:nvPr/>
        </p:nvSpPr>
        <p:spPr>
          <a:xfrm>
            <a:off x="5596128" y="868680"/>
            <a:ext cx="3337560" cy="310896"/>
          </a:xfrm>
          <a:prstGeom prst="rect">
            <a:avLst/>
          </a:prstGeom>
          <a:solidFill>
            <a:srgbClr val="003B70"/>
          </a:solidFill>
          <a:ln w="12700">
            <a:solidFill>
              <a:srgbClr val="003B70"/>
            </a:solidFill>
            <a:prstDash val="solid"/>
          </a:ln>
        </p:spPr>
      </p:sp>
      <p:sp>
        <p:nvSpPr>
          <p:cNvPr id="15" name="Text 13"/>
          <p:cNvSpPr/>
          <p:nvPr/>
        </p:nvSpPr>
        <p:spPr>
          <a:xfrm>
            <a:off x="5641848" y="877824"/>
            <a:ext cx="3282696" cy="256032"/>
          </a:xfrm>
          <a:prstGeom prst="rect">
            <a:avLst/>
          </a:prstGeom>
          <a:noFill/>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Notes</a:t>
            </a:r>
            <a:endParaRPr lang="en-US" sz="1000" dirty="0"/>
          </a:p>
        </p:txBody>
      </p:sp>
      <p:sp>
        <p:nvSpPr>
          <p:cNvPr id="16" name="Shape 14"/>
          <p:cNvSpPr/>
          <p:nvPr/>
        </p:nvSpPr>
        <p:spPr>
          <a:xfrm>
            <a:off x="292608" y="1234440"/>
            <a:ext cx="8641080" cy="585216"/>
          </a:xfrm>
          <a:prstGeom prst="rect">
            <a:avLst/>
          </a:prstGeom>
          <a:solidFill>
            <a:srgbClr val="FFFFFF"/>
          </a:solidFill>
          <a:ln w="3810">
            <a:solidFill>
              <a:srgbClr val="E2E8F0"/>
            </a:solidFill>
            <a:prstDash val="solid"/>
          </a:ln>
        </p:spPr>
      </p:sp>
      <p:sp>
        <p:nvSpPr>
          <p:cNvPr id="17" name="Text 15"/>
          <p:cNvSpPr/>
          <p:nvPr/>
        </p:nvSpPr>
        <p:spPr>
          <a:xfrm>
            <a:off x="384048" y="1389888"/>
            <a:ext cx="2176272" cy="274320"/>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Full Visibility</a:t>
            </a:r>
            <a:endParaRPr lang="en-US" sz="1050" dirty="0"/>
          </a:p>
        </p:txBody>
      </p:sp>
      <p:sp>
        <p:nvSpPr>
          <p:cNvPr id="18" name="Shape 16"/>
          <p:cNvSpPr/>
          <p:nvPr/>
        </p:nvSpPr>
        <p:spPr>
          <a:xfrm>
            <a:off x="2743200" y="1389888"/>
            <a:ext cx="804672" cy="274320"/>
          </a:xfrm>
          <a:prstGeom prst="rect">
            <a:avLst/>
          </a:prstGeom>
          <a:solidFill>
            <a:srgbClr val="EBF7EE"/>
          </a:solidFill>
          <a:ln w="12700">
            <a:solidFill>
              <a:srgbClr val="9AE6B4"/>
            </a:solidFill>
            <a:prstDash val="solid"/>
          </a:ln>
        </p:spPr>
      </p:sp>
      <p:sp>
        <p:nvSpPr>
          <p:cNvPr id="19" name="Text 17"/>
          <p:cNvSpPr/>
          <p:nvPr/>
        </p:nvSpPr>
        <p:spPr>
          <a:xfrm>
            <a:off x="2743200" y="1389888"/>
            <a:ext cx="804672"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20" name="Shape 18"/>
          <p:cNvSpPr/>
          <p:nvPr/>
        </p:nvSpPr>
        <p:spPr>
          <a:xfrm>
            <a:off x="3703320" y="1389888"/>
            <a:ext cx="841248" cy="274320"/>
          </a:xfrm>
          <a:prstGeom prst="rect">
            <a:avLst/>
          </a:prstGeom>
          <a:solidFill>
            <a:srgbClr val="EBF7EE"/>
          </a:solidFill>
          <a:ln w="12700">
            <a:solidFill>
              <a:srgbClr val="9AE6B4"/>
            </a:solidFill>
            <a:prstDash val="solid"/>
          </a:ln>
        </p:spPr>
      </p:sp>
      <p:sp>
        <p:nvSpPr>
          <p:cNvPr id="21" name="Text 19"/>
          <p:cNvSpPr/>
          <p:nvPr/>
        </p:nvSpPr>
        <p:spPr>
          <a:xfrm>
            <a:off x="3703320" y="1389888"/>
            <a:ext cx="841248"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22" name="Text 20"/>
          <p:cNvSpPr/>
          <p:nvPr/>
        </p:nvSpPr>
        <p:spPr>
          <a:xfrm>
            <a:off x="4645152" y="1271016"/>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VM: AutoScan across all VMs; Trust Store integration; Intelligent Grouping (Master/Slave). Note: VM discovery covers 10 supported products only (WebSphere, Tomcat, Nginx, IBM HTTP, Apache, Business Works, Tibco, WebSphere ND, IBM MQ).</a:t>
            </a:r>
            <a:endParaRPr lang="en-US" sz="780" dirty="0"/>
          </a:p>
        </p:txBody>
      </p:sp>
      <p:sp>
        <p:nvSpPr>
          <p:cNvPr id="23" name="Text 21"/>
          <p:cNvSpPr/>
          <p:nvPr/>
        </p:nvSpPr>
        <p:spPr>
          <a:xfrm>
            <a:off x="4645152" y="1545336"/>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Container: Centralised discovery from NGC Vault. Note: Only certificates stored in NGC Vault (referenced by Order ID/Nickname) are discovered — certs embedded in scripts or YAML are not covered.</a:t>
            </a:r>
            <a:endParaRPr lang="en-US" sz="780" dirty="0"/>
          </a:p>
        </p:txBody>
      </p:sp>
      <p:sp>
        <p:nvSpPr>
          <p:cNvPr id="24" name="Shape 22"/>
          <p:cNvSpPr/>
          <p:nvPr/>
        </p:nvSpPr>
        <p:spPr>
          <a:xfrm>
            <a:off x="292608" y="1865376"/>
            <a:ext cx="8641080" cy="585216"/>
          </a:xfrm>
          <a:prstGeom prst="rect">
            <a:avLst/>
          </a:prstGeom>
          <a:solidFill>
            <a:srgbClr val="F5F8FC"/>
          </a:solidFill>
          <a:ln w="3810">
            <a:solidFill>
              <a:srgbClr val="E2E8F0"/>
            </a:solidFill>
            <a:prstDash val="solid"/>
          </a:ln>
        </p:spPr>
      </p:sp>
      <p:sp>
        <p:nvSpPr>
          <p:cNvPr id="25" name="Text 23"/>
          <p:cNvSpPr/>
          <p:nvPr/>
        </p:nvSpPr>
        <p:spPr>
          <a:xfrm>
            <a:off x="384048" y="2020824"/>
            <a:ext cx="2176272" cy="274320"/>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Zero-Touch Renewal</a:t>
            </a:r>
            <a:endParaRPr lang="en-US" sz="1050" dirty="0"/>
          </a:p>
        </p:txBody>
      </p:sp>
      <p:sp>
        <p:nvSpPr>
          <p:cNvPr id="26" name="Shape 24"/>
          <p:cNvSpPr/>
          <p:nvPr/>
        </p:nvSpPr>
        <p:spPr>
          <a:xfrm>
            <a:off x="2743200" y="2020824"/>
            <a:ext cx="804672" cy="274320"/>
          </a:xfrm>
          <a:prstGeom prst="rect">
            <a:avLst/>
          </a:prstGeom>
          <a:solidFill>
            <a:srgbClr val="EBF7EE"/>
          </a:solidFill>
          <a:ln w="12700">
            <a:solidFill>
              <a:srgbClr val="9AE6B4"/>
            </a:solidFill>
            <a:prstDash val="solid"/>
          </a:ln>
        </p:spPr>
      </p:sp>
      <p:sp>
        <p:nvSpPr>
          <p:cNvPr id="27" name="Text 25"/>
          <p:cNvSpPr/>
          <p:nvPr/>
        </p:nvSpPr>
        <p:spPr>
          <a:xfrm>
            <a:off x="2743200" y="2020824"/>
            <a:ext cx="804672"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28" name="Shape 26"/>
          <p:cNvSpPr/>
          <p:nvPr/>
        </p:nvSpPr>
        <p:spPr>
          <a:xfrm>
            <a:off x="3703320" y="2020824"/>
            <a:ext cx="841248" cy="274320"/>
          </a:xfrm>
          <a:prstGeom prst="rect">
            <a:avLst/>
          </a:prstGeom>
          <a:solidFill>
            <a:srgbClr val="EBF7EE"/>
          </a:solidFill>
          <a:ln w="12700">
            <a:solidFill>
              <a:srgbClr val="9AE6B4"/>
            </a:solidFill>
            <a:prstDash val="solid"/>
          </a:ln>
        </p:spPr>
      </p:sp>
      <p:sp>
        <p:nvSpPr>
          <p:cNvPr id="29" name="Text 27"/>
          <p:cNvSpPr/>
          <p:nvPr/>
        </p:nvSpPr>
        <p:spPr>
          <a:xfrm>
            <a:off x="3703320" y="2020824"/>
            <a:ext cx="841248"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30" name="Text 28"/>
          <p:cNvSpPr/>
          <p:nvPr/>
        </p:nvSpPr>
        <p:spPr>
          <a:xfrm>
            <a:off x="4645152" y="1901952"/>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VM: 60-day SLA enforced; auto-renewal triggered automatically on 60th day before expiry. Staggered renewals for multi-instance certs.</a:t>
            </a:r>
            <a:endParaRPr lang="en-US" sz="780" dirty="0"/>
          </a:p>
        </p:txBody>
      </p:sp>
      <p:sp>
        <p:nvSpPr>
          <p:cNvPr id="31" name="Text 29"/>
          <p:cNvSpPr/>
          <p:nvPr/>
        </p:nvSpPr>
        <p:spPr>
          <a:xfrm>
            <a:off x="4645152" y="2176272"/>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Container: 60-day SLA enforced; auto-renewal for all NGC Vault-stored certificates. Code reference update automated via Bitbucket PR if FID has write access.</a:t>
            </a:r>
            <a:endParaRPr lang="en-US" sz="780" dirty="0"/>
          </a:p>
        </p:txBody>
      </p:sp>
      <p:sp>
        <p:nvSpPr>
          <p:cNvPr id="32" name="Shape 30"/>
          <p:cNvSpPr/>
          <p:nvPr/>
        </p:nvSpPr>
        <p:spPr>
          <a:xfrm>
            <a:off x="292608" y="2496312"/>
            <a:ext cx="8641080" cy="585216"/>
          </a:xfrm>
          <a:prstGeom prst="rect">
            <a:avLst/>
          </a:prstGeom>
          <a:solidFill>
            <a:srgbClr val="FFFFFF"/>
          </a:solidFill>
          <a:ln w="3810">
            <a:solidFill>
              <a:srgbClr val="E2E8F0"/>
            </a:solidFill>
            <a:prstDash val="solid"/>
          </a:ln>
        </p:spPr>
      </p:sp>
      <p:sp>
        <p:nvSpPr>
          <p:cNvPr id="33" name="Text 31"/>
          <p:cNvSpPr/>
          <p:nvPr/>
        </p:nvSpPr>
        <p:spPr>
          <a:xfrm>
            <a:off x="384048" y="2651760"/>
            <a:ext cx="2176272" cy="274320"/>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Impact Awareness</a:t>
            </a:r>
            <a:endParaRPr lang="en-US" sz="1050" dirty="0"/>
          </a:p>
        </p:txBody>
      </p:sp>
      <p:sp>
        <p:nvSpPr>
          <p:cNvPr id="34" name="Shape 32"/>
          <p:cNvSpPr/>
          <p:nvPr/>
        </p:nvSpPr>
        <p:spPr>
          <a:xfrm>
            <a:off x="2743200" y="2651760"/>
            <a:ext cx="804672" cy="274320"/>
          </a:xfrm>
          <a:prstGeom prst="rect">
            <a:avLst/>
          </a:prstGeom>
          <a:solidFill>
            <a:srgbClr val="FFF8E6"/>
          </a:solidFill>
          <a:ln w="12700">
            <a:solidFill>
              <a:srgbClr val="FBD38D"/>
            </a:solidFill>
            <a:prstDash val="solid"/>
          </a:ln>
        </p:spPr>
      </p:sp>
      <p:sp>
        <p:nvSpPr>
          <p:cNvPr id="35" name="Text 33"/>
          <p:cNvSpPr/>
          <p:nvPr/>
        </p:nvSpPr>
        <p:spPr>
          <a:xfrm>
            <a:off x="2743200" y="2651760"/>
            <a:ext cx="804672" cy="274320"/>
          </a:xfrm>
          <a:prstGeom prst="rect">
            <a:avLst/>
          </a:prstGeom>
          <a:noFill/>
        </p:spPr>
        <p:txBody>
          <a:bodyPr wrap="square" lIns="0" tIns="0" rIns="0" bIns="0" rtlCol="0" anchor="ctr"/>
          <a:lstStyle/>
          <a:p>
            <a:pPr marL="0" indent="0" algn="ctr">
              <a:buNone/>
            </a:pPr>
            <a:r>
              <a:rPr lang="en-US" sz="900" b="1" dirty="0">
                <a:solidFill>
                  <a:srgbClr val="7C5C00"/>
                </a:solidFill>
                <a:latin typeface="Calibri" pitchFamily="34" charset="0"/>
                <a:ea typeface="Calibri" pitchFamily="34" charset="-122"/>
                <a:cs typeface="Calibri" pitchFamily="34" charset="-120"/>
              </a:rPr>
              <a:t>Partial</a:t>
            </a:r>
            <a:endParaRPr lang="en-US" sz="900" dirty="0"/>
          </a:p>
        </p:txBody>
      </p:sp>
      <p:sp>
        <p:nvSpPr>
          <p:cNvPr id="36" name="Shape 34"/>
          <p:cNvSpPr/>
          <p:nvPr/>
        </p:nvSpPr>
        <p:spPr>
          <a:xfrm>
            <a:off x="3703320" y="2651760"/>
            <a:ext cx="841248" cy="274320"/>
          </a:xfrm>
          <a:prstGeom prst="rect">
            <a:avLst/>
          </a:prstGeom>
          <a:solidFill>
            <a:srgbClr val="FFF8E6"/>
          </a:solidFill>
          <a:ln w="12700">
            <a:solidFill>
              <a:srgbClr val="FBD38D"/>
            </a:solidFill>
            <a:prstDash val="solid"/>
          </a:ln>
        </p:spPr>
      </p:sp>
      <p:sp>
        <p:nvSpPr>
          <p:cNvPr id="37" name="Text 35"/>
          <p:cNvSpPr/>
          <p:nvPr/>
        </p:nvSpPr>
        <p:spPr>
          <a:xfrm>
            <a:off x="3703320" y="2651760"/>
            <a:ext cx="841248" cy="274320"/>
          </a:xfrm>
          <a:prstGeom prst="rect">
            <a:avLst/>
          </a:prstGeom>
          <a:noFill/>
        </p:spPr>
        <p:txBody>
          <a:bodyPr wrap="square" lIns="0" tIns="0" rIns="0" bIns="0" rtlCol="0" anchor="ctr"/>
          <a:lstStyle/>
          <a:p>
            <a:pPr marL="0" indent="0" algn="ctr">
              <a:buNone/>
            </a:pPr>
            <a:r>
              <a:rPr lang="en-US" sz="900" b="1" dirty="0">
                <a:solidFill>
                  <a:srgbClr val="7C5C00"/>
                </a:solidFill>
                <a:latin typeface="Calibri" pitchFamily="34" charset="0"/>
                <a:ea typeface="Calibri" pitchFamily="34" charset="-122"/>
                <a:cs typeface="Calibri" pitchFamily="34" charset="-120"/>
              </a:rPr>
              <a:t>Partial</a:t>
            </a:r>
            <a:endParaRPr lang="en-US" sz="900" dirty="0"/>
          </a:p>
        </p:txBody>
      </p:sp>
      <p:sp>
        <p:nvSpPr>
          <p:cNvPr id="38" name="Text 36"/>
          <p:cNvSpPr/>
          <p:nvPr/>
        </p:nvSpPr>
        <p:spPr>
          <a:xfrm>
            <a:off x="4645152" y="2532888"/>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VM: Dual-path: Server Scanning + AppD Traffic Analysis. Consuming Application Awareness via 'partners logic'. Limitation: AppD data quality dependency.</a:t>
            </a:r>
            <a:endParaRPr lang="en-US" sz="780" dirty="0"/>
          </a:p>
        </p:txBody>
      </p:sp>
      <p:sp>
        <p:nvSpPr>
          <p:cNvPr id="39" name="Text 37"/>
          <p:cNvSpPr/>
          <p:nvPr/>
        </p:nvSpPr>
        <p:spPr>
          <a:xfrm>
            <a:off x="4645152" y="2807208"/>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Container: Code-Centric: Scans Bitbucket repositories for Order ID and Nickname references. Note: If repository URL is not configured during onboarding, impact assessment may lack full picture of certificate usage.</a:t>
            </a:r>
            <a:endParaRPr lang="en-US" sz="780" dirty="0"/>
          </a:p>
        </p:txBody>
      </p:sp>
      <p:sp>
        <p:nvSpPr>
          <p:cNvPr id="40" name="Shape 38"/>
          <p:cNvSpPr/>
          <p:nvPr/>
        </p:nvSpPr>
        <p:spPr>
          <a:xfrm>
            <a:off x="292608" y="3127248"/>
            <a:ext cx="8641080" cy="585216"/>
          </a:xfrm>
          <a:prstGeom prst="rect">
            <a:avLst/>
          </a:prstGeom>
          <a:solidFill>
            <a:srgbClr val="F5F8FC"/>
          </a:solidFill>
          <a:ln w="3810">
            <a:solidFill>
              <a:srgbClr val="E2E8F0"/>
            </a:solidFill>
            <a:prstDash val="solid"/>
          </a:ln>
        </p:spPr>
      </p:sp>
      <p:sp>
        <p:nvSpPr>
          <p:cNvPr id="41" name="Text 39"/>
          <p:cNvSpPr/>
          <p:nvPr/>
        </p:nvSpPr>
        <p:spPr>
          <a:xfrm>
            <a:off x="384048" y="3282696"/>
            <a:ext cx="2176272" cy="274320"/>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Seamless Deployment</a:t>
            </a:r>
            <a:endParaRPr lang="en-US" sz="1050" dirty="0"/>
          </a:p>
        </p:txBody>
      </p:sp>
      <p:sp>
        <p:nvSpPr>
          <p:cNvPr id="42" name="Shape 40"/>
          <p:cNvSpPr/>
          <p:nvPr/>
        </p:nvSpPr>
        <p:spPr>
          <a:xfrm>
            <a:off x="2743200" y="3282696"/>
            <a:ext cx="804672" cy="274320"/>
          </a:xfrm>
          <a:prstGeom prst="rect">
            <a:avLst/>
          </a:prstGeom>
          <a:solidFill>
            <a:srgbClr val="EBF7EE"/>
          </a:solidFill>
          <a:ln w="12700">
            <a:solidFill>
              <a:srgbClr val="9AE6B4"/>
            </a:solidFill>
            <a:prstDash val="solid"/>
          </a:ln>
        </p:spPr>
      </p:sp>
      <p:sp>
        <p:nvSpPr>
          <p:cNvPr id="43" name="Text 41"/>
          <p:cNvSpPr/>
          <p:nvPr/>
        </p:nvSpPr>
        <p:spPr>
          <a:xfrm>
            <a:off x="2743200" y="3282696"/>
            <a:ext cx="804672"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44" name="Shape 42"/>
          <p:cNvSpPr/>
          <p:nvPr/>
        </p:nvSpPr>
        <p:spPr>
          <a:xfrm>
            <a:off x="3703320" y="3282696"/>
            <a:ext cx="841248" cy="274320"/>
          </a:xfrm>
          <a:prstGeom prst="rect">
            <a:avLst/>
          </a:prstGeom>
          <a:solidFill>
            <a:srgbClr val="FFF8E6"/>
          </a:solidFill>
          <a:ln w="12700">
            <a:solidFill>
              <a:srgbClr val="FBD38D"/>
            </a:solidFill>
            <a:prstDash val="solid"/>
          </a:ln>
        </p:spPr>
      </p:sp>
      <p:sp>
        <p:nvSpPr>
          <p:cNvPr id="45" name="Text 43"/>
          <p:cNvSpPr/>
          <p:nvPr/>
        </p:nvSpPr>
        <p:spPr>
          <a:xfrm>
            <a:off x="3703320" y="3282696"/>
            <a:ext cx="841248" cy="274320"/>
          </a:xfrm>
          <a:prstGeom prst="rect">
            <a:avLst/>
          </a:prstGeom>
          <a:noFill/>
        </p:spPr>
        <p:txBody>
          <a:bodyPr wrap="square" lIns="0" tIns="0" rIns="0" bIns="0" rtlCol="0" anchor="ctr"/>
          <a:lstStyle/>
          <a:p>
            <a:pPr marL="0" indent="0" algn="ctr">
              <a:buNone/>
            </a:pPr>
            <a:r>
              <a:rPr lang="en-US" sz="900" b="1" dirty="0">
                <a:solidFill>
                  <a:srgbClr val="7C5C00"/>
                </a:solidFill>
                <a:latin typeface="Calibri" pitchFamily="34" charset="0"/>
                <a:ea typeface="Calibri" pitchFamily="34" charset="-122"/>
                <a:cs typeface="Calibri" pitchFamily="34" charset="-120"/>
              </a:rPr>
              <a:t>Partial</a:t>
            </a:r>
            <a:endParaRPr lang="en-US" sz="900" dirty="0"/>
          </a:p>
        </p:txBody>
      </p:sp>
      <p:sp>
        <p:nvSpPr>
          <p:cNvPr id="46" name="Text 44"/>
          <p:cNvSpPr/>
          <p:nvPr/>
        </p:nvSpPr>
        <p:spPr>
          <a:xfrm>
            <a:off x="4645152" y="3163824"/>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VM: Ansible Tower (via IO Orchestrator) deploys certificates to servers. Deployment plan allows both old and new cert to function concurrently. Trust Store integrity maintained.</a:t>
            </a:r>
            <a:endParaRPr lang="en-US" sz="780" dirty="0"/>
          </a:p>
        </p:txBody>
      </p:sp>
      <p:sp>
        <p:nvSpPr>
          <p:cNvPr id="47" name="Text 45"/>
          <p:cNvSpPr/>
          <p:nvPr/>
        </p:nvSpPr>
        <p:spPr>
          <a:xfrm>
            <a:off x="4645152" y="3438144"/>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Container: Renewed certs made available in NGC Vault. Automated code updates via feature branch PR if FID has write access. Seamless old+new coexistence supported. PR merge step still requires team action.</a:t>
            </a:r>
            <a:endParaRPr lang="en-US" sz="780" dirty="0"/>
          </a:p>
        </p:txBody>
      </p:sp>
      <p:sp>
        <p:nvSpPr>
          <p:cNvPr id="48" name="Shape 46"/>
          <p:cNvSpPr/>
          <p:nvPr/>
        </p:nvSpPr>
        <p:spPr>
          <a:xfrm>
            <a:off x="292608" y="3758184"/>
            <a:ext cx="8641080" cy="585216"/>
          </a:xfrm>
          <a:prstGeom prst="rect">
            <a:avLst/>
          </a:prstGeom>
          <a:solidFill>
            <a:srgbClr val="FFFFFF"/>
          </a:solidFill>
          <a:ln w="3810">
            <a:solidFill>
              <a:srgbClr val="E2E8F0"/>
            </a:solidFill>
            <a:prstDash val="solid"/>
          </a:ln>
        </p:spPr>
      </p:sp>
      <p:sp>
        <p:nvSpPr>
          <p:cNvPr id="49" name="Text 47"/>
          <p:cNvSpPr/>
          <p:nvPr/>
        </p:nvSpPr>
        <p:spPr>
          <a:xfrm>
            <a:off x="384048" y="3913632"/>
            <a:ext cx="2176272" cy="274320"/>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Full Audit &amp; Compliance</a:t>
            </a:r>
            <a:endParaRPr lang="en-US" sz="1050" dirty="0"/>
          </a:p>
        </p:txBody>
      </p:sp>
      <p:sp>
        <p:nvSpPr>
          <p:cNvPr id="50" name="Shape 48"/>
          <p:cNvSpPr/>
          <p:nvPr/>
        </p:nvSpPr>
        <p:spPr>
          <a:xfrm>
            <a:off x="2743200" y="3913632"/>
            <a:ext cx="804672" cy="274320"/>
          </a:xfrm>
          <a:prstGeom prst="rect">
            <a:avLst/>
          </a:prstGeom>
          <a:solidFill>
            <a:srgbClr val="EBF7EE"/>
          </a:solidFill>
          <a:ln w="12700">
            <a:solidFill>
              <a:srgbClr val="9AE6B4"/>
            </a:solidFill>
            <a:prstDash val="solid"/>
          </a:ln>
        </p:spPr>
      </p:sp>
      <p:sp>
        <p:nvSpPr>
          <p:cNvPr id="51" name="Text 49"/>
          <p:cNvSpPr/>
          <p:nvPr/>
        </p:nvSpPr>
        <p:spPr>
          <a:xfrm>
            <a:off x="2743200" y="3913632"/>
            <a:ext cx="804672"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52" name="Shape 50"/>
          <p:cNvSpPr/>
          <p:nvPr/>
        </p:nvSpPr>
        <p:spPr>
          <a:xfrm>
            <a:off x="3703320" y="3913632"/>
            <a:ext cx="841248" cy="274320"/>
          </a:xfrm>
          <a:prstGeom prst="rect">
            <a:avLst/>
          </a:prstGeom>
          <a:solidFill>
            <a:srgbClr val="EBF7EE"/>
          </a:solidFill>
          <a:ln w="12700">
            <a:solidFill>
              <a:srgbClr val="9AE6B4"/>
            </a:solidFill>
            <a:prstDash val="solid"/>
          </a:ln>
        </p:spPr>
      </p:sp>
      <p:sp>
        <p:nvSpPr>
          <p:cNvPr id="53" name="Text 51"/>
          <p:cNvSpPr/>
          <p:nvPr/>
        </p:nvSpPr>
        <p:spPr>
          <a:xfrm>
            <a:off x="3703320" y="3913632"/>
            <a:ext cx="841248"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54" name="Text 52"/>
          <p:cNvSpPr/>
          <p:nvPr/>
        </p:nvSpPr>
        <p:spPr>
          <a:xfrm>
            <a:off x="4645152" y="3794760"/>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VM: Full MongoDB audit log. SNOW CR enforced for all deployments. 11 notification types covering full lifecycle.</a:t>
            </a:r>
            <a:endParaRPr lang="en-US" sz="780" dirty="0"/>
          </a:p>
        </p:txBody>
      </p:sp>
      <p:sp>
        <p:nvSpPr>
          <p:cNvPr id="55" name="Text 53"/>
          <p:cNvSpPr/>
          <p:nvPr/>
        </p:nvSpPr>
        <p:spPr>
          <a:xfrm>
            <a:off x="4645152" y="4069080"/>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Container: All renewal and scan activities logged. PR creation and notification history retained. Full audit trail available.</a:t>
            </a:r>
            <a:endParaRPr lang="en-US" sz="780" dirty="0"/>
          </a:p>
        </p:txBody>
      </p:sp>
      <p:sp>
        <p:nvSpPr>
          <p:cNvPr id="56" name="Shape 54"/>
          <p:cNvSpPr/>
          <p:nvPr/>
        </p:nvSpPr>
        <p:spPr>
          <a:xfrm>
            <a:off x="292608" y="4389120"/>
            <a:ext cx="8641080" cy="585216"/>
          </a:xfrm>
          <a:prstGeom prst="rect">
            <a:avLst/>
          </a:prstGeom>
          <a:solidFill>
            <a:srgbClr val="F5F8FC"/>
          </a:solidFill>
          <a:ln w="3810">
            <a:solidFill>
              <a:srgbClr val="E2E8F0"/>
            </a:solidFill>
            <a:prstDash val="solid"/>
          </a:ln>
        </p:spPr>
      </p:sp>
      <p:sp>
        <p:nvSpPr>
          <p:cNvPr id="57" name="Text 55"/>
          <p:cNvSpPr/>
          <p:nvPr/>
        </p:nvSpPr>
        <p:spPr>
          <a:xfrm>
            <a:off x="384048" y="4544568"/>
            <a:ext cx="2176272" cy="274320"/>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Proactive Governance</a:t>
            </a:r>
            <a:endParaRPr lang="en-US" sz="1050" dirty="0"/>
          </a:p>
        </p:txBody>
      </p:sp>
      <p:sp>
        <p:nvSpPr>
          <p:cNvPr id="58" name="Shape 56"/>
          <p:cNvSpPr/>
          <p:nvPr/>
        </p:nvSpPr>
        <p:spPr>
          <a:xfrm>
            <a:off x="2743200" y="4544568"/>
            <a:ext cx="804672" cy="274320"/>
          </a:xfrm>
          <a:prstGeom prst="rect">
            <a:avLst/>
          </a:prstGeom>
          <a:solidFill>
            <a:srgbClr val="EBF7EE"/>
          </a:solidFill>
          <a:ln w="12700">
            <a:solidFill>
              <a:srgbClr val="9AE6B4"/>
            </a:solidFill>
            <a:prstDash val="solid"/>
          </a:ln>
        </p:spPr>
      </p:sp>
      <p:sp>
        <p:nvSpPr>
          <p:cNvPr id="59" name="Text 57"/>
          <p:cNvSpPr/>
          <p:nvPr/>
        </p:nvSpPr>
        <p:spPr>
          <a:xfrm>
            <a:off x="2743200" y="4544568"/>
            <a:ext cx="804672"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60" name="Shape 58"/>
          <p:cNvSpPr/>
          <p:nvPr/>
        </p:nvSpPr>
        <p:spPr>
          <a:xfrm>
            <a:off x="3703320" y="4544568"/>
            <a:ext cx="841248" cy="274320"/>
          </a:xfrm>
          <a:prstGeom prst="rect">
            <a:avLst/>
          </a:prstGeom>
          <a:solidFill>
            <a:srgbClr val="EBF7EE"/>
          </a:solidFill>
          <a:ln w="12700">
            <a:solidFill>
              <a:srgbClr val="9AE6B4"/>
            </a:solidFill>
            <a:prstDash val="solid"/>
          </a:ln>
        </p:spPr>
      </p:sp>
      <p:sp>
        <p:nvSpPr>
          <p:cNvPr id="61" name="Text 59"/>
          <p:cNvSpPr/>
          <p:nvPr/>
        </p:nvSpPr>
        <p:spPr>
          <a:xfrm>
            <a:off x="3703320" y="4544568"/>
            <a:ext cx="841248" cy="274320"/>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Achieved</a:t>
            </a:r>
            <a:endParaRPr lang="en-US" sz="900" dirty="0"/>
          </a:p>
        </p:txBody>
      </p:sp>
      <p:sp>
        <p:nvSpPr>
          <p:cNvPr id="62" name="Text 60"/>
          <p:cNvSpPr/>
          <p:nvPr/>
        </p:nvSpPr>
        <p:spPr>
          <a:xfrm>
            <a:off x="4645152" y="4425696"/>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VM: 11 notification types (Info → Critical). RBAC via CSI admin roles. Escalation matrix. Weekly inventory reports.</a:t>
            </a:r>
            <a:endParaRPr lang="en-US" sz="780" dirty="0"/>
          </a:p>
        </p:txBody>
      </p:sp>
      <p:sp>
        <p:nvSpPr>
          <p:cNvPr id="63" name="Text 61"/>
          <p:cNvSpPr/>
          <p:nvPr/>
        </p:nvSpPr>
        <p:spPr>
          <a:xfrm>
            <a:off x="4645152" y="4700016"/>
            <a:ext cx="3291840" cy="256032"/>
          </a:xfrm>
          <a:prstGeom prst="rect">
            <a:avLst/>
          </a:prstGeom>
          <a:noFill/>
        </p:spPr>
        <p:txBody>
          <a:bodyPr wrap="square" lIns="0" tIns="0" rIns="0" bIns="0" rtlCol="0" anchor="ctr"/>
          <a:lstStyle/>
          <a:p>
            <a:pPr marL="0" indent="0">
              <a:buNone/>
            </a:pPr>
            <a:r>
              <a:rPr lang="en-US" sz="780" dirty="0">
                <a:solidFill>
                  <a:srgbClr val="4A6080"/>
                </a:solidFill>
                <a:latin typeface="Calibri" pitchFamily="34" charset="0"/>
                <a:ea typeface="Calibri" pitchFamily="34" charset="-122"/>
                <a:cs typeface="Calibri" pitchFamily="34" charset="-120"/>
              </a:rPr>
              <a:t>Container: Notification framework live. RBAC complete via CSI admin. Onboarded application awareness notifications configured.</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CLM Platform Architecture — One System, Two Workloads</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Common orchestration layer serving VM and Container certificate management with dedicated integrations</a:t>
            </a:r>
            <a:endParaRPr lang="en-US" sz="1050" dirty="0"/>
          </a:p>
        </p:txBody>
      </p:sp>
      <p:sp>
        <p:nvSpPr>
          <p:cNvPr id="6" name="Shape 4"/>
          <p:cNvSpPr/>
          <p:nvPr/>
        </p:nvSpPr>
        <p:spPr>
          <a:xfrm>
            <a:off x="3200400" y="1417320"/>
            <a:ext cx="2743200" cy="1051560"/>
          </a:xfrm>
          <a:prstGeom prst="rect">
            <a:avLst/>
          </a:prstGeom>
          <a:solidFill>
            <a:srgbClr val="003B70"/>
          </a:solidFill>
          <a:ln w="12700">
            <a:solidFill>
              <a:srgbClr val="003B70"/>
            </a:solidFill>
            <a:prstDash val="solid"/>
          </a:ln>
          <a:effectLst>
            <a:outerShdw blurRad="63500" dist="25400" dir="8100000" algn="bl" rotWithShape="0">
              <a:srgbClr val="000000">
                <a:alpha val="7000"/>
              </a:srgbClr>
            </a:outerShdw>
          </a:effectLst>
        </p:spPr>
      </p:sp>
      <p:sp>
        <p:nvSpPr>
          <p:cNvPr id="7" name="Text 5"/>
          <p:cNvSpPr/>
          <p:nvPr/>
        </p:nvSpPr>
        <p:spPr>
          <a:xfrm>
            <a:off x="3200400" y="1572768"/>
            <a:ext cx="2743200"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CLM Platform</a:t>
            </a:r>
            <a:endParaRPr lang="en-US" sz="1400" dirty="0"/>
          </a:p>
        </p:txBody>
      </p:sp>
      <p:sp>
        <p:nvSpPr>
          <p:cNvPr id="8" name="Text 6"/>
          <p:cNvSpPr/>
          <p:nvPr/>
        </p:nvSpPr>
        <p:spPr>
          <a:xfrm>
            <a:off x="3200400" y="1938528"/>
            <a:ext cx="2743200" cy="420624"/>
          </a:xfrm>
          <a:prstGeom prst="rect">
            <a:avLst/>
          </a:prstGeom>
          <a:noFill/>
        </p:spPr>
        <p:txBody>
          <a:bodyPr wrap="square" lIns="0" tIns="0" rIns="0" bIns="0" rtlCol="0" anchor="ctr"/>
          <a:lstStyle/>
          <a:p>
            <a:pPr marL="0" indent="0" algn="ctr">
              <a:buNone/>
            </a:pPr>
            <a:r>
              <a:rPr lang="en-US" sz="900" dirty="0">
                <a:solidFill>
                  <a:srgbClr val="D6E8F5"/>
                </a:solidFill>
                <a:latin typeface="Calibri" pitchFamily="34" charset="0"/>
                <a:ea typeface="Calibri" pitchFamily="34" charset="-122"/>
                <a:cs typeface="Calibri" pitchFamily="34" charset="-120"/>
              </a:rPr>
              <a:t>Scheduler · Discovery · Renewal</a:t>
            </a:r>
            <a:endParaRPr lang="en-US" sz="900" dirty="0"/>
          </a:p>
          <a:p>
            <a:pPr marL="0" indent="0" algn="ctr">
              <a:buNone/>
            </a:pPr>
            <a:r>
              <a:rPr lang="en-US" sz="900" dirty="0">
                <a:solidFill>
                  <a:srgbClr val="D6E8F5"/>
                </a:solidFill>
                <a:latin typeface="Calibri" pitchFamily="34" charset="0"/>
                <a:ea typeface="Calibri" pitchFamily="34" charset="-122"/>
                <a:cs typeface="Calibri" pitchFamily="34" charset="-120"/>
              </a:rPr>
              <a:t>Notification · Audit · RBAC</a:t>
            </a:r>
            <a:endParaRPr lang="en-US" sz="900" dirty="0"/>
          </a:p>
        </p:txBody>
      </p:sp>
      <p:sp>
        <p:nvSpPr>
          <p:cNvPr id="9" name="Shape 7"/>
          <p:cNvSpPr/>
          <p:nvPr/>
        </p:nvSpPr>
        <p:spPr>
          <a:xfrm>
            <a:off x="274320" y="1005840"/>
            <a:ext cx="2606040" cy="3566160"/>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10" name="Shape 8"/>
          <p:cNvSpPr/>
          <p:nvPr/>
        </p:nvSpPr>
        <p:spPr>
          <a:xfrm>
            <a:off x="274320" y="1005840"/>
            <a:ext cx="2606040" cy="384048"/>
          </a:xfrm>
          <a:prstGeom prst="rect">
            <a:avLst/>
          </a:prstGeom>
          <a:solidFill>
            <a:srgbClr val="056DAE"/>
          </a:solidFill>
          <a:ln w="12700">
            <a:solidFill>
              <a:srgbClr val="056DAE"/>
            </a:solidFill>
            <a:prstDash val="solid"/>
          </a:ln>
        </p:spPr>
      </p:sp>
      <p:sp>
        <p:nvSpPr>
          <p:cNvPr id="11" name="Text 9"/>
          <p:cNvSpPr/>
          <p:nvPr/>
        </p:nvSpPr>
        <p:spPr>
          <a:xfrm>
            <a:off x="365760" y="1033272"/>
            <a:ext cx="2423160"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VM INTEGRATIONS</a:t>
            </a:r>
            <a:endParaRPr lang="en-US" sz="1100" dirty="0"/>
          </a:p>
        </p:txBody>
      </p:sp>
      <p:sp>
        <p:nvSpPr>
          <p:cNvPr id="12" name="Shape 10"/>
          <p:cNvSpPr/>
          <p:nvPr/>
        </p:nvSpPr>
        <p:spPr>
          <a:xfrm>
            <a:off x="365760" y="1490472"/>
            <a:ext cx="2423160" cy="365760"/>
          </a:xfrm>
          <a:prstGeom prst="rect">
            <a:avLst/>
          </a:prstGeom>
          <a:solidFill>
            <a:srgbClr val="FFFFFF"/>
          </a:solidFill>
          <a:ln w="3810">
            <a:solidFill>
              <a:srgbClr val="E2E8F0"/>
            </a:solidFill>
            <a:prstDash val="solid"/>
          </a:ln>
        </p:spPr>
      </p:sp>
      <p:sp>
        <p:nvSpPr>
          <p:cNvPr id="13" name="Text 11"/>
          <p:cNvSpPr/>
          <p:nvPr/>
        </p:nvSpPr>
        <p:spPr>
          <a:xfrm>
            <a:off x="457200" y="1527048"/>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Drift (Server Inventory)</a:t>
            </a:r>
            <a:endParaRPr lang="en-US" sz="950" dirty="0"/>
          </a:p>
        </p:txBody>
      </p:sp>
      <p:sp>
        <p:nvSpPr>
          <p:cNvPr id="14" name="Shape 12"/>
          <p:cNvSpPr/>
          <p:nvPr/>
        </p:nvSpPr>
        <p:spPr>
          <a:xfrm>
            <a:off x="365760" y="1929384"/>
            <a:ext cx="2423160" cy="365760"/>
          </a:xfrm>
          <a:prstGeom prst="rect">
            <a:avLst/>
          </a:prstGeom>
          <a:solidFill>
            <a:srgbClr val="FFFFFF"/>
          </a:solidFill>
          <a:ln w="3810">
            <a:solidFill>
              <a:srgbClr val="E2E8F0"/>
            </a:solidFill>
            <a:prstDash val="solid"/>
          </a:ln>
        </p:spPr>
      </p:sp>
      <p:sp>
        <p:nvSpPr>
          <p:cNvPr id="15" name="Text 13"/>
          <p:cNvSpPr/>
          <p:nvPr/>
        </p:nvSpPr>
        <p:spPr>
          <a:xfrm>
            <a:off x="457200" y="1965960"/>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IO Orchestrator (Playbook Execution)</a:t>
            </a:r>
            <a:endParaRPr lang="en-US" sz="950" dirty="0"/>
          </a:p>
        </p:txBody>
      </p:sp>
      <p:sp>
        <p:nvSpPr>
          <p:cNvPr id="16" name="Shape 14"/>
          <p:cNvSpPr/>
          <p:nvPr/>
        </p:nvSpPr>
        <p:spPr>
          <a:xfrm>
            <a:off x="365760" y="2368296"/>
            <a:ext cx="2423160" cy="365760"/>
          </a:xfrm>
          <a:prstGeom prst="rect">
            <a:avLst/>
          </a:prstGeom>
          <a:solidFill>
            <a:srgbClr val="FFFFFF"/>
          </a:solidFill>
          <a:ln w="3810">
            <a:solidFill>
              <a:srgbClr val="E2E8F0"/>
            </a:solidFill>
            <a:prstDash val="solid"/>
          </a:ln>
        </p:spPr>
      </p:sp>
      <p:sp>
        <p:nvSpPr>
          <p:cNvPr id="17" name="Text 15"/>
          <p:cNvSpPr/>
          <p:nvPr/>
        </p:nvSpPr>
        <p:spPr>
          <a:xfrm>
            <a:off x="457200" y="2404872"/>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Ansible Tower (Lightning API for logs)</a:t>
            </a:r>
            <a:endParaRPr lang="en-US" sz="950" dirty="0"/>
          </a:p>
        </p:txBody>
      </p:sp>
      <p:sp>
        <p:nvSpPr>
          <p:cNvPr id="18" name="Shape 16"/>
          <p:cNvSpPr/>
          <p:nvPr/>
        </p:nvSpPr>
        <p:spPr>
          <a:xfrm>
            <a:off x="365760" y="2807208"/>
            <a:ext cx="2423160" cy="365760"/>
          </a:xfrm>
          <a:prstGeom prst="rect">
            <a:avLst/>
          </a:prstGeom>
          <a:solidFill>
            <a:srgbClr val="FFFFFF"/>
          </a:solidFill>
          <a:ln w="3810">
            <a:solidFill>
              <a:srgbClr val="E2E8F0"/>
            </a:solidFill>
            <a:prstDash val="solid"/>
          </a:ln>
        </p:spPr>
      </p:sp>
      <p:sp>
        <p:nvSpPr>
          <p:cNvPr id="19" name="Text 17"/>
          <p:cNvSpPr/>
          <p:nvPr/>
        </p:nvSpPr>
        <p:spPr>
          <a:xfrm>
            <a:off x="457200" y="2843784"/>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SNOW CR (Change Management)</a:t>
            </a:r>
            <a:endParaRPr lang="en-US" sz="950" dirty="0"/>
          </a:p>
        </p:txBody>
      </p:sp>
      <p:sp>
        <p:nvSpPr>
          <p:cNvPr id="20" name="Shape 18"/>
          <p:cNvSpPr/>
          <p:nvPr/>
        </p:nvSpPr>
        <p:spPr>
          <a:xfrm>
            <a:off x="365760" y="3246120"/>
            <a:ext cx="2423160" cy="365760"/>
          </a:xfrm>
          <a:prstGeom prst="rect">
            <a:avLst/>
          </a:prstGeom>
          <a:solidFill>
            <a:srgbClr val="FFFFFF"/>
          </a:solidFill>
          <a:ln w="3810">
            <a:solidFill>
              <a:srgbClr val="E2E8F0"/>
            </a:solidFill>
            <a:prstDash val="solid"/>
          </a:ln>
        </p:spPr>
      </p:sp>
      <p:sp>
        <p:nvSpPr>
          <p:cNvPr id="21" name="Text 19"/>
          <p:cNvSpPr/>
          <p:nvPr/>
        </p:nvSpPr>
        <p:spPr>
          <a:xfrm>
            <a:off x="457200" y="3282696"/>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AppD (Impact / Traffic Analysis)</a:t>
            </a:r>
            <a:endParaRPr lang="en-US" sz="950" dirty="0"/>
          </a:p>
        </p:txBody>
      </p:sp>
      <p:sp>
        <p:nvSpPr>
          <p:cNvPr id="22" name="Shape 20"/>
          <p:cNvSpPr/>
          <p:nvPr/>
        </p:nvSpPr>
        <p:spPr>
          <a:xfrm>
            <a:off x="365760" y="3685032"/>
            <a:ext cx="2423160" cy="365760"/>
          </a:xfrm>
          <a:prstGeom prst="rect">
            <a:avLst/>
          </a:prstGeom>
          <a:solidFill>
            <a:srgbClr val="FFFFFF"/>
          </a:solidFill>
          <a:ln w="3810">
            <a:solidFill>
              <a:srgbClr val="E2E8F0"/>
            </a:solidFill>
            <a:prstDash val="solid"/>
          </a:ln>
        </p:spPr>
      </p:sp>
      <p:sp>
        <p:nvSpPr>
          <p:cNvPr id="23" name="Text 21"/>
          <p:cNvSpPr/>
          <p:nvPr/>
        </p:nvSpPr>
        <p:spPr>
          <a:xfrm>
            <a:off x="457200" y="3721608"/>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sym typeface="+mn-ea"/>
              </a:rPr>
              <a:t>MongoDB (Audit + CSI Config)</a:t>
            </a:r>
            <a:endParaRPr lang="en-US" sz="950" dirty="0"/>
          </a:p>
        </p:txBody>
      </p:sp>
      <p:sp>
        <p:nvSpPr>
          <p:cNvPr id="24" name="Shape 22"/>
          <p:cNvSpPr/>
          <p:nvPr/>
        </p:nvSpPr>
        <p:spPr>
          <a:xfrm>
            <a:off x="365760" y="4123944"/>
            <a:ext cx="2423160" cy="365760"/>
          </a:xfrm>
          <a:prstGeom prst="rect">
            <a:avLst/>
          </a:prstGeom>
          <a:solidFill>
            <a:srgbClr val="FFFFFF"/>
          </a:solidFill>
          <a:ln w="3810">
            <a:solidFill>
              <a:srgbClr val="E2E8F0"/>
            </a:solidFill>
            <a:prstDash val="solid"/>
          </a:ln>
        </p:spPr>
      </p:sp>
      <p:sp>
        <p:nvSpPr>
          <p:cNvPr id="25" name="Text 23"/>
          <p:cNvSpPr/>
          <p:nvPr/>
        </p:nvSpPr>
        <p:spPr>
          <a:xfrm>
            <a:off x="457200" y="4160520"/>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10 Supported Products</a:t>
            </a:r>
            <a:endParaRPr lang="en-US" sz="950" dirty="0"/>
          </a:p>
        </p:txBody>
      </p:sp>
      <p:sp>
        <p:nvSpPr>
          <p:cNvPr id="26" name="Shape 24"/>
          <p:cNvSpPr/>
          <p:nvPr/>
        </p:nvSpPr>
        <p:spPr>
          <a:xfrm>
            <a:off x="6263640" y="1005840"/>
            <a:ext cx="2606040" cy="3566160"/>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27" name="Shape 25"/>
          <p:cNvSpPr/>
          <p:nvPr/>
        </p:nvSpPr>
        <p:spPr>
          <a:xfrm>
            <a:off x="6263640" y="1005840"/>
            <a:ext cx="2606040" cy="384048"/>
          </a:xfrm>
          <a:prstGeom prst="rect">
            <a:avLst/>
          </a:prstGeom>
          <a:solidFill>
            <a:srgbClr val="056DAE"/>
          </a:solidFill>
          <a:ln w="12700">
            <a:solidFill>
              <a:srgbClr val="056DAE"/>
            </a:solidFill>
            <a:prstDash val="solid"/>
          </a:ln>
        </p:spPr>
      </p:sp>
      <p:sp>
        <p:nvSpPr>
          <p:cNvPr id="28" name="Text 26"/>
          <p:cNvSpPr/>
          <p:nvPr/>
        </p:nvSpPr>
        <p:spPr>
          <a:xfrm>
            <a:off x="6355080" y="1033272"/>
            <a:ext cx="2423160"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CONTAINER INTEGRATIONS</a:t>
            </a:r>
            <a:endParaRPr lang="en-US" sz="1100" dirty="0"/>
          </a:p>
        </p:txBody>
      </p:sp>
      <p:sp>
        <p:nvSpPr>
          <p:cNvPr id="29" name="Shape 27"/>
          <p:cNvSpPr/>
          <p:nvPr/>
        </p:nvSpPr>
        <p:spPr>
          <a:xfrm>
            <a:off x="6355080" y="1490472"/>
            <a:ext cx="2423160" cy="365760"/>
          </a:xfrm>
          <a:prstGeom prst="rect">
            <a:avLst/>
          </a:prstGeom>
          <a:solidFill>
            <a:srgbClr val="FFFFFF"/>
          </a:solidFill>
          <a:ln w="3810">
            <a:solidFill>
              <a:srgbClr val="E2E8F0"/>
            </a:solidFill>
            <a:prstDash val="solid"/>
          </a:ln>
        </p:spPr>
      </p:sp>
      <p:sp>
        <p:nvSpPr>
          <p:cNvPr id="30" name="Text 28"/>
          <p:cNvSpPr/>
          <p:nvPr/>
        </p:nvSpPr>
        <p:spPr>
          <a:xfrm>
            <a:off x="6446520" y="1527048"/>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NGC Vault (Certificate Discovery)</a:t>
            </a:r>
            <a:endParaRPr lang="en-US" sz="950" dirty="0"/>
          </a:p>
        </p:txBody>
      </p:sp>
      <p:sp>
        <p:nvSpPr>
          <p:cNvPr id="31" name="Shape 29"/>
          <p:cNvSpPr/>
          <p:nvPr/>
        </p:nvSpPr>
        <p:spPr>
          <a:xfrm>
            <a:off x="6355080" y="1929384"/>
            <a:ext cx="2423160" cy="365760"/>
          </a:xfrm>
          <a:prstGeom prst="rect">
            <a:avLst/>
          </a:prstGeom>
          <a:solidFill>
            <a:srgbClr val="FFFFFF"/>
          </a:solidFill>
          <a:ln w="3810">
            <a:solidFill>
              <a:srgbClr val="E2E8F0"/>
            </a:solidFill>
            <a:prstDash val="solid"/>
          </a:ln>
        </p:spPr>
      </p:sp>
      <p:sp>
        <p:nvSpPr>
          <p:cNvPr id="32" name="Text 30"/>
          <p:cNvSpPr/>
          <p:nvPr/>
        </p:nvSpPr>
        <p:spPr>
          <a:xfrm>
            <a:off x="6446520" y="1965960"/>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Bitbucket API (</a:t>
            </a:r>
            <a:r>
              <a:rPr lang="en-US" sz="950" dirty="0">
                <a:solidFill>
                  <a:srgbClr val="1A2B40"/>
                </a:solidFill>
                <a:latin typeface="Calibri" pitchFamily="34" charset="0"/>
                <a:ea typeface="Calibri" pitchFamily="34" charset="-122"/>
                <a:cs typeface="Calibri" pitchFamily="34" charset="-120"/>
                <a:sym typeface="+mn-ea"/>
              </a:rPr>
              <a:t>Code Repository</a:t>
            </a:r>
            <a:r>
              <a:rPr lang="en-US" sz="950" dirty="0">
                <a:solidFill>
                  <a:srgbClr val="1A2B40"/>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a:off x="6355080" y="2368296"/>
            <a:ext cx="2423160" cy="365760"/>
          </a:xfrm>
          <a:prstGeom prst="rect">
            <a:avLst/>
          </a:prstGeom>
          <a:solidFill>
            <a:srgbClr val="FFFFFF"/>
          </a:solidFill>
          <a:ln w="3810">
            <a:solidFill>
              <a:srgbClr val="E2E8F0"/>
            </a:solidFill>
            <a:prstDash val="solid"/>
          </a:ln>
        </p:spPr>
      </p:sp>
      <p:sp>
        <p:nvSpPr>
          <p:cNvPr id="34" name="Text 32"/>
          <p:cNvSpPr/>
          <p:nvPr/>
        </p:nvSpPr>
        <p:spPr>
          <a:xfrm>
            <a:off x="6446520" y="2404872"/>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GitHub (Code Repository)</a:t>
            </a:r>
            <a:endParaRPr lang="en-US" sz="950" dirty="0"/>
          </a:p>
        </p:txBody>
      </p:sp>
      <p:sp>
        <p:nvSpPr>
          <p:cNvPr id="35" name="Shape 33"/>
          <p:cNvSpPr/>
          <p:nvPr/>
        </p:nvSpPr>
        <p:spPr>
          <a:xfrm>
            <a:off x="6355080" y="2807208"/>
            <a:ext cx="2423160" cy="365760"/>
          </a:xfrm>
          <a:prstGeom prst="rect">
            <a:avLst/>
          </a:prstGeom>
          <a:solidFill>
            <a:srgbClr val="FFFFFF"/>
          </a:solidFill>
          <a:ln w="3810">
            <a:solidFill>
              <a:srgbClr val="E2E8F0"/>
            </a:solidFill>
            <a:prstDash val="solid"/>
          </a:ln>
        </p:spPr>
      </p:sp>
      <p:sp>
        <p:nvSpPr>
          <p:cNvPr id="36" name="Text 34"/>
          <p:cNvSpPr/>
          <p:nvPr/>
        </p:nvSpPr>
        <p:spPr>
          <a:xfrm>
            <a:off x="6446520" y="2843784"/>
            <a:ext cx="2240280" cy="274320"/>
          </a:xfrm>
          <a:prstGeom prst="rect">
            <a:avLst/>
          </a:prstGeom>
          <a:noFill/>
        </p:spPr>
        <p:txBody>
          <a:bodyPr wrap="square" lIns="0" tIns="0" rIns="0" bIns="0" rtlCol="0" anchor="ctr"/>
          <a:lstStyle/>
          <a:p>
            <a:pPr marL="0" indent="0">
              <a:buNone/>
            </a:pPr>
            <a:endParaRPr lang="en-US" sz="950" dirty="0"/>
          </a:p>
        </p:txBody>
      </p:sp>
      <p:sp>
        <p:nvSpPr>
          <p:cNvPr id="37" name="Shape 35"/>
          <p:cNvSpPr/>
          <p:nvPr/>
        </p:nvSpPr>
        <p:spPr>
          <a:xfrm>
            <a:off x="6355080" y="3246120"/>
            <a:ext cx="2423160" cy="365760"/>
          </a:xfrm>
          <a:prstGeom prst="rect">
            <a:avLst/>
          </a:prstGeom>
          <a:solidFill>
            <a:srgbClr val="FFFFFF"/>
          </a:solidFill>
          <a:ln w="3810">
            <a:solidFill>
              <a:srgbClr val="E2E8F0"/>
            </a:solidFill>
            <a:prstDash val="solid"/>
          </a:ln>
        </p:spPr>
      </p:sp>
      <p:sp>
        <p:nvSpPr>
          <p:cNvPr id="38" name="Text 36"/>
          <p:cNvSpPr/>
          <p:nvPr/>
        </p:nvSpPr>
        <p:spPr>
          <a:xfrm>
            <a:off x="6446520" y="3282696"/>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MongoDB (Audit + CSI Config)</a:t>
            </a:r>
            <a:endParaRPr lang="en-US" sz="950" dirty="0"/>
          </a:p>
        </p:txBody>
      </p:sp>
      <p:sp>
        <p:nvSpPr>
          <p:cNvPr id="39" name="Shape 37"/>
          <p:cNvSpPr/>
          <p:nvPr/>
        </p:nvSpPr>
        <p:spPr>
          <a:xfrm>
            <a:off x="6355080" y="3685032"/>
            <a:ext cx="2423160" cy="365760"/>
          </a:xfrm>
          <a:prstGeom prst="rect">
            <a:avLst/>
          </a:prstGeom>
          <a:solidFill>
            <a:srgbClr val="FFFFFF"/>
          </a:solidFill>
          <a:ln w="3810">
            <a:solidFill>
              <a:srgbClr val="E2E8F0"/>
            </a:solidFill>
            <a:prstDash val="solid"/>
          </a:ln>
        </p:spPr>
      </p:sp>
      <p:sp>
        <p:nvSpPr>
          <p:cNvPr id="40" name="Text 38"/>
          <p:cNvSpPr/>
          <p:nvPr/>
        </p:nvSpPr>
        <p:spPr>
          <a:xfrm>
            <a:off x="6446520" y="3721608"/>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FID Authentication (PR Creation)</a:t>
            </a:r>
            <a:endParaRPr lang="en-US" sz="950" dirty="0"/>
          </a:p>
        </p:txBody>
      </p:sp>
      <p:sp>
        <p:nvSpPr>
          <p:cNvPr id="41" name="Shape 39"/>
          <p:cNvSpPr/>
          <p:nvPr/>
        </p:nvSpPr>
        <p:spPr>
          <a:xfrm>
            <a:off x="6355080" y="4123944"/>
            <a:ext cx="2423160" cy="365760"/>
          </a:xfrm>
          <a:prstGeom prst="rect">
            <a:avLst/>
          </a:prstGeom>
          <a:solidFill>
            <a:srgbClr val="FFFFFF"/>
          </a:solidFill>
          <a:ln w="3810">
            <a:solidFill>
              <a:srgbClr val="E2E8F0"/>
            </a:solidFill>
            <a:prstDash val="solid"/>
          </a:ln>
        </p:spPr>
      </p:sp>
      <p:sp>
        <p:nvSpPr>
          <p:cNvPr id="42" name="Text 40"/>
          <p:cNvSpPr/>
          <p:nvPr/>
        </p:nvSpPr>
        <p:spPr>
          <a:xfrm>
            <a:off x="6446520" y="4160520"/>
            <a:ext cx="2240280" cy="27432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MSPKI Certificate Authority</a:t>
            </a:r>
            <a:endParaRPr lang="en-US" sz="950" dirty="0"/>
          </a:p>
        </p:txBody>
      </p:sp>
      <p:sp>
        <p:nvSpPr>
          <p:cNvPr id="43" name="Shape 41"/>
          <p:cNvSpPr/>
          <p:nvPr/>
        </p:nvSpPr>
        <p:spPr>
          <a:xfrm>
            <a:off x="2880360" y="1874520"/>
            <a:ext cx="320040" cy="54864"/>
          </a:xfrm>
          <a:prstGeom prst="rect">
            <a:avLst/>
          </a:prstGeom>
          <a:solidFill>
            <a:srgbClr val="056DAE"/>
          </a:solidFill>
          <a:ln w="12700">
            <a:solidFill>
              <a:srgbClr val="056DAE"/>
            </a:solidFill>
            <a:prstDash val="solid"/>
          </a:ln>
        </p:spPr>
      </p:sp>
      <p:sp>
        <p:nvSpPr>
          <p:cNvPr id="44" name="Shape 42"/>
          <p:cNvSpPr/>
          <p:nvPr/>
        </p:nvSpPr>
        <p:spPr>
          <a:xfrm>
            <a:off x="5943600" y="1874520"/>
            <a:ext cx="320040" cy="54864"/>
          </a:xfrm>
          <a:prstGeom prst="rect">
            <a:avLst/>
          </a:prstGeom>
          <a:solidFill>
            <a:srgbClr val="056DAE"/>
          </a:solidFill>
          <a:ln w="12700">
            <a:solidFill>
              <a:srgbClr val="056DAE"/>
            </a:solidFill>
            <a:prstDash val="solid"/>
          </a:ln>
        </p:spPr>
      </p:sp>
      <p:sp>
        <p:nvSpPr>
          <p:cNvPr id="45" name="Shape 43"/>
          <p:cNvSpPr/>
          <p:nvPr/>
        </p:nvSpPr>
        <p:spPr>
          <a:xfrm>
            <a:off x="274320" y="4663440"/>
            <a:ext cx="8595360" cy="310896"/>
          </a:xfrm>
          <a:prstGeom prst="rect">
            <a:avLst/>
          </a:prstGeom>
          <a:solidFill>
            <a:srgbClr val="003B70">
              <a:alpha val="8000"/>
            </a:srgbClr>
          </a:solidFill>
          <a:ln w="12700">
            <a:solidFill>
              <a:srgbClr val="D6E8F5"/>
            </a:solidFill>
            <a:prstDash val="solid"/>
          </a:ln>
        </p:spPr>
      </p:sp>
      <p:sp>
        <p:nvSpPr>
          <p:cNvPr id="46" name="Text 44"/>
          <p:cNvSpPr/>
          <p:nvPr/>
        </p:nvSpPr>
        <p:spPr>
          <a:xfrm>
            <a:off x="365760" y="4690872"/>
            <a:ext cx="731520" cy="237744"/>
          </a:xfrm>
          <a:prstGeom prst="rect">
            <a:avLst/>
          </a:prstGeom>
          <a:noFill/>
        </p:spPr>
        <p:txBody>
          <a:bodyPr wrap="square" lIns="0" tIns="0" rIns="0" bIns="0" rtlCol="0" anchor="ctr"/>
          <a:lstStyle/>
          <a:p>
            <a:pPr marL="0" indent="0">
              <a:buNone/>
            </a:pPr>
            <a:r>
              <a:rPr lang="en-US" sz="900" b="1" dirty="0">
                <a:solidFill>
                  <a:srgbClr val="003B70"/>
                </a:solidFill>
                <a:latin typeface="Calibri" pitchFamily="34" charset="0"/>
                <a:ea typeface="Calibri" pitchFamily="34" charset="-122"/>
                <a:cs typeface="Calibri" pitchFamily="34" charset="-120"/>
              </a:rPr>
              <a:t>Shared:</a:t>
            </a:r>
            <a:endParaRPr lang="en-US" sz="900" dirty="0"/>
          </a:p>
        </p:txBody>
      </p:sp>
      <p:sp>
        <p:nvSpPr>
          <p:cNvPr id="47" name="Text 45"/>
          <p:cNvSpPr/>
          <p:nvPr/>
        </p:nvSpPr>
        <p:spPr>
          <a:xfrm>
            <a:off x="1143000" y="4690872"/>
            <a:ext cx="1508760" cy="237744"/>
          </a:xfrm>
          <a:prstGeom prst="rect">
            <a:avLst/>
          </a:prstGeom>
          <a:noFill/>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 CSI Registry</a:t>
            </a:r>
            <a:endParaRPr lang="en-US" sz="900" dirty="0"/>
          </a:p>
        </p:txBody>
      </p:sp>
      <p:sp>
        <p:nvSpPr>
          <p:cNvPr id="48" name="Text 46"/>
          <p:cNvSpPr/>
          <p:nvPr/>
        </p:nvSpPr>
        <p:spPr>
          <a:xfrm>
            <a:off x="2697480" y="4690872"/>
            <a:ext cx="1508760" cy="237744"/>
          </a:xfrm>
          <a:prstGeom prst="rect">
            <a:avLst/>
          </a:prstGeom>
          <a:noFill/>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 RBAC &amp; Access Control</a:t>
            </a:r>
            <a:endParaRPr lang="en-US" sz="900" dirty="0"/>
          </a:p>
        </p:txBody>
      </p:sp>
      <p:sp>
        <p:nvSpPr>
          <p:cNvPr id="49" name="Text 47"/>
          <p:cNvSpPr/>
          <p:nvPr/>
        </p:nvSpPr>
        <p:spPr>
          <a:xfrm>
            <a:off x="4538980" y="4700397"/>
            <a:ext cx="1508760" cy="237744"/>
          </a:xfrm>
          <a:prstGeom prst="rect">
            <a:avLst/>
          </a:prstGeom>
          <a:noFill/>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 Notifications</a:t>
            </a:r>
            <a:endParaRPr lang="en-US" sz="900" dirty="0"/>
          </a:p>
        </p:txBody>
      </p:sp>
      <p:sp>
        <p:nvSpPr>
          <p:cNvPr id="50" name="Text 48"/>
          <p:cNvSpPr/>
          <p:nvPr/>
        </p:nvSpPr>
        <p:spPr>
          <a:xfrm>
            <a:off x="5806440" y="4690872"/>
            <a:ext cx="1508760" cy="237744"/>
          </a:xfrm>
          <a:prstGeom prst="rect">
            <a:avLst/>
          </a:prstGeom>
          <a:noFill/>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 MongoDB Audit Log</a:t>
            </a:r>
            <a:endParaRPr lang="en-US" sz="900" dirty="0"/>
          </a:p>
        </p:txBody>
      </p:sp>
      <p:sp>
        <p:nvSpPr>
          <p:cNvPr id="51" name="Text 49"/>
          <p:cNvSpPr/>
          <p:nvPr/>
        </p:nvSpPr>
        <p:spPr>
          <a:xfrm>
            <a:off x="7360920" y="4690872"/>
            <a:ext cx="1508760" cy="237744"/>
          </a:xfrm>
          <a:prstGeom prst="rect">
            <a:avLst/>
          </a:prstGeom>
          <a:noFill/>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 Change Mgmt (SNOW)</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Certificate Renewal Business Journey — VM</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End-to-end automated process: Discovery → Warning → Impact Assessment → Renewal → Deployment → Validation</a:t>
            </a:r>
            <a:endParaRPr lang="en-US" sz="1050" dirty="0"/>
          </a:p>
        </p:txBody>
      </p:sp>
      <p:sp>
        <p:nvSpPr>
          <p:cNvPr id="6" name="Shape 4"/>
          <p:cNvSpPr/>
          <p:nvPr/>
        </p:nvSpPr>
        <p:spPr>
          <a:xfrm>
            <a:off x="27432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7" name="Shape 5"/>
          <p:cNvSpPr/>
          <p:nvPr/>
        </p:nvSpPr>
        <p:spPr>
          <a:xfrm>
            <a:off x="274320" y="886968"/>
            <a:ext cx="1417320" cy="475488"/>
          </a:xfrm>
          <a:prstGeom prst="rect">
            <a:avLst/>
          </a:prstGeom>
          <a:solidFill>
            <a:srgbClr val="1565C0"/>
          </a:solidFill>
          <a:ln w="12700">
            <a:solidFill>
              <a:srgbClr val="1565C0"/>
            </a:solidFill>
            <a:prstDash val="solid"/>
          </a:ln>
        </p:spPr>
      </p:sp>
      <p:sp>
        <p:nvSpPr>
          <p:cNvPr id="8" name="Text 6"/>
          <p:cNvSpPr/>
          <p:nvPr/>
        </p:nvSpPr>
        <p:spPr>
          <a:xfrm>
            <a:off x="32004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DISCOVERY</a:t>
            </a:r>
            <a:endParaRPr lang="en-US" sz="900" dirty="0"/>
          </a:p>
        </p:txBody>
      </p:sp>
      <p:sp>
        <p:nvSpPr>
          <p:cNvPr id="9" name="Text 7"/>
          <p:cNvSpPr/>
          <p:nvPr/>
        </p:nvSpPr>
        <p:spPr>
          <a:xfrm>
            <a:off x="329184" y="18006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Comprehensive Discovery: </a:t>
            </a:r>
            <a:r>
              <a:rPr lang="en-US" sz="850" dirty="0">
                <a:solidFill>
                  <a:srgbClr val="1A2B40"/>
                </a:solidFill>
                <a:latin typeface="Calibri" pitchFamily="34" charset="0"/>
                <a:ea typeface="Calibri" pitchFamily="34" charset="-122"/>
                <a:cs typeface="Calibri" pitchFamily="34" charset="-120"/>
              </a:rPr>
              <a:t>Scans VMs to capture CN, serial, SAN, expiry etc.</a:t>
            </a:r>
            <a:endParaRPr lang="en-US" sz="850" dirty="0"/>
          </a:p>
        </p:txBody>
      </p:sp>
      <p:sp>
        <p:nvSpPr>
          <p:cNvPr id="10" name="Text 8"/>
          <p:cNvSpPr/>
          <p:nvPr/>
        </p:nvSpPr>
        <p:spPr>
          <a:xfrm>
            <a:off x="329184" y="2550414"/>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Trust Store Integration: </a:t>
            </a:r>
            <a:r>
              <a:rPr lang="en-US" sz="850" dirty="0">
                <a:solidFill>
                  <a:srgbClr val="1A2B40"/>
                </a:solidFill>
                <a:latin typeface="Calibri" pitchFamily="34" charset="0"/>
                <a:ea typeface="Calibri" pitchFamily="34" charset="-122"/>
                <a:cs typeface="Calibri" pitchFamily="34" charset="-120"/>
              </a:rPr>
              <a:t>Identifies and includes certs residing in trust stores.</a:t>
            </a:r>
            <a:endParaRPr lang="en-US" sz="850" dirty="0"/>
          </a:p>
        </p:txBody>
      </p:sp>
      <p:sp>
        <p:nvSpPr>
          <p:cNvPr id="11" name="Text 9"/>
          <p:cNvSpPr/>
          <p:nvPr/>
        </p:nvSpPr>
        <p:spPr>
          <a:xfrm>
            <a:off x="329184" y="3300222"/>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Intelligent Grouping: </a:t>
            </a:r>
            <a:r>
              <a:rPr lang="en-US" sz="850" dirty="0">
                <a:solidFill>
                  <a:srgbClr val="1A2B40"/>
                </a:solidFill>
                <a:latin typeface="Calibri" pitchFamily="34" charset="0"/>
                <a:ea typeface="Calibri" pitchFamily="34" charset="-122"/>
                <a:cs typeface="Calibri" pitchFamily="34" charset="-120"/>
              </a:rPr>
              <a:t>Groups certs as 'Master' and 'Slave' instances — ensures no renewal is missed in dependent locations.</a:t>
            </a:r>
            <a:endParaRPr lang="en-US" sz="850" dirty="0"/>
          </a:p>
        </p:txBody>
      </p:sp>
      <p:sp>
        <p:nvSpPr>
          <p:cNvPr id="12" name="Shape 10"/>
          <p:cNvSpPr/>
          <p:nvPr/>
        </p:nvSpPr>
        <p:spPr>
          <a:xfrm>
            <a:off x="1691640" y="1088136"/>
            <a:ext cx="45720" cy="91440"/>
          </a:xfrm>
          <a:prstGeom prst="rect">
            <a:avLst/>
          </a:prstGeom>
          <a:solidFill>
            <a:srgbClr val="056DAE"/>
          </a:solidFill>
          <a:ln w="12700">
            <a:solidFill>
              <a:srgbClr val="056DAE"/>
            </a:solidFill>
            <a:prstDash val="solid"/>
          </a:ln>
        </p:spPr>
      </p:sp>
      <p:sp>
        <p:nvSpPr>
          <p:cNvPr id="13" name="Shape 11"/>
          <p:cNvSpPr/>
          <p:nvPr/>
        </p:nvSpPr>
        <p:spPr>
          <a:xfrm>
            <a:off x="173736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14" name="Shape 12"/>
          <p:cNvSpPr/>
          <p:nvPr/>
        </p:nvSpPr>
        <p:spPr>
          <a:xfrm>
            <a:off x="1737360" y="886968"/>
            <a:ext cx="1417320" cy="475488"/>
          </a:xfrm>
          <a:prstGeom prst="rect">
            <a:avLst/>
          </a:prstGeom>
          <a:solidFill>
            <a:srgbClr val="0277BD"/>
          </a:solidFill>
          <a:ln w="12700">
            <a:solidFill>
              <a:srgbClr val="0277BD"/>
            </a:solidFill>
            <a:prstDash val="solid"/>
          </a:ln>
        </p:spPr>
      </p:sp>
      <p:sp>
        <p:nvSpPr>
          <p:cNvPr id="15" name="Text 13"/>
          <p:cNvSpPr/>
          <p:nvPr/>
        </p:nvSpPr>
        <p:spPr>
          <a:xfrm>
            <a:off x="178308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WARNING PERIOD</a:t>
            </a:r>
            <a:endParaRPr lang="en-US" sz="900" dirty="0"/>
          </a:p>
        </p:txBody>
      </p:sp>
      <p:sp>
        <p:nvSpPr>
          <p:cNvPr id="16" name="Text 14"/>
          <p:cNvSpPr/>
          <p:nvPr/>
        </p:nvSpPr>
        <p:spPr>
          <a:xfrm>
            <a:off x="1792224" y="18006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Automated SLA Enforcement: </a:t>
            </a:r>
            <a:r>
              <a:rPr lang="en-US" sz="850" dirty="0">
                <a:solidFill>
                  <a:srgbClr val="1A2B40"/>
                </a:solidFill>
                <a:latin typeface="Calibri" pitchFamily="34" charset="0"/>
                <a:ea typeface="Calibri" pitchFamily="34" charset="-122"/>
                <a:cs typeface="Calibri" pitchFamily="34" charset="-120"/>
              </a:rPr>
              <a:t>60-day SLA before expiry — triggers notifications to users.</a:t>
            </a:r>
            <a:endParaRPr lang="en-US" sz="850" dirty="0"/>
          </a:p>
        </p:txBody>
      </p:sp>
      <p:sp>
        <p:nvSpPr>
          <p:cNvPr id="17" name="Text 15"/>
          <p:cNvSpPr/>
          <p:nvPr/>
        </p:nvSpPr>
        <p:spPr>
          <a:xfrm>
            <a:off x="1792224" y="2550414"/>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Proactive Auto-Renewal: </a:t>
            </a:r>
            <a:r>
              <a:rPr lang="en-US" sz="850" dirty="0">
                <a:solidFill>
                  <a:srgbClr val="1A2B40"/>
                </a:solidFill>
                <a:latin typeface="Calibri" pitchFamily="34" charset="0"/>
                <a:ea typeface="Calibri" pitchFamily="34" charset="-122"/>
                <a:cs typeface="Calibri" pitchFamily="34" charset="-120"/>
              </a:rPr>
              <a:t>Auto-renewal processes initiated automatically on 60th day of expiry.</a:t>
            </a:r>
            <a:endParaRPr lang="en-US" sz="850" dirty="0"/>
          </a:p>
        </p:txBody>
      </p:sp>
      <p:sp>
        <p:nvSpPr>
          <p:cNvPr id="18" name="Shape 16"/>
          <p:cNvSpPr/>
          <p:nvPr/>
        </p:nvSpPr>
        <p:spPr>
          <a:xfrm>
            <a:off x="3154680" y="1088136"/>
            <a:ext cx="45720" cy="91440"/>
          </a:xfrm>
          <a:prstGeom prst="rect">
            <a:avLst/>
          </a:prstGeom>
          <a:solidFill>
            <a:srgbClr val="056DAE"/>
          </a:solidFill>
          <a:ln w="12700">
            <a:solidFill>
              <a:srgbClr val="056DAE"/>
            </a:solidFill>
            <a:prstDash val="solid"/>
          </a:ln>
        </p:spPr>
      </p:sp>
      <p:sp>
        <p:nvSpPr>
          <p:cNvPr id="19" name="Shape 17"/>
          <p:cNvSpPr/>
          <p:nvPr/>
        </p:nvSpPr>
        <p:spPr>
          <a:xfrm>
            <a:off x="320040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20" name="Shape 18"/>
          <p:cNvSpPr/>
          <p:nvPr/>
        </p:nvSpPr>
        <p:spPr>
          <a:xfrm>
            <a:off x="3200400" y="886968"/>
            <a:ext cx="1417320" cy="475488"/>
          </a:xfrm>
          <a:prstGeom prst="rect">
            <a:avLst/>
          </a:prstGeom>
          <a:solidFill>
            <a:srgbClr val="00838F"/>
          </a:solidFill>
          <a:ln w="12700">
            <a:solidFill>
              <a:srgbClr val="00838F"/>
            </a:solidFill>
            <a:prstDash val="solid"/>
          </a:ln>
        </p:spPr>
      </p:sp>
      <p:sp>
        <p:nvSpPr>
          <p:cNvPr id="21" name="Text 19"/>
          <p:cNvSpPr/>
          <p:nvPr/>
        </p:nvSpPr>
        <p:spPr>
          <a:xfrm>
            <a:off x="324612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IMPACT ASSESSMENT</a:t>
            </a:r>
            <a:endParaRPr lang="en-US" sz="900" dirty="0"/>
          </a:p>
        </p:txBody>
      </p:sp>
      <p:sp>
        <p:nvSpPr>
          <p:cNvPr id="22" name="Text 20"/>
          <p:cNvSpPr/>
          <p:nvPr/>
        </p:nvSpPr>
        <p:spPr>
          <a:xfrm>
            <a:off x="3255264" y="18006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Dual-Path Identification: </a:t>
            </a:r>
            <a:r>
              <a:rPr lang="en-US" sz="850" dirty="0">
                <a:solidFill>
                  <a:srgbClr val="1A2B40"/>
                </a:solidFill>
                <a:latin typeface="Calibri" pitchFamily="34" charset="0"/>
                <a:ea typeface="Calibri" pitchFamily="34" charset="-122"/>
                <a:cs typeface="Calibri" pitchFamily="34" charset="-120"/>
              </a:rPr>
              <a:t>Server Scanning identifies servers on same cert. AppD Traffic Analysis tracks downstream cert usage.</a:t>
            </a:r>
            <a:endParaRPr lang="en-US" sz="850" dirty="0"/>
          </a:p>
        </p:txBody>
      </p:sp>
      <p:sp>
        <p:nvSpPr>
          <p:cNvPr id="23" name="Text 21"/>
          <p:cNvSpPr/>
          <p:nvPr/>
        </p:nvSpPr>
        <p:spPr>
          <a:xfrm>
            <a:off x="3255264" y="276072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Targeted Human Interaction: </a:t>
            </a:r>
            <a:r>
              <a:rPr lang="en-US" sz="850" dirty="0">
                <a:solidFill>
                  <a:srgbClr val="1A2B40"/>
                </a:solidFill>
                <a:latin typeface="Calibri" pitchFamily="34" charset="0"/>
                <a:ea typeface="Calibri" pitchFamily="34" charset="-122"/>
                <a:cs typeface="Calibri" pitchFamily="34" charset="-120"/>
              </a:rPr>
              <a:t>Notifies stakeholders on renewal failure. Suggests manual renewal if fails within 20 days (40 days to expiry).</a:t>
            </a:r>
            <a:endParaRPr lang="en-US" sz="850" dirty="0"/>
          </a:p>
        </p:txBody>
      </p:sp>
      <p:sp>
        <p:nvSpPr>
          <p:cNvPr id="24" name="Text 22"/>
          <p:cNvSpPr/>
          <p:nvPr/>
        </p:nvSpPr>
        <p:spPr>
          <a:xfrm>
            <a:off x="3255264" y="372084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Consuming App Awareness: </a:t>
            </a:r>
            <a:r>
              <a:rPr lang="en-US" sz="850" dirty="0">
                <a:solidFill>
                  <a:srgbClr val="1A2B40"/>
                </a:solidFill>
                <a:latin typeface="Calibri" pitchFamily="34" charset="0"/>
                <a:ea typeface="Calibri" pitchFamily="34" charset="-122"/>
                <a:cs typeface="Calibri" pitchFamily="34" charset="-120"/>
              </a:rPr>
              <a:t>Uses AppD + 'partners logic' (private certs in other trust stores) to manage dependent renewals.</a:t>
            </a:r>
            <a:endParaRPr lang="en-US" sz="850" dirty="0"/>
          </a:p>
        </p:txBody>
      </p:sp>
      <p:sp>
        <p:nvSpPr>
          <p:cNvPr id="25" name="Shape 23"/>
          <p:cNvSpPr/>
          <p:nvPr/>
        </p:nvSpPr>
        <p:spPr>
          <a:xfrm>
            <a:off x="4617720" y="1088136"/>
            <a:ext cx="45720" cy="91440"/>
          </a:xfrm>
          <a:prstGeom prst="rect">
            <a:avLst/>
          </a:prstGeom>
          <a:solidFill>
            <a:srgbClr val="056DAE"/>
          </a:solidFill>
          <a:ln w="12700">
            <a:solidFill>
              <a:srgbClr val="056DAE"/>
            </a:solidFill>
            <a:prstDash val="solid"/>
          </a:ln>
        </p:spPr>
      </p:sp>
      <p:sp>
        <p:nvSpPr>
          <p:cNvPr id="26" name="Shape 24"/>
          <p:cNvSpPr/>
          <p:nvPr/>
        </p:nvSpPr>
        <p:spPr>
          <a:xfrm>
            <a:off x="466344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27" name="Shape 25"/>
          <p:cNvSpPr/>
          <p:nvPr/>
        </p:nvSpPr>
        <p:spPr>
          <a:xfrm>
            <a:off x="4663440" y="886968"/>
            <a:ext cx="1417320" cy="475488"/>
          </a:xfrm>
          <a:prstGeom prst="rect">
            <a:avLst/>
          </a:prstGeom>
          <a:solidFill>
            <a:srgbClr val="2E7D32"/>
          </a:solidFill>
          <a:ln w="12700">
            <a:solidFill>
              <a:srgbClr val="2E7D32"/>
            </a:solidFill>
            <a:prstDash val="solid"/>
          </a:ln>
        </p:spPr>
      </p:sp>
      <p:sp>
        <p:nvSpPr>
          <p:cNvPr id="28" name="Text 26"/>
          <p:cNvSpPr/>
          <p:nvPr/>
        </p:nvSpPr>
        <p:spPr>
          <a:xfrm>
            <a:off x="470916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CERTIFICATE RENEWAL</a:t>
            </a:r>
            <a:endParaRPr lang="en-US" sz="900" dirty="0"/>
          </a:p>
        </p:txBody>
      </p:sp>
      <p:sp>
        <p:nvSpPr>
          <p:cNvPr id="29" name="Text 27"/>
          <p:cNvSpPr/>
          <p:nvPr/>
        </p:nvSpPr>
        <p:spPr>
          <a:xfrm>
            <a:off x="4718304" y="18006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Renewal: </a:t>
            </a:r>
            <a:r>
              <a:rPr lang="en-US" sz="850" dirty="0">
                <a:solidFill>
                  <a:srgbClr val="1A2B40"/>
                </a:solidFill>
                <a:latin typeface="Calibri" pitchFamily="34" charset="0"/>
                <a:ea typeface="Calibri" pitchFamily="34" charset="-122"/>
                <a:cs typeface="Calibri" pitchFamily="34" charset="-120"/>
              </a:rPr>
              <a:t>All MSPKI/CitiPKI certificates are renewed.</a:t>
            </a:r>
            <a:endParaRPr lang="en-US" sz="850" dirty="0">
              <a:solidFill>
                <a:srgbClr val="1A2B40"/>
              </a:solidFill>
              <a:latin typeface="Calibri" pitchFamily="34" charset="0"/>
              <a:ea typeface="Calibri" pitchFamily="34" charset="-122"/>
              <a:cs typeface="Calibri" pitchFamily="34" charset="-120"/>
            </a:endParaRPr>
          </a:p>
          <a:p>
            <a:pPr marL="0" indent="0">
              <a:buNone/>
            </a:pPr>
            <a:endParaRPr lang="en-US" sz="850" dirty="0"/>
          </a:p>
          <a:p>
            <a:pPr marL="0" indent="0">
              <a:buNone/>
            </a:pPr>
            <a:endParaRPr lang="en-US" sz="850" dirty="0"/>
          </a:p>
        </p:txBody>
      </p:sp>
      <p:sp>
        <p:nvSpPr>
          <p:cNvPr id="30" name="Text 28"/>
          <p:cNvSpPr/>
          <p:nvPr/>
        </p:nvSpPr>
        <p:spPr>
          <a:xfrm>
            <a:off x="4718304" y="2367534"/>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Risk-Managed Staggered Renewals: </a:t>
            </a:r>
            <a:r>
              <a:rPr lang="en-US" sz="850" dirty="0">
                <a:solidFill>
                  <a:srgbClr val="1A2B40"/>
                </a:solidFill>
                <a:latin typeface="Calibri" pitchFamily="34" charset="0"/>
                <a:ea typeface="Calibri" pitchFamily="34" charset="-122"/>
                <a:cs typeface="Calibri" pitchFamily="34" charset="-120"/>
              </a:rPr>
              <a:t>Same cert across instances with different expiry dates treated independently — adhering to 60-day SLA to minimise impact.</a:t>
            </a:r>
            <a:endParaRPr lang="en-US" sz="850" dirty="0"/>
          </a:p>
        </p:txBody>
      </p:sp>
      <p:sp>
        <p:nvSpPr>
          <p:cNvPr id="31" name="Shape 29"/>
          <p:cNvSpPr/>
          <p:nvPr/>
        </p:nvSpPr>
        <p:spPr>
          <a:xfrm>
            <a:off x="6080760" y="1088136"/>
            <a:ext cx="45720" cy="91440"/>
          </a:xfrm>
          <a:prstGeom prst="rect">
            <a:avLst/>
          </a:prstGeom>
          <a:solidFill>
            <a:srgbClr val="056DAE"/>
          </a:solidFill>
          <a:ln w="12700">
            <a:solidFill>
              <a:srgbClr val="056DAE"/>
            </a:solidFill>
            <a:prstDash val="solid"/>
          </a:ln>
        </p:spPr>
      </p:sp>
      <p:sp>
        <p:nvSpPr>
          <p:cNvPr id="32" name="Shape 30"/>
          <p:cNvSpPr/>
          <p:nvPr/>
        </p:nvSpPr>
        <p:spPr>
          <a:xfrm>
            <a:off x="612648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33" name="Shape 31"/>
          <p:cNvSpPr/>
          <p:nvPr/>
        </p:nvSpPr>
        <p:spPr>
          <a:xfrm>
            <a:off x="6126480" y="886968"/>
            <a:ext cx="1417320" cy="475488"/>
          </a:xfrm>
          <a:prstGeom prst="rect">
            <a:avLst/>
          </a:prstGeom>
          <a:solidFill>
            <a:srgbClr val="1A5C2A"/>
          </a:solidFill>
          <a:ln w="12700">
            <a:solidFill>
              <a:srgbClr val="1A5C2A"/>
            </a:solidFill>
            <a:prstDash val="solid"/>
          </a:ln>
        </p:spPr>
      </p:sp>
      <p:sp>
        <p:nvSpPr>
          <p:cNvPr id="34" name="Text 32"/>
          <p:cNvSpPr/>
          <p:nvPr/>
        </p:nvSpPr>
        <p:spPr>
          <a:xfrm>
            <a:off x="617220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DEPLOY CERTIFICATE</a:t>
            </a:r>
            <a:endParaRPr lang="en-US" sz="900" dirty="0"/>
          </a:p>
        </p:txBody>
      </p:sp>
      <p:sp>
        <p:nvSpPr>
          <p:cNvPr id="35" name="Text 33"/>
          <p:cNvSpPr/>
          <p:nvPr/>
        </p:nvSpPr>
        <p:spPr>
          <a:xfrm>
            <a:off x="6181344" y="18006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Automated Deployment: </a:t>
            </a:r>
            <a:r>
              <a:rPr lang="en-US" sz="850" dirty="0">
                <a:solidFill>
                  <a:srgbClr val="1A2B40"/>
                </a:solidFill>
                <a:latin typeface="Calibri" pitchFamily="34" charset="0"/>
                <a:ea typeface="Calibri" pitchFamily="34" charset="-122"/>
                <a:cs typeface="Calibri" pitchFamily="34" charset="-120"/>
              </a:rPr>
              <a:t>Deploys certificates/keystores to affected servers/infrastructure.</a:t>
            </a:r>
            <a:endParaRPr lang="en-US" sz="850" dirty="0"/>
          </a:p>
        </p:txBody>
      </p:sp>
      <p:sp>
        <p:nvSpPr>
          <p:cNvPr id="36" name="Text 34"/>
          <p:cNvSpPr/>
          <p:nvPr/>
        </p:nvSpPr>
        <p:spPr>
          <a:xfrm>
            <a:off x="6181344" y="276072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Trust Store Integrity: </a:t>
            </a:r>
            <a:r>
              <a:rPr lang="en-US" sz="850" dirty="0">
                <a:solidFill>
                  <a:srgbClr val="1A2B40"/>
                </a:solidFill>
                <a:latin typeface="Calibri" pitchFamily="34" charset="0"/>
                <a:ea typeface="Calibri" pitchFamily="34" charset="-122"/>
                <a:cs typeface="Calibri" pitchFamily="34" charset="-120"/>
              </a:rPr>
              <a:t>Trust stores maintained — explicitly not overridden during deployment.</a:t>
            </a:r>
            <a:endParaRPr lang="en-US" sz="850" dirty="0"/>
          </a:p>
        </p:txBody>
      </p:sp>
      <p:sp>
        <p:nvSpPr>
          <p:cNvPr id="37" name="Text 35"/>
          <p:cNvSpPr/>
          <p:nvPr/>
        </p:nvSpPr>
        <p:spPr>
          <a:xfrm>
            <a:off x="6181344" y="372084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Coexistence Limitation: </a:t>
            </a:r>
            <a:r>
              <a:rPr lang="en-US" sz="850" dirty="0">
                <a:solidFill>
                  <a:srgbClr val="1A2B40"/>
                </a:solidFill>
                <a:latin typeface="Calibri" pitchFamily="34" charset="0"/>
                <a:ea typeface="Calibri" pitchFamily="34" charset="-122"/>
                <a:cs typeface="Calibri" pitchFamily="34" charset="-120"/>
              </a:rPr>
              <a:t>Old cert placed in staged location. Seamless direct coexistence not fully supported in current version.</a:t>
            </a:r>
            <a:endParaRPr lang="en-US" sz="850" dirty="0"/>
          </a:p>
        </p:txBody>
      </p:sp>
      <p:sp>
        <p:nvSpPr>
          <p:cNvPr id="38" name="Shape 36"/>
          <p:cNvSpPr/>
          <p:nvPr/>
        </p:nvSpPr>
        <p:spPr>
          <a:xfrm>
            <a:off x="7543800" y="1088136"/>
            <a:ext cx="45720" cy="91440"/>
          </a:xfrm>
          <a:prstGeom prst="rect">
            <a:avLst/>
          </a:prstGeom>
          <a:solidFill>
            <a:srgbClr val="056DAE"/>
          </a:solidFill>
          <a:ln w="12700">
            <a:solidFill>
              <a:srgbClr val="056DAE"/>
            </a:solidFill>
            <a:prstDash val="solid"/>
          </a:ln>
        </p:spPr>
      </p:sp>
      <p:sp>
        <p:nvSpPr>
          <p:cNvPr id="39" name="Shape 37"/>
          <p:cNvSpPr/>
          <p:nvPr/>
        </p:nvSpPr>
        <p:spPr>
          <a:xfrm>
            <a:off x="758952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40" name="Shape 38"/>
          <p:cNvSpPr/>
          <p:nvPr/>
        </p:nvSpPr>
        <p:spPr>
          <a:xfrm>
            <a:off x="7589520" y="886968"/>
            <a:ext cx="1417320" cy="475488"/>
          </a:xfrm>
          <a:prstGeom prst="rect">
            <a:avLst/>
          </a:prstGeom>
          <a:solidFill>
            <a:srgbClr val="003B70"/>
          </a:solidFill>
          <a:ln w="12700">
            <a:solidFill>
              <a:srgbClr val="003B70"/>
            </a:solidFill>
            <a:prstDash val="solid"/>
          </a:ln>
        </p:spPr>
      </p:sp>
      <p:sp>
        <p:nvSpPr>
          <p:cNvPr id="41" name="Text 39"/>
          <p:cNvSpPr/>
          <p:nvPr/>
        </p:nvSpPr>
        <p:spPr>
          <a:xfrm>
            <a:off x="763524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VALIDATE DEPLOYMENT</a:t>
            </a:r>
            <a:endParaRPr lang="en-US" sz="900" dirty="0"/>
          </a:p>
        </p:txBody>
      </p:sp>
      <p:sp>
        <p:nvSpPr>
          <p:cNvPr id="42" name="Text 40"/>
          <p:cNvSpPr/>
          <p:nvPr/>
        </p:nvSpPr>
        <p:spPr>
          <a:xfrm>
            <a:off x="7644384" y="18006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Installation Validation: </a:t>
            </a:r>
            <a:r>
              <a:rPr lang="en-US" sz="850" dirty="0">
                <a:solidFill>
                  <a:srgbClr val="1A2B40"/>
                </a:solidFill>
                <a:latin typeface="Calibri" pitchFamily="34" charset="0"/>
                <a:ea typeface="Calibri" pitchFamily="34" charset="-122"/>
                <a:cs typeface="Calibri" pitchFamily="34" charset="-120"/>
              </a:rPr>
              <a:t>Validates new cert installation by running a post-deployment scan on the server.</a:t>
            </a:r>
            <a:endParaRPr lang="en-US" sz="850" dirty="0"/>
          </a:p>
        </p:txBody>
      </p:sp>
      <p:sp>
        <p:nvSpPr>
          <p:cNvPr id="43" name="Text 41"/>
          <p:cNvSpPr/>
          <p:nvPr/>
        </p:nvSpPr>
        <p:spPr>
          <a:xfrm>
            <a:off x="7644384" y="276072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Limited CLM Scope: </a:t>
            </a:r>
            <a:r>
              <a:rPr lang="en-US" sz="850" dirty="0">
                <a:solidFill>
                  <a:srgbClr val="1A2B40"/>
                </a:solidFill>
                <a:latin typeface="Calibri" pitchFamily="34" charset="0"/>
                <a:ea typeface="Calibri" pitchFamily="34" charset="-122"/>
                <a:cs typeface="Calibri" pitchFamily="34" charset="-120"/>
              </a:rPr>
              <a:t>Connection and API call validation (e.g., API calls leveraging new cert) are not directly performed by CLM — Application Team responsibility.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Certificate Renewal Business Journey — Containers</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End-to-end automated process: Discovery from NGC Vault → SLA management → Code scanning → PR update → Validation</a:t>
            </a:r>
            <a:endParaRPr lang="en-US" sz="1050" dirty="0"/>
          </a:p>
        </p:txBody>
      </p:sp>
      <p:sp>
        <p:nvSpPr>
          <p:cNvPr id="6" name="Shape 4"/>
          <p:cNvSpPr/>
          <p:nvPr/>
        </p:nvSpPr>
        <p:spPr>
          <a:xfrm>
            <a:off x="27432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7" name="Shape 5"/>
          <p:cNvSpPr/>
          <p:nvPr/>
        </p:nvSpPr>
        <p:spPr>
          <a:xfrm>
            <a:off x="274320" y="886968"/>
            <a:ext cx="1417320" cy="475488"/>
          </a:xfrm>
          <a:prstGeom prst="rect">
            <a:avLst/>
          </a:prstGeom>
          <a:solidFill>
            <a:srgbClr val="1565C0"/>
          </a:solidFill>
          <a:ln w="12700">
            <a:solidFill>
              <a:srgbClr val="1565C0"/>
            </a:solidFill>
            <a:prstDash val="solid"/>
          </a:ln>
        </p:spPr>
      </p:sp>
      <p:sp>
        <p:nvSpPr>
          <p:cNvPr id="8" name="Text 6"/>
          <p:cNvSpPr/>
          <p:nvPr/>
        </p:nvSpPr>
        <p:spPr>
          <a:xfrm>
            <a:off x="32004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DISCOVERY</a:t>
            </a:r>
            <a:endParaRPr lang="en-US" sz="900" dirty="0"/>
          </a:p>
        </p:txBody>
      </p:sp>
      <p:sp>
        <p:nvSpPr>
          <p:cNvPr id="9" name="Text 7"/>
          <p:cNvSpPr/>
          <p:nvPr/>
        </p:nvSpPr>
        <p:spPr>
          <a:xfrm>
            <a:off x="329184" y="183616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Centralised Discovery: </a:t>
            </a:r>
            <a:r>
              <a:rPr lang="en-US" sz="850" dirty="0">
                <a:solidFill>
                  <a:srgbClr val="1A2B40"/>
                </a:solidFill>
                <a:latin typeface="Calibri" pitchFamily="34" charset="0"/>
                <a:ea typeface="Calibri" pitchFamily="34" charset="-122"/>
                <a:cs typeface="Calibri" pitchFamily="34" charset="-120"/>
              </a:rPr>
              <a:t>Discovers all certificates directly from the NGC Vault, simplifying inventory management.</a:t>
            </a:r>
            <a:endParaRPr lang="en-US" sz="850" dirty="0"/>
          </a:p>
        </p:txBody>
      </p:sp>
      <p:sp>
        <p:nvSpPr>
          <p:cNvPr id="10" name="Text 8"/>
          <p:cNvSpPr/>
          <p:nvPr/>
        </p:nvSpPr>
        <p:spPr>
          <a:xfrm>
            <a:off x="329184" y="279628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Coverage: </a:t>
            </a:r>
            <a:r>
              <a:rPr lang="en-US" sz="850" dirty="0">
                <a:solidFill>
                  <a:srgbClr val="1A2B40"/>
                </a:solidFill>
                <a:latin typeface="Calibri" pitchFamily="34" charset="0"/>
                <a:ea typeface="Calibri" pitchFamily="34" charset="-122"/>
                <a:cs typeface="Calibri" pitchFamily="34" charset="-120"/>
              </a:rPr>
              <a:t>Only certificates stored in NGC Vault and referenced by Order ID / Nickname are covered by CLM automation.</a:t>
            </a:r>
            <a:endParaRPr lang="en-US" sz="850" dirty="0"/>
          </a:p>
        </p:txBody>
      </p:sp>
      <p:sp>
        <p:nvSpPr>
          <p:cNvPr id="11" name="Shape 9"/>
          <p:cNvSpPr/>
          <p:nvPr/>
        </p:nvSpPr>
        <p:spPr>
          <a:xfrm>
            <a:off x="1691640" y="1088136"/>
            <a:ext cx="45720" cy="91440"/>
          </a:xfrm>
          <a:prstGeom prst="rect">
            <a:avLst/>
          </a:prstGeom>
          <a:solidFill>
            <a:srgbClr val="056DAE"/>
          </a:solidFill>
          <a:ln w="12700">
            <a:solidFill>
              <a:srgbClr val="056DAE"/>
            </a:solidFill>
            <a:prstDash val="solid"/>
          </a:ln>
        </p:spPr>
      </p:sp>
      <p:sp>
        <p:nvSpPr>
          <p:cNvPr id="12" name="Shape 10"/>
          <p:cNvSpPr/>
          <p:nvPr/>
        </p:nvSpPr>
        <p:spPr>
          <a:xfrm>
            <a:off x="173736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13" name="Shape 11"/>
          <p:cNvSpPr/>
          <p:nvPr/>
        </p:nvSpPr>
        <p:spPr>
          <a:xfrm>
            <a:off x="1737360" y="886968"/>
            <a:ext cx="1417320" cy="475488"/>
          </a:xfrm>
          <a:prstGeom prst="rect">
            <a:avLst/>
          </a:prstGeom>
          <a:solidFill>
            <a:srgbClr val="0277BD"/>
          </a:solidFill>
          <a:ln w="12700">
            <a:solidFill>
              <a:srgbClr val="0277BD"/>
            </a:solidFill>
            <a:prstDash val="solid"/>
          </a:ln>
        </p:spPr>
      </p:sp>
      <p:sp>
        <p:nvSpPr>
          <p:cNvPr id="14" name="Text 12"/>
          <p:cNvSpPr/>
          <p:nvPr/>
        </p:nvSpPr>
        <p:spPr>
          <a:xfrm>
            <a:off x="178308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WARNING PERIOD</a:t>
            </a:r>
            <a:endParaRPr lang="en-US" sz="900" dirty="0"/>
          </a:p>
        </p:txBody>
      </p:sp>
      <p:sp>
        <p:nvSpPr>
          <p:cNvPr id="15" name="Text 13"/>
          <p:cNvSpPr/>
          <p:nvPr/>
        </p:nvSpPr>
        <p:spPr>
          <a:xfrm>
            <a:off x="1792224" y="183616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Automated SLA Enforcement: </a:t>
            </a:r>
            <a:r>
              <a:rPr lang="en-US" sz="850" dirty="0">
                <a:solidFill>
                  <a:srgbClr val="1A2B40"/>
                </a:solidFill>
                <a:latin typeface="Calibri" pitchFamily="34" charset="0"/>
                <a:ea typeface="Calibri" pitchFamily="34" charset="-122"/>
                <a:cs typeface="Calibri" pitchFamily="34" charset="-120"/>
              </a:rPr>
              <a:t>60-day SLA before expiry — triggers notifications to users.</a:t>
            </a:r>
            <a:endParaRPr lang="en-US" sz="850" dirty="0"/>
          </a:p>
        </p:txBody>
      </p:sp>
      <p:sp>
        <p:nvSpPr>
          <p:cNvPr id="16" name="Text 14"/>
          <p:cNvSpPr/>
          <p:nvPr/>
        </p:nvSpPr>
        <p:spPr>
          <a:xfrm>
            <a:off x="1792224" y="2585974"/>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Proactive Auto-Renewal: </a:t>
            </a:r>
            <a:r>
              <a:rPr lang="en-US" sz="850" dirty="0">
                <a:solidFill>
                  <a:srgbClr val="1A2B40"/>
                </a:solidFill>
                <a:latin typeface="Calibri" pitchFamily="34" charset="0"/>
                <a:ea typeface="Calibri" pitchFamily="34" charset="-122"/>
                <a:cs typeface="Calibri" pitchFamily="34" charset="-120"/>
              </a:rPr>
              <a:t>Auto-renewal processes initiated automatically on 60th day of expiry.</a:t>
            </a:r>
            <a:endParaRPr lang="en-US" sz="850" dirty="0"/>
          </a:p>
        </p:txBody>
      </p:sp>
      <p:sp>
        <p:nvSpPr>
          <p:cNvPr id="17" name="Shape 15"/>
          <p:cNvSpPr/>
          <p:nvPr/>
        </p:nvSpPr>
        <p:spPr>
          <a:xfrm>
            <a:off x="3154680" y="1088136"/>
            <a:ext cx="45720" cy="91440"/>
          </a:xfrm>
          <a:prstGeom prst="rect">
            <a:avLst/>
          </a:prstGeom>
          <a:solidFill>
            <a:srgbClr val="056DAE"/>
          </a:solidFill>
          <a:ln w="12700">
            <a:solidFill>
              <a:srgbClr val="056DAE"/>
            </a:solidFill>
            <a:prstDash val="solid"/>
          </a:ln>
        </p:spPr>
      </p:sp>
      <p:sp>
        <p:nvSpPr>
          <p:cNvPr id="18" name="Shape 16"/>
          <p:cNvSpPr/>
          <p:nvPr/>
        </p:nvSpPr>
        <p:spPr>
          <a:xfrm>
            <a:off x="320040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19" name="Shape 17"/>
          <p:cNvSpPr/>
          <p:nvPr/>
        </p:nvSpPr>
        <p:spPr>
          <a:xfrm>
            <a:off x="3200400" y="886968"/>
            <a:ext cx="1417320" cy="475488"/>
          </a:xfrm>
          <a:prstGeom prst="rect">
            <a:avLst/>
          </a:prstGeom>
          <a:solidFill>
            <a:srgbClr val="00838F"/>
          </a:solidFill>
          <a:ln w="12700">
            <a:solidFill>
              <a:srgbClr val="00838F"/>
            </a:solidFill>
            <a:prstDash val="solid"/>
          </a:ln>
        </p:spPr>
      </p:sp>
      <p:sp>
        <p:nvSpPr>
          <p:cNvPr id="20" name="Text 18"/>
          <p:cNvSpPr/>
          <p:nvPr/>
        </p:nvSpPr>
        <p:spPr>
          <a:xfrm>
            <a:off x="324612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IMPACT ASSESSMENT</a:t>
            </a:r>
            <a:endParaRPr lang="en-US" sz="900" dirty="0"/>
          </a:p>
        </p:txBody>
      </p:sp>
      <p:sp>
        <p:nvSpPr>
          <p:cNvPr id="21" name="Text 19"/>
          <p:cNvSpPr/>
          <p:nvPr/>
        </p:nvSpPr>
        <p:spPr>
          <a:xfrm>
            <a:off x="3255264" y="183616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Code-Centric Identification: </a:t>
            </a:r>
            <a:r>
              <a:rPr lang="en-US" sz="850" dirty="0">
                <a:solidFill>
                  <a:srgbClr val="1A2B40"/>
                </a:solidFill>
                <a:latin typeface="Calibri" pitchFamily="34" charset="0"/>
                <a:ea typeface="Calibri" pitchFamily="34" charset="-122"/>
                <a:cs typeface="Calibri" pitchFamily="34" charset="-120"/>
              </a:rPr>
              <a:t>Scans Bitbucket repositories for certificate references (Order ID and Nickname) to determine usage.</a:t>
            </a:r>
            <a:endParaRPr lang="en-US" sz="850" dirty="0"/>
          </a:p>
        </p:txBody>
      </p:sp>
      <p:sp>
        <p:nvSpPr>
          <p:cNvPr id="22" name="Text 20"/>
          <p:cNvSpPr/>
          <p:nvPr/>
        </p:nvSpPr>
        <p:spPr>
          <a:xfrm>
            <a:off x="3255264" y="279628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Post-Renewal Human Interaction: </a:t>
            </a:r>
            <a:r>
              <a:rPr lang="en-US" sz="850" dirty="0">
                <a:solidFill>
                  <a:srgbClr val="1A2B40"/>
                </a:solidFill>
                <a:latin typeface="Calibri" pitchFamily="34" charset="0"/>
                <a:ea typeface="Calibri" pitchFamily="34" charset="-122"/>
                <a:cs typeface="Calibri" pitchFamily="34" charset="-120"/>
              </a:rPr>
              <a:t>Mails stakeholders for manual code updates if CLM lacks write access to repositories after renewal.</a:t>
            </a:r>
            <a:endParaRPr lang="en-US" sz="850" dirty="0"/>
          </a:p>
        </p:txBody>
      </p:sp>
      <p:sp>
        <p:nvSpPr>
          <p:cNvPr id="23" name="Text 21"/>
          <p:cNvSpPr/>
          <p:nvPr/>
        </p:nvSpPr>
        <p:spPr>
          <a:xfrm>
            <a:off x="3255264" y="37564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Onboarded App Awareness: </a:t>
            </a:r>
            <a:r>
              <a:rPr lang="en-US" sz="850" dirty="0">
                <a:solidFill>
                  <a:srgbClr val="1A2B40"/>
                </a:solidFill>
                <a:latin typeface="Calibri" pitchFamily="34" charset="0"/>
                <a:ea typeface="Calibri" pitchFamily="34" charset="-122"/>
                <a:cs typeface="Calibri" pitchFamily="34" charset="-120"/>
              </a:rPr>
              <a:t>Notifies consuming application repositories that are onboarded about renewals. Note: if repo URL not configured, coverage may be incomplete.</a:t>
            </a:r>
            <a:endParaRPr lang="en-US" sz="850" dirty="0"/>
          </a:p>
        </p:txBody>
      </p:sp>
      <p:sp>
        <p:nvSpPr>
          <p:cNvPr id="24" name="Shape 22"/>
          <p:cNvSpPr/>
          <p:nvPr/>
        </p:nvSpPr>
        <p:spPr>
          <a:xfrm>
            <a:off x="4617720" y="1088136"/>
            <a:ext cx="45720" cy="91440"/>
          </a:xfrm>
          <a:prstGeom prst="rect">
            <a:avLst/>
          </a:prstGeom>
          <a:solidFill>
            <a:srgbClr val="056DAE"/>
          </a:solidFill>
          <a:ln w="12700">
            <a:solidFill>
              <a:srgbClr val="056DAE"/>
            </a:solidFill>
            <a:prstDash val="solid"/>
          </a:ln>
        </p:spPr>
      </p:sp>
      <p:sp>
        <p:nvSpPr>
          <p:cNvPr id="25" name="Shape 23"/>
          <p:cNvSpPr/>
          <p:nvPr/>
        </p:nvSpPr>
        <p:spPr>
          <a:xfrm>
            <a:off x="466344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26" name="Shape 24"/>
          <p:cNvSpPr/>
          <p:nvPr/>
        </p:nvSpPr>
        <p:spPr>
          <a:xfrm>
            <a:off x="4663440" y="886968"/>
            <a:ext cx="1417320" cy="475488"/>
          </a:xfrm>
          <a:prstGeom prst="rect">
            <a:avLst/>
          </a:prstGeom>
          <a:solidFill>
            <a:srgbClr val="2E7D32"/>
          </a:solidFill>
          <a:ln w="12700">
            <a:solidFill>
              <a:srgbClr val="2E7D32"/>
            </a:solidFill>
            <a:prstDash val="solid"/>
          </a:ln>
        </p:spPr>
      </p:sp>
      <p:sp>
        <p:nvSpPr>
          <p:cNvPr id="27" name="Text 25"/>
          <p:cNvSpPr/>
          <p:nvPr/>
        </p:nvSpPr>
        <p:spPr>
          <a:xfrm>
            <a:off x="470916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CERTIFICATE RENEWAL</a:t>
            </a:r>
            <a:endParaRPr lang="en-US" sz="900" dirty="0"/>
          </a:p>
        </p:txBody>
      </p:sp>
      <p:sp>
        <p:nvSpPr>
          <p:cNvPr id="28" name="Text 26"/>
          <p:cNvSpPr/>
          <p:nvPr/>
        </p:nvSpPr>
        <p:spPr>
          <a:xfrm>
            <a:off x="4718304" y="183616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Renewal: </a:t>
            </a:r>
            <a:r>
              <a:rPr lang="en-US" sz="850" dirty="0">
                <a:solidFill>
                  <a:srgbClr val="1A2B40"/>
                </a:solidFill>
                <a:latin typeface="Calibri" pitchFamily="34" charset="0"/>
                <a:ea typeface="Calibri" pitchFamily="34" charset="-122"/>
                <a:cs typeface="Calibri" pitchFamily="34" charset="-120"/>
              </a:rPr>
              <a:t>All MSPKI/CitiPKI  certificates are renewed.</a:t>
            </a:r>
            <a:endParaRPr lang="en-US" sz="850" dirty="0"/>
          </a:p>
        </p:txBody>
      </p:sp>
      <p:sp>
        <p:nvSpPr>
          <p:cNvPr id="29" name="Text 27"/>
          <p:cNvSpPr/>
          <p:nvPr/>
        </p:nvSpPr>
        <p:spPr>
          <a:xfrm>
            <a:off x="4718304" y="2403094"/>
            <a:ext cx="1325880" cy="9144"/>
          </a:xfrm>
          <a:prstGeom prst="rect">
            <a:avLst/>
          </a:prstGeom>
          <a:noFill/>
        </p:spPr>
        <p:txBody>
          <a:bodyPr wrap="square" lIns="0" tIns="0" rIns="0" bIns="0" rtlCol="0" anchor="ctr"/>
          <a:lstStyle/>
          <a:p>
            <a:pPr marL="0" indent="0">
              <a:buNone/>
            </a:pPr>
            <a:endParaRPr lang="en-US" sz="850" dirty="0"/>
          </a:p>
        </p:txBody>
      </p:sp>
      <p:sp>
        <p:nvSpPr>
          <p:cNvPr id="30" name="Shape 28"/>
          <p:cNvSpPr/>
          <p:nvPr/>
        </p:nvSpPr>
        <p:spPr>
          <a:xfrm>
            <a:off x="6080760" y="1088136"/>
            <a:ext cx="45720" cy="91440"/>
          </a:xfrm>
          <a:prstGeom prst="rect">
            <a:avLst/>
          </a:prstGeom>
          <a:solidFill>
            <a:srgbClr val="056DAE"/>
          </a:solidFill>
          <a:ln w="12700">
            <a:solidFill>
              <a:srgbClr val="056DAE"/>
            </a:solidFill>
            <a:prstDash val="solid"/>
          </a:ln>
        </p:spPr>
      </p:sp>
      <p:sp>
        <p:nvSpPr>
          <p:cNvPr id="31" name="Shape 29"/>
          <p:cNvSpPr/>
          <p:nvPr/>
        </p:nvSpPr>
        <p:spPr>
          <a:xfrm>
            <a:off x="612648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32" name="Shape 30"/>
          <p:cNvSpPr/>
          <p:nvPr/>
        </p:nvSpPr>
        <p:spPr>
          <a:xfrm>
            <a:off x="6126480" y="886968"/>
            <a:ext cx="1417320" cy="475488"/>
          </a:xfrm>
          <a:prstGeom prst="rect">
            <a:avLst/>
          </a:prstGeom>
          <a:solidFill>
            <a:srgbClr val="1A5C2A"/>
          </a:solidFill>
          <a:ln w="12700">
            <a:solidFill>
              <a:srgbClr val="1A5C2A"/>
            </a:solidFill>
            <a:prstDash val="solid"/>
          </a:ln>
        </p:spPr>
      </p:sp>
      <p:sp>
        <p:nvSpPr>
          <p:cNvPr id="33" name="Text 31"/>
          <p:cNvSpPr/>
          <p:nvPr/>
        </p:nvSpPr>
        <p:spPr>
          <a:xfrm>
            <a:off x="617220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DEPLOY CERTIFICATE</a:t>
            </a:r>
            <a:endParaRPr lang="en-US" sz="900" dirty="0"/>
          </a:p>
        </p:txBody>
      </p:sp>
      <p:sp>
        <p:nvSpPr>
          <p:cNvPr id="34" name="Text 32"/>
          <p:cNvSpPr/>
          <p:nvPr/>
        </p:nvSpPr>
        <p:spPr>
          <a:xfrm>
            <a:off x="6181344" y="183616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NGC Vault Availability: </a:t>
            </a:r>
            <a:r>
              <a:rPr lang="en-US" sz="850" dirty="0">
                <a:solidFill>
                  <a:srgbClr val="1A2B40"/>
                </a:solidFill>
                <a:latin typeface="Calibri" pitchFamily="34" charset="0"/>
                <a:ea typeface="Calibri" pitchFamily="34" charset="-122"/>
                <a:cs typeface="Calibri" pitchFamily="34" charset="-120"/>
              </a:rPr>
              <a:t>Renewed certificates made available directly in the NGC Vault.</a:t>
            </a:r>
            <a:endParaRPr lang="en-US" sz="850" dirty="0"/>
          </a:p>
        </p:txBody>
      </p:sp>
      <p:sp>
        <p:nvSpPr>
          <p:cNvPr id="35" name="Text 33"/>
          <p:cNvSpPr/>
          <p:nvPr/>
        </p:nvSpPr>
        <p:spPr>
          <a:xfrm>
            <a:off x="6181344" y="279628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Automated Code Updates: </a:t>
            </a:r>
            <a:r>
              <a:rPr lang="en-US" sz="850" dirty="0">
                <a:solidFill>
                  <a:srgbClr val="1A2B40"/>
                </a:solidFill>
                <a:latin typeface="Calibri" pitchFamily="34" charset="0"/>
                <a:ea typeface="Calibri" pitchFamily="34" charset="-122"/>
                <a:cs typeface="Calibri" pitchFamily="34" charset="-120"/>
              </a:rPr>
              <a:t>If CLM FID (Functional ID) has write access, code-level changes are automatically implemented in feature branches.</a:t>
            </a:r>
            <a:endParaRPr lang="en-US" sz="850" dirty="0"/>
          </a:p>
        </p:txBody>
      </p:sp>
      <p:sp>
        <p:nvSpPr>
          <p:cNvPr id="36" name="Text 34"/>
          <p:cNvSpPr/>
          <p:nvPr/>
        </p:nvSpPr>
        <p:spPr>
          <a:xfrm>
            <a:off x="6181344" y="375640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Seamless Coexistence: </a:t>
            </a:r>
            <a:r>
              <a:rPr lang="en-US" sz="850" dirty="0">
                <a:solidFill>
                  <a:srgbClr val="1A2B40"/>
                </a:solidFill>
                <a:latin typeface="Calibri" pitchFamily="34" charset="0"/>
                <a:ea typeface="Calibri" pitchFamily="34" charset="-122"/>
                <a:cs typeface="Calibri" pitchFamily="34" charset="-120"/>
              </a:rPr>
              <a:t>Supports both old and new certificates functioning concurrently — ensuring a smooth transition.</a:t>
            </a:r>
            <a:endParaRPr lang="en-US" sz="850" dirty="0"/>
          </a:p>
        </p:txBody>
      </p:sp>
      <p:sp>
        <p:nvSpPr>
          <p:cNvPr id="37" name="Shape 35"/>
          <p:cNvSpPr/>
          <p:nvPr/>
        </p:nvSpPr>
        <p:spPr>
          <a:xfrm>
            <a:off x="7543800" y="1088136"/>
            <a:ext cx="45720" cy="91440"/>
          </a:xfrm>
          <a:prstGeom prst="rect">
            <a:avLst/>
          </a:prstGeom>
          <a:solidFill>
            <a:srgbClr val="056DAE"/>
          </a:solidFill>
          <a:ln w="12700">
            <a:solidFill>
              <a:srgbClr val="056DAE"/>
            </a:solidFill>
            <a:prstDash val="solid"/>
          </a:ln>
        </p:spPr>
      </p:sp>
      <p:sp>
        <p:nvSpPr>
          <p:cNvPr id="38" name="Shape 36"/>
          <p:cNvSpPr/>
          <p:nvPr/>
        </p:nvSpPr>
        <p:spPr>
          <a:xfrm>
            <a:off x="7589520" y="886968"/>
            <a:ext cx="1417320" cy="3977640"/>
          </a:xfrm>
          <a:prstGeom prst="rect">
            <a:avLst/>
          </a:prstGeom>
          <a:solidFill>
            <a:srgbClr val="FFFFFF"/>
          </a:solidFill>
          <a:ln w="5080">
            <a:solidFill>
              <a:srgbClr val="E2E8F0"/>
            </a:solidFill>
            <a:prstDash val="solid"/>
          </a:ln>
          <a:effectLst>
            <a:outerShdw blurRad="63500" dist="25400" dir="8100000" algn="bl" rotWithShape="0">
              <a:srgbClr val="000000">
                <a:alpha val="7000"/>
              </a:srgbClr>
            </a:outerShdw>
          </a:effectLst>
        </p:spPr>
      </p:sp>
      <p:sp>
        <p:nvSpPr>
          <p:cNvPr id="39" name="Shape 37"/>
          <p:cNvSpPr/>
          <p:nvPr/>
        </p:nvSpPr>
        <p:spPr>
          <a:xfrm>
            <a:off x="7589520" y="886968"/>
            <a:ext cx="1417320" cy="475488"/>
          </a:xfrm>
          <a:prstGeom prst="rect">
            <a:avLst/>
          </a:prstGeom>
          <a:solidFill>
            <a:srgbClr val="003B70"/>
          </a:solidFill>
          <a:ln w="12700">
            <a:solidFill>
              <a:srgbClr val="003B70"/>
            </a:solidFill>
            <a:prstDash val="solid"/>
          </a:ln>
        </p:spPr>
      </p:sp>
      <p:sp>
        <p:nvSpPr>
          <p:cNvPr id="40" name="Text 38"/>
          <p:cNvSpPr/>
          <p:nvPr/>
        </p:nvSpPr>
        <p:spPr>
          <a:xfrm>
            <a:off x="7635240" y="960120"/>
            <a:ext cx="1344168" cy="34747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VALIDATE DEPLOYMENT</a:t>
            </a:r>
            <a:endParaRPr lang="en-US" sz="900" dirty="0"/>
          </a:p>
        </p:txBody>
      </p:sp>
      <p:sp>
        <p:nvSpPr>
          <p:cNvPr id="41" name="Text 39"/>
          <p:cNvSpPr/>
          <p:nvPr/>
        </p:nvSpPr>
        <p:spPr>
          <a:xfrm>
            <a:off x="7644384" y="183616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Installation Validation: </a:t>
            </a:r>
            <a:r>
              <a:rPr lang="en-US" sz="850" dirty="0">
                <a:solidFill>
                  <a:srgbClr val="1A2B40"/>
                </a:solidFill>
                <a:latin typeface="Calibri" pitchFamily="34" charset="0"/>
                <a:ea typeface="Calibri" pitchFamily="34" charset="-122"/>
                <a:cs typeface="Calibri" pitchFamily="34" charset="-120"/>
              </a:rPr>
              <a:t>Validates new cert installation by running a post-deployment scan on the server.</a:t>
            </a:r>
            <a:endParaRPr lang="en-US" sz="850" dirty="0"/>
          </a:p>
        </p:txBody>
      </p:sp>
      <p:sp>
        <p:nvSpPr>
          <p:cNvPr id="42" name="Text 40"/>
          <p:cNvSpPr/>
          <p:nvPr/>
        </p:nvSpPr>
        <p:spPr>
          <a:xfrm>
            <a:off x="7644384" y="2796286"/>
            <a:ext cx="1325880" cy="9144"/>
          </a:xfrm>
          <a:prstGeom prst="rect">
            <a:avLst/>
          </a:prstGeom>
          <a:noFill/>
        </p:spPr>
        <p:txBody>
          <a:bodyPr wrap="square" lIns="0" tIns="0" rIns="0" bIns="0" rtlCol="0" anchor="ctr"/>
          <a:lstStyle/>
          <a:p>
            <a:pPr marL="0" indent="0">
              <a:buNone/>
            </a:pPr>
            <a:r>
              <a:rPr lang="en-US" sz="850" b="1" dirty="0">
                <a:solidFill>
                  <a:srgbClr val="003B70"/>
                </a:solidFill>
                <a:latin typeface="Calibri" pitchFamily="34" charset="0"/>
                <a:ea typeface="Calibri" pitchFamily="34" charset="-122"/>
                <a:cs typeface="Calibri" pitchFamily="34" charset="-120"/>
              </a:rPr>
              <a:t>Limited CLM Scope: </a:t>
            </a:r>
            <a:r>
              <a:rPr lang="en-US" sz="850" dirty="0">
                <a:solidFill>
                  <a:srgbClr val="1A2B40"/>
                </a:solidFill>
                <a:latin typeface="Calibri" pitchFamily="34" charset="0"/>
                <a:ea typeface="Calibri" pitchFamily="34" charset="-122"/>
                <a:cs typeface="Calibri" pitchFamily="34" charset="-120"/>
              </a:rPr>
              <a:t>Connection and API call validation (e.g., connections and API calls leveraging new cert) are not directly performed by CLM.</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Phase Deep Dive: Discovery &amp; Warning Period</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How CLM builds certificate inventory and triggers SLA-bound renewal before expiry</a:t>
            </a:r>
            <a:endParaRPr lang="en-US" sz="1050" dirty="0"/>
          </a:p>
        </p:txBody>
      </p:sp>
      <p:sp>
        <p:nvSpPr>
          <p:cNvPr id="6" name="Shape 4"/>
          <p:cNvSpPr/>
          <p:nvPr/>
        </p:nvSpPr>
        <p:spPr>
          <a:xfrm>
            <a:off x="292608" y="868680"/>
            <a:ext cx="4251960" cy="422452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7" name="Shape 5"/>
          <p:cNvSpPr/>
          <p:nvPr/>
        </p:nvSpPr>
        <p:spPr>
          <a:xfrm>
            <a:off x="292608" y="868680"/>
            <a:ext cx="4251960" cy="384048"/>
          </a:xfrm>
          <a:prstGeom prst="rect">
            <a:avLst/>
          </a:prstGeom>
          <a:solidFill>
            <a:srgbClr val="1565C0"/>
          </a:solidFill>
          <a:ln w="12700">
            <a:solidFill>
              <a:srgbClr val="1565C0"/>
            </a:solidFill>
            <a:prstDash val="solid"/>
          </a:ln>
        </p:spPr>
      </p:sp>
      <p:sp>
        <p:nvSpPr>
          <p:cNvPr id="8" name="Text 6"/>
          <p:cNvSpPr/>
          <p:nvPr/>
        </p:nvSpPr>
        <p:spPr>
          <a:xfrm>
            <a:off x="384048" y="886968"/>
            <a:ext cx="4114800" cy="329184"/>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Phase 1: Discovery — What &amp; How</a:t>
            </a:r>
            <a:endParaRPr lang="en-US" sz="1150" dirty="0"/>
          </a:p>
        </p:txBody>
      </p:sp>
      <p:sp>
        <p:nvSpPr>
          <p:cNvPr id="9" name="Shape 7"/>
          <p:cNvSpPr/>
          <p:nvPr/>
        </p:nvSpPr>
        <p:spPr>
          <a:xfrm>
            <a:off x="384048" y="1325880"/>
            <a:ext cx="4087368" cy="237744"/>
          </a:xfrm>
          <a:prstGeom prst="rect">
            <a:avLst/>
          </a:prstGeom>
          <a:solidFill>
            <a:srgbClr val="003B70">
              <a:alpha val="12000"/>
            </a:srgbClr>
          </a:solidFill>
          <a:ln w="12700">
            <a:solidFill>
              <a:srgbClr val="D6E8F5"/>
            </a:solidFill>
            <a:prstDash val="solid"/>
          </a:ln>
        </p:spPr>
      </p:sp>
      <p:sp>
        <p:nvSpPr>
          <p:cNvPr id="10" name="Text 8"/>
          <p:cNvSpPr/>
          <p:nvPr/>
        </p:nvSpPr>
        <p:spPr>
          <a:xfrm>
            <a:off x="438912" y="136245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a:t>
            </a:r>
            <a:endParaRPr lang="en-US" sz="950" dirty="0"/>
          </a:p>
        </p:txBody>
      </p:sp>
      <p:sp>
        <p:nvSpPr>
          <p:cNvPr id="11" name="Text 9"/>
          <p:cNvSpPr/>
          <p:nvPr/>
        </p:nvSpPr>
        <p:spPr>
          <a:xfrm>
            <a:off x="420624" y="179578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CLM's AutoScan runs periodically on all successfully Ansible-connected servers. Captures: CN, Serial, SAN, Expiry, Owner, Certificate Type, Certificate Path, Issuer, Instance Name, Product Type, Affected CSI.</a:t>
            </a:r>
            <a:endParaRPr lang="en-US" sz="900" dirty="0"/>
          </a:p>
        </p:txBody>
      </p:sp>
      <p:sp>
        <p:nvSpPr>
          <p:cNvPr id="12" name="Shape 10"/>
          <p:cNvSpPr/>
          <p:nvPr/>
        </p:nvSpPr>
        <p:spPr>
          <a:xfrm>
            <a:off x="384048" y="2286000"/>
            <a:ext cx="4087368" cy="237744"/>
          </a:xfrm>
          <a:prstGeom prst="rect">
            <a:avLst/>
          </a:prstGeom>
          <a:solidFill>
            <a:srgbClr val="003B70">
              <a:alpha val="12000"/>
            </a:srgbClr>
          </a:solidFill>
          <a:ln w="12700">
            <a:solidFill>
              <a:srgbClr val="D6E8F5"/>
            </a:solidFill>
            <a:prstDash val="solid"/>
          </a:ln>
        </p:spPr>
      </p:sp>
      <p:sp>
        <p:nvSpPr>
          <p:cNvPr id="13" name="Text 11"/>
          <p:cNvSpPr/>
          <p:nvPr/>
        </p:nvSpPr>
        <p:spPr>
          <a:xfrm>
            <a:off x="438912" y="232257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(VM)</a:t>
            </a:r>
            <a:endParaRPr lang="en-US" sz="950" dirty="0"/>
          </a:p>
        </p:txBody>
      </p:sp>
      <p:sp>
        <p:nvSpPr>
          <p:cNvPr id="14" name="Text 12"/>
          <p:cNvSpPr/>
          <p:nvPr/>
        </p:nvSpPr>
        <p:spPr>
          <a:xfrm>
            <a:off x="420624" y="282702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 fetches server inventory from Drift. Tests Ansible connectivity via Lightning API. For connected servers, triggers AutoScan — supports 10 products: WebSphere, IBM HTTP, Nginx, Apache HTTP, Tomcat, Weblogic, Business Works, Tibco Business Events, WebSphere ND, IBM MQ.</a:t>
            </a:r>
            <a:endParaRPr lang="en-US" sz="900" dirty="0"/>
          </a:p>
        </p:txBody>
      </p:sp>
      <p:sp>
        <p:nvSpPr>
          <p:cNvPr id="15" name="Shape 13"/>
          <p:cNvSpPr/>
          <p:nvPr/>
        </p:nvSpPr>
        <p:spPr>
          <a:xfrm>
            <a:off x="384048" y="3246120"/>
            <a:ext cx="4087368" cy="237744"/>
          </a:xfrm>
          <a:prstGeom prst="rect">
            <a:avLst/>
          </a:prstGeom>
          <a:solidFill>
            <a:srgbClr val="003B70">
              <a:alpha val="12000"/>
            </a:srgbClr>
          </a:solidFill>
          <a:ln w="12700">
            <a:solidFill>
              <a:srgbClr val="D6E8F5"/>
            </a:solidFill>
            <a:prstDash val="solid"/>
          </a:ln>
        </p:spPr>
      </p:sp>
      <p:sp>
        <p:nvSpPr>
          <p:cNvPr id="16" name="Text 14"/>
          <p:cNvSpPr/>
          <p:nvPr/>
        </p:nvSpPr>
        <p:spPr>
          <a:xfrm>
            <a:off x="438912" y="328269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(Container)</a:t>
            </a:r>
            <a:endParaRPr lang="en-US" sz="950" dirty="0"/>
          </a:p>
        </p:txBody>
      </p:sp>
      <p:sp>
        <p:nvSpPr>
          <p:cNvPr id="17" name="Text 15"/>
          <p:cNvSpPr/>
          <p:nvPr/>
        </p:nvSpPr>
        <p:spPr>
          <a:xfrm>
            <a:off x="420624" y="365379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Discovers all certificates directly from the NGC Vault. Coverage limited to certs stored in NGC Vault and referenced by Order ID or Nickname.</a:t>
            </a:r>
            <a:endParaRPr lang="en-US" sz="900" dirty="0"/>
          </a:p>
        </p:txBody>
      </p:sp>
      <p:sp>
        <p:nvSpPr>
          <p:cNvPr id="18" name="Shape 16"/>
          <p:cNvSpPr/>
          <p:nvPr/>
        </p:nvSpPr>
        <p:spPr>
          <a:xfrm>
            <a:off x="384048" y="4206240"/>
            <a:ext cx="4087368" cy="237744"/>
          </a:xfrm>
          <a:prstGeom prst="rect">
            <a:avLst/>
          </a:prstGeom>
          <a:solidFill>
            <a:srgbClr val="003B70">
              <a:alpha val="12000"/>
            </a:srgbClr>
          </a:solidFill>
          <a:ln w="12700">
            <a:solidFill>
              <a:srgbClr val="D6E8F5"/>
            </a:solidFill>
            <a:prstDash val="solid"/>
          </a:ln>
        </p:spPr>
      </p:sp>
      <p:sp>
        <p:nvSpPr>
          <p:cNvPr id="19" name="Text 17"/>
          <p:cNvSpPr/>
          <p:nvPr/>
        </p:nvSpPr>
        <p:spPr>
          <a:xfrm>
            <a:off x="438912" y="424281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Intelligent Grouping (VM only)</a:t>
            </a:r>
            <a:endParaRPr lang="en-US" sz="950" dirty="0"/>
          </a:p>
        </p:txBody>
      </p:sp>
      <p:sp>
        <p:nvSpPr>
          <p:cNvPr id="20" name="Text 18"/>
          <p:cNvSpPr/>
          <p:nvPr/>
        </p:nvSpPr>
        <p:spPr>
          <a:xfrm>
            <a:off x="420624" y="448056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Groups certificates as 'Master' (primary) and 'Slave' (dependent) instances. Ensures when a master cert renews, all slave instances are also renewed — critical for dependent locations.</a:t>
            </a:r>
            <a:endParaRPr lang="en-US" sz="900" dirty="0"/>
          </a:p>
        </p:txBody>
      </p:sp>
      <p:sp>
        <p:nvSpPr>
          <p:cNvPr id="21" name="Shape 19"/>
          <p:cNvSpPr/>
          <p:nvPr/>
        </p:nvSpPr>
        <p:spPr>
          <a:xfrm>
            <a:off x="4727448" y="868680"/>
            <a:ext cx="4251960" cy="422452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22" name="Shape 20"/>
          <p:cNvSpPr/>
          <p:nvPr/>
        </p:nvSpPr>
        <p:spPr>
          <a:xfrm>
            <a:off x="4727448" y="868680"/>
            <a:ext cx="4251960" cy="384048"/>
          </a:xfrm>
          <a:prstGeom prst="rect">
            <a:avLst/>
          </a:prstGeom>
          <a:solidFill>
            <a:srgbClr val="0277BD"/>
          </a:solidFill>
          <a:ln w="12700">
            <a:solidFill>
              <a:srgbClr val="0277BD"/>
            </a:solidFill>
            <a:prstDash val="solid"/>
          </a:ln>
        </p:spPr>
      </p:sp>
      <p:sp>
        <p:nvSpPr>
          <p:cNvPr id="23" name="Text 21"/>
          <p:cNvSpPr/>
          <p:nvPr/>
        </p:nvSpPr>
        <p:spPr>
          <a:xfrm>
            <a:off x="4818888" y="886968"/>
            <a:ext cx="4114800" cy="329184"/>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Phase 2: Warning Period — What &amp; How</a:t>
            </a:r>
            <a:endParaRPr lang="en-US" sz="1150" dirty="0"/>
          </a:p>
        </p:txBody>
      </p:sp>
      <p:sp>
        <p:nvSpPr>
          <p:cNvPr id="24" name="Shape 22"/>
          <p:cNvSpPr/>
          <p:nvPr/>
        </p:nvSpPr>
        <p:spPr>
          <a:xfrm>
            <a:off x="4818888" y="1325880"/>
            <a:ext cx="4087368" cy="237744"/>
          </a:xfrm>
          <a:prstGeom prst="rect">
            <a:avLst/>
          </a:prstGeom>
          <a:solidFill>
            <a:srgbClr val="003B70">
              <a:alpha val="12000"/>
            </a:srgbClr>
          </a:solidFill>
          <a:ln w="12700">
            <a:solidFill>
              <a:srgbClr val="D6E8F5"/>
            </a:solidFill>
            <a:prstDash val="solid"/>
          </a:ln>
        </p:spPr>
      </p:sp>
      <p:sp>
        <p:nvSpPr>
          <p:cNvPr id="25" name="Text 23"/>
          <p:cNvSpPr/>
          <p:nvPr/>
        </p:nvSpPr>
        <p:spPr>
          <a:xfrm>
            <a:off x="4873752" y="136245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a:t>
            </a:r>
            <a:endParaRPr lang="en-US" sz="950" dirty="0"/>
          </a:p>
        </p:txBody>
      </p:sp>
      <p:sp>
        <p:nvSpPr>
          <p:cNvPr id="26" name="Text 24"/>
          <p:cNvSpPr/>
          <p:nvPr/>
        </p:nvSpPr>
        <p:spPr>
          <a:xfrm>
            <a:off x="4855464" y="160020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Proactively manages certificates approaching expiry. Prevents the certificate expiry incident before it happens.</a:t>
            </a:r>
            <a:endParaRPr lang="en-US" sz="900" dirty="0"/>
          </a:p>
        </p:txBody>
      </p:sp>
      <p:sp>
        <p:nvSpPr>
          <p:cNvPr id="27" name="Shape 25"/>
          <p:cNvSpPr/>
          <p:nvPr/>
        </p:nvSpPr>
        <p:spPr>
          <a:xfrm>
            <a:off x="4818888" y="2103120"/>
            <a:ext cx="4087368" cy="237744"/>
          </a:xfrm>
          <a:prstGeom prst="rect">
            <a:avLst/>
          </a:prstGeom>
          <a:solidFill>
            <a:srgbClr val="003B70">
              <a:alpha val="12000"/>
            </a:srgbClr>
          </a:solidFill>
          <a:ln w="12700">
            <a:solidFill>
              <a:srgbClr val="D6E8F5"/>
            </a:solidFill>
            <a:prstDash val="solid"/>
          </a:ln>
        </p:spPr>
      </p:sp>
      <p:sp>
        <p:nvSpPr>
          <p:cNvPr id="28" name="Text 26"/>
          <p:cNvSpPr/>
          <p:nvPr/>
        </p:nvSpPr>
        <p:spPr>
          <a:xfrm>
            <a:off x="4873752" y="213969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 SLA Trigger</a:t>
            </a:r>
            <a:endParaRPr lang="en-US" sz="950" dirty="0"/>
          </a:p>
        </p:txBody>
      </p:sp>
      <p:sp>
        <p:nvSpPr>
          <p:cNvPr id="29" name="Text 27"/>
          <p:cNvSpPr/>
          <p:nvPr/>
        </p:nvSpPr>
        <p:spPr>
          <a:xfrm>
            <a:off x="4855464" y="237744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At 60 days before expiry: CLM initiates Renewal Kickoff. Warning period provides at least 2-release buffer (App/Infra). Automated SLA Enforcement triggers notifications.</a:t>
            </a:r>
            <a:endParaRPr lang="en-US" sz="900" dirty="0"/>
          </a:p>
        </p:txBody>
      </p:sp>
      <p:sp>
        <p:nvSpPr>
          <p:cNvPr id="30" name="Shape 28"/>
          <p:cNvSpPr/>
          <p:nvPr/>
        </p:nvSpPr>
        <p:spPr>
          <a:xfrm>
            <a:off x="4818888" y="3063240"/>
            <a:ext cx="4087368" cy="237744"/>
          </a:xfrm>
          <a:prstGeom prst="rect">
            <a:avLst/>
          </a:prstGeom>
          <a:solidFill>
            <a:srgbClr val="003B70">
              <a:alpha val="12000"/>
            </a:srgbClr>
          </a:solidFill>
          <a:ln w="12700">
            <a:solidFill>
              <a:srgbClr val="D6E8F5"/>
            </a:solidFill>
            <a:prstDash val="solid"/>
          </a:ln>
        </p:spPr>
      </p:sp>
      <p:sp>
        <p:nvSpPr>
          <p:cNvPr id="31" name="Text 29"/>
          <p:cNvSpPr/>
          <p:nvPr/>
        </p:nvSpPr>
        <p:spPr>
          <a:xfrm>
            <a:off x="4873752" y="309981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 Auto-Renewal</a:t>
            </a:r>
            <a:endParaRPr lang="en-US" sz="950" dirty="0"/>
          </a:p>
        </p:txBody>
      </p:sp>
      <p:sp>
        <p:nvSpPr>
          <p:cNvPr id="32" name="Text 30"/>
          <p:cNvSpPr/>
          <p:nvPr/>
        </p:nvSpPr>
        <p:spPr>
          <a:xfrm>
            <a:off x="4855464" y="333756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Proactive Auto-Renewal: Automatically initiates renewal process on the 60th day before expiry — for both VM and Container certificates.</a:t>
            </a:r>
            <a:endParaRPr lang="en-US" sz="900" dirty="0"/>
          </a:p>
        </p:txBody>
      </p:sp>
      <p:sp>
        <p:nvSpPr>
          <p:cNvPr id="33" name="Shape 31"/>
          <p:cNvSpPr/>
          <p:nvPr/>
        </p:nvSpPr>
        <p:spPr>
          <a:xfrm>
            <a:off x="4818888" y="4023360"/>
            <a:ext cx="4087368" cy="237744"/>
          </a:xfrm>
          <a:prstGeom prst="rect">
            <a:avLst/>
          </a:prstGeom>
          <a:solidFill>
            <a:srgbClr val="003B70">
              <a:alpha val="12000"/>
            </a:srgbClr>
          </a:solidFill>
          <a:ln w="12700">
            <a:solidFill>
              <a:srgbClr val="D6E8F5"/>
            </a:solidFill>
            <a:prstDash val="solid"/>
          </a:ln>
        </p:spPr>
      </p:sp>
      <p:sp>
        <p:nvSpPr>
          <p:cNvPr id="34" name="Text 32"/>
          <p:cNvSpPr/>
          <p:nvPr/>
        </p:nvSpPr>
        <p:spPr>
          <a:xfrm>
            <a:off x="4873752" y="405993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 Manual Escalation</a:t>
            </a:r>
            <a:endParaRPr lang="en-US" sz="950" dirty="0"/>
          </a:p>
        </p:txBody>
      </p:sp>
      <p:sp>
        <p:nvSpPr>
          <p:cNvPr id="35" name="Text 33"/>
          <p:cNvSpPr/>
          <p:nvPr/>
        </p:nvSpPr>
        <p:spPr>
          <a:xfrm>
            <a:off x="4855464" y="429768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If auto-renewal fails: CLM notifies stakeholders immediately. If PFY fails to renew within 20 days (i.e., before 40 days to expiry), manual renewal is suggested. SLA Breach notification sent (Critical level).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Phase Deep Dive: Impact Assessment &amp; Certificate Renewal</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How CLM identifies what is affected and obtains new certificates from the Certificate Authority</a:t>
            </a:r>
            <a:endParaRPr lang="en-US" sz="1050" dirty="0"/>
          </a:p>
        </p:txBody>
      </p:sp>
      <p:sp>
        <p:nvSpPr>
          <p:cNvPr id="6" name="Shape 4"/>
          <p:cNvSpPr/>
          <p:nvPr/>
        </p:nvSpPr>
        <p:spPr>
          <a:xfrm>
            <a:off x="292608" y="868680"/>
            <a:ext cx="4251960" cy="422452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7" name="Shape 5"/>
          <p:cNvSpPr/>
          <p:nvPr/>
        </p:nvSpPr>
        <p:spPr>
          <a:xfrm>
            <a:off x="292608" y="868680"/>
            <a:ext cx="4251960" cy="384048"/>
          </a:xfrm>
          <a:prstGeom prst="rect">
            <a:avLst/>
          </a:prstGeom>
          <a:solidFill>
            <a:srgbClr val="00838F"/>
          </a:solidFill>
          <a:ln w="12700">
            <a:solidFill>
              <a:srgbClr val="00838F"/>
            </a:solidFill>
            <a:prstDash val="solid"/>
          </a:ln>
        </p:spPr>
      </p:sp>
      <p:sp>
        <p:nvSpPr>
          <p:cNvPr id="8" name="Text 6"/>
          <p:cNvSpPr/>
          <p:nvPr/>
        </p:nvSpPr>
        <p:spPr>
          <a:xfrm>
            <a:off x="384048" y="886968"/>
            <a:ext cx="4114800" cy="329184"/>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Phase 3: Impact Assessment — What &amp; How</a:t>
            </a:r>
            <a:endParaRPr lang="en-US" sz="1150" dirty="0"/>
          </a:p>
        </p:txBody>
      </p:sp>
      <p:sp>
        <p:nvSpPr>
          <p:cNvPr id="9" name="Shape 7"/>
          <p:cNvSpPr/>
          <p:nvPr/>
        </p:nvSpPr>
        <p:spPr>
          <a:xfrm>
            <a:off x="384048" y="1325880"/>
            <a:ext cx="4087368" cy="237744"/>
          </a:xfrm>
          <a:prstGeom prst="rect">
            <a:avLst/>
          </a:prstGeom>
          <a:solidFill>
            <a:srgbClr val="003B70">
              <a:alpha val="12000"/>
            </a:srgbClr>
          </a:solidFill>
          <a:ln w="12700">
            <a:solidFill>
              <a:srgbClr val="D6E8F5"/>
            </a:solidFill>
            <a:prstDash val="solid"/>
          </a:ln>
        </p:spPr>
      </p:sp>
      <p:sp>
        <p:nvSpPr>
          <p:cNvPr id="10" name="Text 8"/>
          <p:cNvSpPr/>
          <p:nvPr/>
        </p:nvSpPr>
        <p:spPr>
          <a:xfrm>
            <a:off x="438912" y="136245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a:t>
            </a:r>
            <a:endParaRPr lang="en-US" sz="950" dirty="0"/>
          </a:p>
        </p:txBody>
      </p:sp>
      <p:sp>
        <p:nvSpPr>
          <p:cNvPr id="11" name="Text 9"/>
          <p:cNvSpPr/>
          <p:nvPr/>
        </p:nvSpPr>
        <p:spPr>
          <a:xfrm>
            <a:off x="420624" y="160020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Identifies all systems, applications, and downstream services that consume a certificate being renewed — so no dependent system is caught off-guard.</a:t>
            </a:r>
            <a:endParaRPr lang="en-US" sz="900" dirty="0"/>
          </a:p>
        </p:txBody>
      </p:sp>
      <p:sp>
        <p:nvSpPr>
          <p:cNvPr id="12" name="Shape 10"/>
          <p:cNvSpPr/>
          <p:nvPr/>
        </p:nvSpPr>
        <p:spPr>
          <a:xfrm>
            <a:off x="384048" y="2286000"/>
            <a:ext cx="4087368" cy="237744"/>
          </a:xfrm>
          <a:prstGeom prst="rect">
            <a:avLst/>
          </a:prstGeom>
          <a:solidFill>
            <a:srgbClr val="003B70">
              <a:alpha val="12000"/>
            </a:srgbClr>
          </a:solidFill>
          <a:ln w="12700">
            <a:solidFill>
              <a:srgbClr val="D6E8F5"/>
            </a:solidFill>
            <a:prstDash val="solid"/>
          </a:ln>
        </p:spPr>
      </p:sp>
      <p:sp>
        <p:nvSpPr>
          <p:cNvPr id="13" name="Text 11"/>
          <p:cNvSpPr/>
          <p:nvPr/>
        </p:nvSpPr>
        <p:spPr>
          <a:xfrm>
            <a:off x="438912" y="232257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VM — Dual-Path Identification</a:t>
            </a:r>
            <a:endParaRPr lang="en-US" sz="950" dirty="0"/>
          </a:p>
        </p:txBody>
      </p:sp>
      <p:sp>
        <p:nvSpPr>
          <p:cNvPr id="14" name="Text 12"/>
          <p:cNvSpPr/>
          <p:nvPr/>
        </p:nvSpPr>
        <p:spPr>
          <a:xfrm>
            <a:off x="420624" y="256032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(1) Server Scanning: Identifies all servers using the same certificate. (2) AppD Traffic Analysis: Tracks traffic to find certificate usage in downstream applications. Both paths combined give a comprehensive view.</a:t>
            </a:r>
            <a:endParaRPr lang="en-US" sz="900" dirty="0"/>
          </a:p>
        </p:txBody>
      </p:sp>
      <p:sp>
        <p:nvSpPr>
          <p:cNvPr id="15" name="Shape 13"/>
          <p:cNvSpPr/>
          <p:nvPr/>
        </p:nvSpPr>
        <p:spPr>
          <a:xfrm>
            <a:off x="384048" y="3246120"/>
            <a:ext cx="4087368" cy="237744"/>
          </a:xfrm>
          <a:prstGeom prst="rect">
            <a:avLst/>
          </a:prstGeom>
          <a:solidFill>
            <a:srgbClr val="003B70">
              <a:alpha val="12000"/>
            </a:srgbClr>
          </a:solidFill>
          <a:ln w="12700">
            <a:solidFill>
              <a:srgbClr val="D6E8F5"/>
            </a:solidFill>
            <a:prstDash val="solid"/>
          </a:ln>
        </p:spPr>
      </p:sp>
      <p:sp>
        <p:nvSpPr>
          <p:cNvPr id="16" name="Text 14"/>
          <p:cNvSpPr/>
          <p:nvPr/>
        </p:nvSpPr>
        <p:spPr>
          <a:xfrm>
            <a:off x="438912" y="328269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Container — Code-Centric</a:t>
            </a:r>
            <a:endParaRPr lang="en-US" sz="950" dirty="0"/>
          </a:p>
        </p:txBody>
      </p:sp>
      <p:sp>
        <p:nvSpPr>
          <p:cNvPr id="17" name="Text 15"/>
          <p:cNvSpPr/>
          <p:nvPr/>
        </p:nvSpPr>
        <p:spPr>
          <a:xfrm>
            <a:off x="420624" y="352044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Scans Bitbucket and GitHub repositories for Order ID and Nickname references. Identifies which application code references the certificate. Note: if repository URL is not configured at onboarding, this scan may be incomplete.</a:t>
            </a:r>
            <a:endParaRPr lang="en-US" sz="900" dirty="0"/>
          </a:p>
        </p:txBody>
      </p:sp>
      <p:sp>
        <p:nvSpPr>
          <p:cNvPr id="18" name="Shape 16"/>
          <p:cNvSpPr/>
          <p:nvPr/>
        </p:nvSpPr>
        <p:spPr>
          <a:xfrm>
            <a:off x="384048" y="4206240"/>
            <a:ext cx="4087368" cy="237744"/>
          </a:xfrm>
          <a:prstGeom prst="rect">
            <a:avLst/>
          </a:prstGeom>
          <a:solidFill>
            <a:srgbClr val="003B70">
              <a:alpha val="12000"/>
            </a:srgbClr>
          </a:solidFill>
          <a:ln w="12700">
            <a:solidFill>
              <a:srgbClr val="D6E8F5"/>
            </a:solidFill>
            <a:prstDash val="solid"/>
          </a:ln>
        </p:spPr>
      </p:sp>
      <p:sp>
        <p:nvSpPr>
          <p:cNvPr id="19" name="Text 17"/>
          <p:cNvSpPr/>
          <p:nvPr/>
        </p:nvSpPr>
        <p:spPr>
          <a:xfrm>
            <a:off x="438912" y="424281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Human Interaction Trigger</a:t>
            </a:r>
            <a:endParaRPr lang="en-US" sz="950" dirty="0"/>
          </a:p>
        </p:txBody>
      </p:sp>
      <p:sp>
        <p:nvSpPr>
          <p:cNvPr id="20" name="Text 18"/>
          <p:cNvSpPr/>
          <p:nvPr/>
        </p:nvSpPr>
        <p:spPr>
          <a:xfrm>
            <a:off x="420624" y="448056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If a consuming application requires human action to renew — CLM notifies stakeholders immediately with the actions needed and deadlines.</a:t>
            </a:r>
            <a:endParaRPr lang="en-US" sz="900" dirty="0"/>
          </a:p>
        </p:txBody>
      </p:sp>
      <p:sp>
        <p:nvSpPr>
          <p:cNvPr id="21" name="Shape 19"/>
          <p:cNvSpPr/>
          <p:nvPr/>
        </p:nvSpPr>
        <p:spPr>
          <a:xfrm>
            <a:off x="4727448" y="868680"/>
            <a:ext cx="4251960" cy="422452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22" name="Shape 20"/>
          <p:cNvSpPr/>
          <p:nvPr/>
        </p:nvSpPr>
        <p:spPr>
          <a:xfrm>
            <a:off x="4727448" y="868680"/>
            <a:ext cx="4251960" cy="384048"/>
          </a:xfrm>
          <a:prstGeom prst="rect">
            <a:avLst/>
          </a:prstGeom>
          <a:solidFill>
            <a:srgbClr val="2E7D32"/>
          </a:solidFill>
          <a:ln w="12700">
            <a:solidFill>
              <a:srgbClr val="2E7D32"/>
            </a:solidFill>
            <a:prstDash val="solid"/>
          </a:ln>
        </p:spPr>
      </p:sp>
      <p:sp>
        <p:nvSpPr>
          <p:cNvPr id="23" name="Text 21"/>
          <p:cNvSpPr/>
          <p:nvPr/>
        </p:nvSpPr>
        <p:spPr>
          <a:xfrm>
            <a:off x="4818888" y="886968"/>
            <a:ext cx="4114800" cy="329184"/>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Phase 4: Certificate Renewal — What &amp; How</a:t>
            </a:r>
            <a:endParaRPr lang="en-US" sz="1150" dirty="0"/>
          </a:p>
        </p:txBody>
      </p:sp>
      <p:sp>
        <p:nvSpPr>
          <p:cNvPr id="24" name="Shape 22"/>
          <p:cNvSpPr/>
          <p:nvPr/>
        </p:nvSpPr>
        <p:spPr>
          <a:xfrm>
            <a:off x="4818888" y="1325880"/>
            <a:ext cx="4087368" cy="237744"/>
          </a:xfrm>
          <a:prstGeom prst="rect">
            <a:avLst/>
          </a:prstGeom>
          <a:solidFill>
            <a:srgbClr val="003B70">
              <a:alpha val="12000"/>
            </a:srgbClr>
          </a:solidFill>
          <a:ln w="12700">
            <a:solidFill>
              <a:srgbClr val="D6E8F5"/>
            </a:solidFill>
            <a:prstDash val="solid"/>
          </a:ln>
        </p:spPr>
      </p:sp>
      <p:sp>
        <p:nvSpPr>
          <p:cNvPr id="25" name="Text 23"/>
          <p:cNvSpPr/>
          <p:nvPr/>
        </p:nvSpPr>
        <p:spPr>
          <a:xfrm>
            <a:off x="4873752" y="136245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a:t>
            </a:r>
            <a:endParaRPr lang="en-US" sz="950" dirty="0"/>
          </a:p>
        </p:txBody>
      </p:sp>
      <p:sp>
        <p:nvSpPr>
          <p:cNvPr id="26" name="Text 24"/>
          <p:cNvSpPr/>
          <p:nvPr/>
        </p:nvSpPr>
        <p:spPr>
          <a:xfrm>
            <a:off x="4855464" y="160020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Obtains a new certificate from the Certificate Authority (MSPKI) and prepares it for deployment.</a:t>
            </a:r>
            <a:endParaRPr lang="en-US" sz="900" dirty="0"/>
          </a:p>
        </p:txBody>
      </p:sp>
      <p:sp>
        <p:nvSpPr>
          <p:cNvPr id="27" name="Shape 25"/>
          <p:cNvSpPr/>
          <p:nvPr/>
        </p:nvSpPr>
        <p:spPr>
          <a:xfrm>
            <a:off x="4818888" y="2103120"/>
            <a:ext cx="4087368" cy="237744"/>
          </a:xfrm>
          <a:prstGeom prst="rect">
            <a:avLst/>
          </a:prstGeom>
          <a:solidFill>
            <a:srgbClr val="003B70">
              <a:alpha val="12000"/>
            </a:srgbClr>
          </a:solidFill>
          <a:ln w="12700">
            <a:solidFill>
              <a:srgbClr val="D6E8F5"/>
            </a:solidFill>
            <a:prstDash val="solid"/>
          </a:ln>
        </p:spPr>
      </p:sp>
      <p:sp>
        <p:nvSpPr>
          <p:cNvPr id="28" name="Text 26"/>
          <p:cNvSpPr/>
          <p:nvPr/>
        </p:nvSpPr>
        <p:spPr>
          <a:xfrm>
            <a:off x="4873752" y="213969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 Renewal</a:t>
            </a:r>
            <a:endParaRPr lang="en-US" sz="950" dirty="0"/>
          </a:p>
        </p:txBody>
      </p:sp>
      <p:sp>
        <p:nvSpPr>
          <p:cNvPr id="29" name="Text 27"/>
          <p:cNvSpPr/>
          <p:nvPr/>
        </p:nvSpPr>
        <p:spPr>
          <a:xfrm>
            <a:off x="4855464" y="237744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 initiates the renewal request to the designated Certificate Authority. All MSPKI certificates are renewed. No approval required for procurement — fully automated.</a:t>
            </a:r>
            <a:endParaRPr lang="en-US" sz="900" dirty="0"/>
          </a:p>
        </p:txBody>
      </p:sp>
      <p:sp>
        <p:nvSpPr>
          <p:cNvPr id="30" name="Shape 28"/>
          <p:cNvSpPr/>
          <p:nvPr/>
        </p:nvSpPr>
        <p:spPr>
          <a:xfrm>
            <a:off x="4818888" y="3063240"/>
            <a:ext cx="4087368" cy="237744"/>
          </a:xfrm>
          <a:prstGeom prst="rect">
            <a:avLst/>
          </a:prstGeom>
          <a:solidFill>
            <a:srgbClr val="003B70">
              <a:alpha val="12000"/>
            </a:srgbClr>
          </a:solidFill>
          <a:ln w="12700">
            <a:solidFill>
              <a:srgbClr val="D6E8F5"/>
            </a:solidFill>
            <a:prstDash val="solid"/>
          </a:ln>
        </p:spPr>
      </p:sp>
      <p:sp>
        <p:nvSpPr>
          <p:cNvPr id="31" name="Text 29"/>
          <p:cNvSpPr/>
          <p:nvPr/>
        </p:nvSpPr>
        <p:spPr>
          <a:xfrm>
            <a:off x="4873752" y="309981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 Staggered Renewals</a:t>
            </a:r>
            <a:endParaRPr lang="en-US" sz="950" dirty="0"/>
          </a:p>
        </p:txBody>
      </p:sp>
      <p:sp>
        <p:nvSpPr>
          <p:cNvPr id="32" name="Text 30"/>
          <p:cNvSpPr/>
          <p:nvPr/>
        </p:nvSpPr>
        <p:spPr>
          <a:xfrm>
            <a:off x="4855464" y="333756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If the same certificate is used across multiple instances with different expiry dates: CLM treats each instance independently. Renewals are staggered — each adheres to its own 60-day SLA to minimise cascading risk.</a:t>
            </a:r>
            <a:endParaRPr lang="en-US" sz="900" dirty="0"/>
          </a:p>
        </p:txBody>
      </p:sp>
      <p:sp>
        <p:nvSpPr>
          <p:cNvPr id="33" name="Shape 31"/>
          <p:cNvSpPr/>
          <p:nvPr/>
        </p:nvSpPr>
        <p:spPr>
          <a:xfrm>
            <a:off x="4818888" y="4023360"/>
            <a:ext cx="4087368" cy="237744"/>
          </a:xfrm>
          <a:prstGeom prst="rect">
            <a:avLst/>
          </a:prstGeom>
          <a:solidFill>
            <a:srgbClr val="003B70">
              <a:alpha val="12000"/>
            </a:srgbClr>
          </a:solidFill>
          <a:ln w="12700">
            <a:solidFill>
              <a:srgbClr val="D6E8F5"/>
            </a:solidFill>
            <a:prstDash val="solid"/>
          </a:ln>
        </p:spPr>
      </p:sp>
      <p:sp>
        <p:nvSpPr>
          <p:cNvPr id="34" name="Text 32"/>
          <p:cNvSpPr/>
          <p:nvPr/>
        </p:nvSpPr>
        <p:spPr>
          <a:xfrm>
            <a:off x="4873752" y="405993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Human Fallback</a:t>
            </a:r>
            <a:endParaRPr lang="en-US" sz="950" dirty="0"/>
          </a:p>
        </p:txBody>
      </p:sp>
      <p:sp>
        <p:nvSpPr>
          <p:cNvPr id="35" name="Text 33"/>
          <p:cNvSpPr/>
          <p:nvPr/>
        </p:nvSpPr>
        <p:spPr>
          <a:xfrm>
            <a:off x="4855464" y="429768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If auto-renewal fails, human intervention is required. CLM notifies the stakeholder group immediately. A responsive escalation contact is required.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Phase Deep Dive: Deployment &amp; Validation</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How CLM deploys renewed certificates and confirms successful installation</a:t>
            </a:r>
            <a:endParaRPr lang="en-US" sz="1050" dirty="0"/>
          </a:p>
        </p:txBody>
      </p:sp>
      <p:sp>
        <p:nvSpPr>
          <p:cNvPr id="6" name="Shape 4"/>
          <p:cNvSpPr/>
          <p:nvPr/>
        </p:nvSpPr>
        <p:spPr>
          <a:xfrm>
            <a:off x="292608" y="868680"/>
            <a:ext cx="4251960" cy="422452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7" name="Shape 5"/>
          <p:cNvSpPr/>
          <p:nvPr/>
        </p:nvSpPr>
        <p:spPr>
          <a:xfrm>
            <a:off x="292608" y="868680"/>
            <a:ext cx="4251960" cy="384048"/>
          </a:xfrm>
          <a:prstGeom prst="rect">
            <a:avLst/>
          </a:prstGeom>
          <a:solidFill>
            <a:srgbClr val="1A5C2A"/>
          </a:solidFill>
          <a:ln w="12700">
            <a:solidFill>
              <a:srgbClr val="1A5C2A"/>
            </a:solidFill>
            <a:prstDash val="solid"/>
          </a:ln>
        </p:spPr>
      </p:sp>
      <p:sp>
        <p:nvSpPr>
          <p:cNvPr id="8" name="Text 6"/>
          <p:cNvSpPr/>
          <p:nvPr/>
        </p:nvSpPr>
        <p:spPr>
          <a:xfrm>
            <a:off x="384048" y="886968"/>
            <a:ext cx="4114800" cy="329184"/>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Phase 5: Deployment — What &amp; How</a:t>
            </a:r>
            <a:endParaRPr lang="en-US" sz="1150" dirty="0"/>
          </a:p>
        </p:txBody>
      </p:sp>
      <p:sp>
        <p:nvSpPr>
          <p:cNvPr id="9" name="Shape 7"/>
          <p:cNvSpPr/>
          <p:nvPr/>
        </p:nvSpPr>
        <p:spPr>
          <a:xfrm>
            <a:off x="384048" y="1325880"/>
            <a:ext cx="4087368" cy="237744"/>
          </a:xfrm>
          <a:prstGeom prst="rect">
            <a:avLst/>
          </a:prstGeom>
          <a:solidFill>
            <a:srgbClr val="003B70">
              <a:alpha val="12000"/>
            </a:srgbClr>
          </a:solidFill>
          <a:ln w="12700">
            <a:solidFill>
              <a:srgbClr val="D6E8F5"/>
            </a:solidFill>
            <a:prstDash val="solid"/>
          </a:ln>
        </p:spPr>
      </p:sp>
      <p:sp>
        <p:nvSpPr>
          <p:cNvPr id="10" name="Text 8"/>
          <p:cNvSpPr/>
          <p:nvPr/>
        </p:nvSpPr>
        <p:spPr>
          <a:xfrm>
            <a:off x="438912" y="136245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a:t>
            </a:r>
            <a:endParaRPr lang="en-US" sz="950" dirty="0"/>
          </a:p>
        </p:txBody>
      </p:sp>
      <p:sp>
        <p:nvSpPr>
          <p:cNvPr id="11" name="Text 9"/>
          <p:cNvSpPr/>
          <p:nvPr/>
        </p:nvSpPr>
        <p:spPr>
          <a:xfrm>
            <a:off x="420624" y="160020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Deploys the renewed certificate to target servers and infrastructure — or makes it available for application code to reference.</a:t>
            </a:r>
            <a:endParaRPr lang="en-US" sz="900" dirty="0"/>
          </a:p>
        </p:txBody>
      </p:sp>
      <p:sp>
        <p:nvSpPr>
          <p:cNvPr id="12" name="Shape 10"/>
          <p:cNvSpPr/>
          <p:nvPr/>
        </p:nvSpPr>
        <p:spPr>
          <a:xfrm>
            <a:off x="384048" y="2313432"/>
            <a:ext cx="4087368" cy="237744"/>
          </a:xfrm>
          <a:prstGeom prst="rect">
            <a:avLst/>
          </a:prstGeom>
          <a:solidFill>
            <a:srgbClr val="003B70">
              <a:alpha val="12000"/>
            </a:srgbClr>
          </a:solidFill>
          <a:ln w="12700">
            <a:solidFill>
              <a:srgbClr val="D6E8F5"/>
            </a:solidFill>
            <a:prstDash val="solid"/>
          </a:ln>
        </p:spPr>
      </p:sp>
      <p:sp>
        <p:nvSpPr>
          <p:cNvPr id="13" name="Text 11"/>
          <p:cNvSpPr/>
          <p:nvPr/>
        </p:nvSpPr>
        <p:spPr>
          <a:xfrm>
            <a:off x="438912" y="2350008"/>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VM — Automated via IO Orchestrator</a:t>
            </a:r>
            <a:endParaRPr lang="en-US" sz="950" dirty="0"/>
          </a:p>
        </p:txBody>
      </p:sp>
      <p:sp>
        <p:nvSpPr>
          <p:cNvPr id="14" name="Text 12"/>
          <p:cNvSpPr/>
          <p:nvPr/>
        </p:nvSpPr>
        <p:spPr>
          <a:xfrm>
            <a:off x="420624" y="2587752"/>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 triggers IO Orchestrator (Inventory Orchestrator) for playbook execution. Ansible Tower (via Lightning API) uses pre-established SSH connections to deploy certificates and keystores. Deployment plan ensures new certificates are correctly placed. Both old and new certs are allowed to function concurrently during transition.</a:t>
            </a:r>
            <a:endParaRPr lang="en-US" sz="900" dirty="0"/>
          </a:p>
        </p:txBody>
      </p:sp>
      <p:sp>
        <p:nvSpPr>
          <p:cNvPr id="15" name="Shape 13"/>
          <p:cNvSpPr/>
          <p:nvPr/>
        </p:nvSpPr>
        <p:spPr>
          <a:xfrm>
            <a:off x="384048" y="3300984"/>
            <a:ext cx="4087368" cy="237744"/>
          </a:xfrm>
          <a:prstGeom prst="rect">
            <a:avLst/>
          </a:prstGeom>
          <a:solidFill>
            <a:srgbClr val="003B70">
              <a:alpha val="12000"/>
            </a:srgbClr>
          </a:solidFill>
          <a:ln w="12700">
            <a:solidFill>
              <a:srgbClr val="D6E8F5"/>
            </a:solidFill>
            <a:prstDash val="solid"/>
          </a:ln>
        </p:spPr>
      </p:sp>
      <p:sp>
        <p:nvSpPr>
          <p:cNvPr id="16" name="Text 14"/>
          <p:cNvSpPr/>
          <p:nvPr/>
        </p:nvSpPr>
        <p:spPr>
          <a:xfrm>
            <a:off x="438912" y="3337560"/>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VM — Trust Store Management</a:t>
            </a:r>
            <a:endParaRPr lang="en-US" sz="950" dirty="0"/>
          </a:p>
        </p:txBody>
      </p:sp>
      <p:sp>
        <p:nvSpPr>
          <p:cNvPr id="17" name="Text 15"/>
          <p:cNvSpPr/>
          <p:nvPr/>
        </p:nvSpPr>
        <p:spPr>
          <a:xfrm>
            <a:off x="420624" y="3575304"/>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 ensures Trust Store integrity — new certificates added without overriding critical existing ones. Current limitation: old cert placed in a staged location; seamless direct coexistence is not yet fully supported.</a:t>
            </a:r>
            <a:endParaRPr lang="en-US" sz="900" dirty="0"/>
          </a:p>
        </p:txBody>
      </p:sp>
      <p:sp>
        <p:nvSpPr>
          <p:cNvPr id="18" name="Shape 16"/>
          <p:cNvSpPr/>
          <p:nvPr/>
        </p:nvSpPr>
        <p:spPr>
          <a:xfrm>
            <a:off x="384048" y="4288536"/>
            <a:ext cx="4087368" cy="237744"/>
          </a:xfrm>
          <a:prstGeom prst="rect">
            <a:avLst/>
          </a:prstGeom>
          <a:solidFill>
            <a:srgbClr val="003B70">
              <a:alpha val="12000"/>
            </a:srgbClr>
          </a:solidFill>
          <a:ln w="12700">
            <a:solidFill>
              <a:srgbClr val="D6E8F5"/>
            </a:solidFill>
            <a:prstDash val="solid"/>
          </a:ln>
        </p:spPr>
      </p:sp>
      <p:sp>
        <p:nvSpPr>
          <p:cNvPr id="19" name="Text 17"/>
          <p:cNvSpPr/>
          <p:nvPr/>
        </p:nvSpPr>
        <p:spPr>
          <a:xfrm>
            <a:off x="438912" y="4325112"/>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Container — NGC Vault + Code Update</a:t>
            </a:r>
            <a:endParaRPr lang="en-US" sz="950" dirty="0"/>
          </a:p>
        </p:txBody>
      </p:sp>
      <p:sp>
        <p:nvSpPr>
          <p:cNvPr id="20" name="Text 18"/>
          <p:cNvSpPr/>
          <p:nvPr/>
        </p:nvSpPr>
        <p:spPr>
          <a:xfrm>
            <a:off x="420624" y="4562856"/>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Renewed certificate made available in NGC Vault. If CLM FID has write access: automated code update in feature branch PR in Bitbucket/GitHub. If no FID access: email alert sent with new Order ID for manual update. Seamless coexistence of old and new certs is supported.</a:t>
            </a:r>
            <a:endParaRPr lang="en-US" sz="900" dirty="0"/>
          </a:p>
        </p:txBody>
      </p:sp>
      <p:sp>
        <p:nvSpPr>
          <p:cNvPr id="21" name="Shape 19"/>
          <p:cNvSpPr/>
          <p:nvPr/>
        </p:nvSpPr>
        <p:spPr>
          <a:xfrm>
            <a:off x="4727448" y="868680"/>
            <a:ext cx="4251960" cy="422452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22" name="Shape 20"/>
          <p:cNvSpPr/>
          <p:nvPr/>
        </p:nvSpPr>
        <p:spPr>
          <a:xfrm>
            <a:off x="4727448" y="868680"/>
            <a:ext cx="4251960" cy="384048"/>
          </a:xfrm>
          <a:prstGeom prst="rect">
            <a:avLst/>
          </a:prstGeom>
          <a:solidFill>
            <a:srgbClr val="003B70"/>
          </a:solidFill>
          <a:ln w="12700">
            <a:solidFill>
              <a:srgbClr val="003B70"/>
            </a:solidFill>
            <a:prstDash val="solid"/>
          </a:ln>
        </p:spPr>
      </p:sp>
      <p:sp>
        <p:nvSpPr>
          <p:cNvPr id="23" name="Text 21"/>
          <p:cNvSpPr/>
          <p:nvPr/>
        </p:nvSpPr>
        <p:spPr>
          <a:xfrm>
            <a:off x="4818888" y="886968"/>
            <a:ext cx="4114800" cy="329184"/>
          </a:xfrm>
          <a:prstGeom prst="rect">
            <a:avLst/>
          </a:prstGeom>
          <a:noFill/>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Phase 6: Validation — What &amp; How</a:t>
            </a:r>
            <a:endParaRPr lang="en-US" sz="1150" dirty="0"/>
          </a:p>
        </p:txBody>
      </p:sp>
      <p:sp>
        <p:nvSpPr>
          <p:cNvPr id="24" name="Shape 22"/>
          <p:cNvSpPr/>
          <p:nvPr/>
        </p:nvSpPr>
        <p:spPr>
          <a:xfrm>
            <a:off x="4818888" y="1325880"/>
            <a:ext cx="4087368" cy="237744"/>
          </a:xfrm>
          <a:prstGeom prst="rect">
            <a:avLst/>
          </a:prstGeom>
          <a:solidFill>
            <a:srgbClr val="003B70">
              <a:alpha val="12000"/>
            </a:srgbClr>
          </a:solidFill>
          <a:ln w="12700">
            <a:solidFill>
              <a:srgbClr val="D6E8F5"/>
            </a:solidFill>
            <a:prstDash val="solid"/>
          </a:ln>
        </p:spPr>
      </p:sp>
      <p:sp>
        <p:nvSpPr>
          <p:cNvPr id="25" name="Text 23"/>
          <p:cNvSpPr/>
          <p:nvPr/>
        </p:nvSpPr>
        <p:spPr>
          <a:xfrm>
            <a:off x="4873752" y="1362456"/>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a:t>
            </a:r>
            <a:endParaRPr lang="en-US" sz="950" dirty="0"/>
          </a:p>
        </p:txBody>
      </p:sp>
      <p:sp>
        <p:nvSpPr>
          <p:cNvPr id="26" name="Text 24"/>
          <p:cNvSpPr/>
          <p:nvPr/>
        </p:nvSpPr>
        <p:spPr>
          <a:xfrm>
            <a:off x="4855464" y="1600200"/>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Confirms that the newly deployed certificate is correctly installed and operational.</a:t>
            </a:r>
            <a:endParaRPr lang="en-US" sz="900" dirty="0"/>
          </a:p>
        </p:txBody>
      </p:sp>
      <p:sp>
        <p:nvSpPr>
          <p:cNvPr id="27" name="Shape 25"/>
          <p:cNvSpPr/>
          <p:nvPr/>
        </p:nvSpPr>
        <p:spPr>
          <a:xfrm>
            <a:off x="4818888" y="2112264"/>
            <a:ext cx="4087368" cy="237744"/>
          </a:xfrm>
          <a:prstGeom prst="rect">
            <a:avLst/>
          </a:prstGeom>
          <a:solidFill>
            <a:srgbClr val="003B70">
              <a:alpha val="12000"/>
            </a:srgbClr>
          </a:solidFill>
          <a:ln w="12700">
            <a:solidFill>
              <a:srgbClr val="D6E8F5"/>
            </a:solidFill>
            <a:prstDash val="solid"/>
          </a:ln>
        </p:spPr>
      </p:sp>
      <p:sp>
        <p:nvSpPr>
          <p:cNvPr id="28" name="Text 26"/>
          <p:cNvSpPr/>
          <p:nvPr/>
        </p:nvSpPr>
        <p:spPr>
          <a:xfrm>
            <a:off x="4873752" y="2148840"/>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How — Installation Verification</a:t>
            </a:r>
            <a:endParaRPr lang="en-US" sz="950" dirty="0"/>
          </a:p>
        </p:txBody>
      </p:sp>
      <p:sp>
        <p:nvSpPr>
          <p:cNvPr id="29" name="Text 27"/>
          <p:cNvSpPr/>
          <p:nvPr/>
        </p:nvSpPr>
        <p:spPr>
          <a:xfrm>
            <a:off x="4855464" y="2386584"/>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 runs a post-deployment scan on the server to verify: (1) New certificate is installed on the target server. (2) Keystores are updated with the new certificate information.</a:t>
            </a:r>
            <a:endParaRPr lang="en-US" sz="900" dirty="0"/>
          </a:p>
        </p:txBody>
      </p:sp>
      <p:sp>
        <p:nvSpPr>
          <p:cNvPr id="30" name="Shape 28"/>
          <p:cNvSpPr/>
          <p:nvPr/>
        </p:nvSpPr>
        <p:spPr>
          <a:xfrm>
            <a:off x="4818888" y="3099816"/>
            <a:ext cx="4087368" cy="237744"/>
          </a:xfrm>
          <a:prstGeom prst="rect">
            <a:avLst/>
          </a:prstGeom>
          <a:solidFill>
            <a:srgbClr val="003B70">
              <a:alpha val="12000"/>
            </a:srgbClr>
          </a:solidFill>
          <a:ln w="12700">
            <a:solidFill>
              <a:srgbClr val="D6E8F5"/>
            </a:solidFill>
            <a:prstDash val="solid"/>
          </a:ln>
        </p:spPr>
      </p:sp>
      <p:sp>
        <p:nvSpPr>
          <p:cNvPr id="31" name="Text 29"/>
          <p:cNvSpPr/>
          <p:nvPr/>
        </p:nvSpPr>
        <p:spPr>
          <a:xfrm>
            <a:off x="4873752" y="3136392"/>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Application Team Responsibility</a:t>
            </a:r>
            <a:endParaRPr lang="en-US" sz="950" dirty="0"/>
          </a:p>
        </p:txBody>
      </p:sp>
      <p:sp>
        <p:nvSpPr>
          <p:cNvPr id="32" name="Text 30"/>
          <p:cNvSpPr/>
          <p:nvPr/>
        </p:nvSpPr>
        <p:spPr>
          <a:xfrm>
            <a:off x="4855464" y="3374136"/>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Connection and API call validation against the new certificate falls within the Application Team's responsibility. CLM's scope does not extend to testing network connections or API calls leveraging the new certificate.</a:t>
            </a:r>
            <a:endParaRPr lang="en-US" sz="900" dirty="0"/>
          </a:p>
        </p:txBody>
      </p:sp>
      <p:sp>
        <p:nvSpPr>
          <p:cNvPr id="33" name="Shape 31"/>
          <p:cNvSpPr/>
          <p:nvPr/>
        </p:nvSpPr>
        <p:spPr>
          <a:xfrm>
            <a:off x="4818888" y="4087368"/>
            <a:ext cx="4087368" cy="237744"/>
          </a:xfrm>
          <a:prstGeom prst="rect">
            <a:avLst/>
          </a:prstGeom>
          <a:solidFill>
            <a:srgbClr val="003B70">
              <a:alpha val="12000"/>
            </a:srgbClr>
          </a:solidFill>
          <a:ln w="12700">
            <a:solidFill>
              <a:srgbClr val="D6E8F5"/>
            </a:solidFill>
            <a:prstDash val="solid"/>
          </a:ln>
        </p:spPr>
      </p:sp>
      <p:sp>
        <p:nvSpPr>
          <p:cNvPr id="34" name="Text 32"/>
          <p:cNvSpPr/>
          <p:nvPr/>
        </p:nvSpPr>
        <p:spPr>
          <a:xfrm>
            <a:off x="4873752" y="4123944"/>
            <a:ext cx="3995928" cy="182880"/>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What CLM Expects from App Teams</a:t>
            </a:r>
            <a:endParaRPr lang="en-US" sz="950" dirty="0"/>
          </a:p>
        </p:txBody>
      </p:sp>
      <p:sp>
        <p:nvSpPr>
          <p:cNvPr id="35" name="Text 33"/>
          <p:cNvSpPr/>
          <p:nvPr/>
        </p:nvSpPr>
        <p:spPr>
          <a:xfrm>
            <a:off x="4855464" y="4361688"/>
            <a:ext cx="4050792" cy="9144"/>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App team must: validate network connections and API calls leveraging new cert function during transition; ensure consuming applications have a plan to renew certificate references prior to expiration.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Container Certificates — What CLM Automates vs What It Does Not</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Coverage is determined by how the certificate is stored and referenced in the application</a:t>
            </a:r>
            <a:endParaRPr lang="en-US" sz="1050" dirty="0"/>
          </a:p>
        </p:txBody>
      </p:sp>
      <p:sp>
        <p:nvSpPr>
          <p:cNvPr id="6" name="Shape 4"/>
          <p:cNvSpPr/>
          <p:nvPr/>
        </p:nvSpPr>
        <p:spPr>
          <a:xfrm>
            <a:off x="274320" y="877824"/>
            <a:ext cx="4315968" cy="4160520"/>
          </a:xfrm>
          <a:prstGeom prst="rect">
            <a:avLst/>
          </a:prstGeom>
          <a:solidFill>
            <a:srgbClr val="EBF7EE"/>
          </a:solidFill>
          <a:ln w="15240">
            <a:solidFill>
              <a:srgbClr val="1A6632"/>
            </a:solidFill>
            <a:prstDash val="solid"/>
          </a:ln>
          <a:effectLst>
            <a:outerShdw blurRad="63500" dist="25400" dir="8100000" algn="bl" rotWithShape="0">
              <a:srgbClr val="000000">
                <a:alpha val="7000"/>
              </a:srgbClr>
            </a:outerShdw>
          </a:effectLst>
        </p:spPr>
      </p:sp>
      <p:sp>
        <p:nvSpPr>
          <p:cNvPr id="7" name="Shape 5"/>
          <p:cNvSpPr/>
          <p:nvPr/>
        </p:nvSpPr>
        <p:spPr>
          <a:xfrm>
            <a:off x="274320" y="877824"/>
            <a:ext cx="4315968" cy="457200"/>
          </a:xfrm>
          <a:prstGeom prst="rect">
            <a:avLst/>
          </a:prstGeom>
          <a:solidFill>
            <a:srgbClr val="1A6632"/>
          </a:solidFill>
          <a:ln w="12700">
            <a:solidFill>
              <a:srgbClr val="1A6632"/>
            </a:solidFill>
            <a:prstDash val="solid"/>
          </a:ln>
        </p:spPr>
      </p:sp>
      <p:sp>
        <p:nvSpPr>
          <p:cNvPr id="8" name="Text 6"/>
          <p:cNvSpPr/>
          <p:nvPr/>
        </p:nvSpPr>
        <p:spPr>
          <a:xfrm>
            <a:off x="384048" y="905256"/>
            <a:ext cx="4114800" cy="36576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COVERED BY CLM AUTOMATION</a:t>
            </a:r>
            <a:endParaRPr lang="en-US" sz="1200" dirty="0"/>
          </a:p>
        </p:txBody>
      </p:sp>
      <p:sp>
        <p:nvSpPr>
          <p:cNvPr id="9" name="Text 7"/>
          <p:cNvSpPr/>
          <p:nvPr/>
        </p:nvSpPr>
        <p:spPr>
          <a:xfrm>
            <a:off x="384048" y="1463040"/>
            <a:ext cx="4114800" cy="457200"/>
          </a:xfrm>
          <a:prstGeom prst="rect">
            <a:avLst/>
          </a:prstGeom>
          <a:noFill/>
        </p:spPr>
        <p:txBody>
          <a:bodyPr wrap="square" lIns="0" tIns="0" rIns="0" bIns="0" rtlCol="0" anchor="ctr"/>
          <a:lstStyle/>
          <a:p>
            <a:pPr marL="0" indent="0">
              <a:buNone/>
            </a:pPr>
            <a:r>
              <a:rPr lang="en-US" sz="1300" b="1" dirty="0">
                <a:solidFill>
                  <a:srgbClr val="1A6632"/>
                </a:solidFill>
                <a:latin typeface="Calibri" pitchFamily="34" charset="0"/>
                <a:ea typeface="Calibri" pitchFamily="34" charset="-122"/>
                <a:cs typeface="Calibri" pitchFamily="34" charset="-120"/>
              </a:rPr>
              <a:t>Certificate stored in NGC Vault and referenced by Order ID and/or Nickname</a:t>
            </a:r>
            <a:endParaRPr lang="en-US" sz="1300" dirty="0"/>
          </a:p>
        </p:txBody>
      </p:sp>
      <p:sp>
        <p:nvSpPr>
          <p:cNvPr id="10" name="Text 8"/>
          <p:cNvSpPr/>
          <p:nvPr/>
        </p:nvSpPr>
        <p:spPr>
          <a:xfrm>
            <a:off x="411480" y="1965960"/>
            <a:ext cx="4069080" cy="237744"/>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How it works</a:t>
            </a:r>
            <a:endParaRPr lang="en-US" sz="1050" dirty="0"/>
          </a:p>
        </p:txBody>
      </p:sp>
      <p:sp>
        <p:nvSpPr>
          <p:cNvPr id="11" name="Text 9"/>
          <p:cNvSpPr/>
          <p:nvPr/>
        </p:nvSpPr>
        <p:spPr>
          <a:xfrm>
            <a:off x="411480" y="2231136"/>
            <a:ext cx="4069080" cy="594360"/>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CLM discovers the certificate from NGC Vault (scheduled scan). When approaching 60-day expiry, CLM initiates renewal via MSPKI Certificate Authority. New certificate is stored back in NGC Vault. CLM scans Bitbucket/GitHub repositories for Order ID and Nickname references.</a:t>
            </a:r>
            <a:endParaRPr lang="en-US" sz="950" dirty="0"/>
          </a:p>
        </p:txBody>
      </p:sp>
      <p:sp>
        <p:nvSpPr>
          <p:cNvPr id="12" name="Text 10"/>
          <p:cNvSpPr/>
          <p:nvPr/>
        </p:nvSpPr>
        <p:spPr>
          <a:xfrm>
            <a:off x="411480" y="2880360"/>
            <a:ext cx="4069080" cy="237744"/>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Code Update</a:t>
            </a:r>
            <a:endParaRPr lang="en-US" sz="1050" dirty="0"/>
          </a:p>
        </p:txBody>
      </p:sp>
      <p:sp>
        <p:nvSpPr>
          <p:cNvPr id="13" name="Text 11"/>
          <p:cNvSpPr/>
          <p:nvPr/>
        </p:nvSpPr>
        <p:spPr>
          <a:xfrm>
            <a:off x="411480" y="3145536"/>
            <a:ext cx="4069080" cy="47548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If CLM FID has write access: automated PR created in feature branch with updated Order ID. If no write access: manual alert sent to team with new Order ID.</a:t>
            </a:r>
            <a:endParaRPr lang="en-US" sz="950" dirty="0"/>
          </a:p>
        </p:txBody>
      </p:sp>
      <p:sp>
        <p:nvSpPr>
          <p:cNvPr id="14" name="Text 12"/>
          <p:cNvSpPr/>
          <p:nvPr/>
        </p:nvSpPr>
        <p:spPr>
          <a:xfrm>
            <a:off x="411480" y="3675888"/>
            <a:ext cx="4069080" cy="237744"/>
          </a:xfrm>
          <a:prstGeom prst="rect">
            <a:avLst/>
          </a:prstGeom>
          <a:noFill/>
        </p:spPr>
        <p:txBody>
          <a:bodyPr wrap="square" lIns="0" tIns="0" rIns="0" bIns="0" rtlCol="0" anchor="ctr"/>
          <a:lstStyle/>
          <a:p>
            <a:pPr marL="0" indent="0">
              <a:buNone/>
            </a:pPr>
            <a:r>
              <a:rPr lang="en-US" sz="1050" b="1" dirty="0">
                <a:solidFill>
                  <a:srgbClr val="003B70"/>
                </a:solidFill>
                <a:latin typeface="Calibri" pitchFamily="34" charset="0"/>
                <a:ea typeface="Calibri" pitchFamily="34" charset="-122"/>
                <a:cs typeface="Calibri" pitchFamily="34" charset="-120"/>
              </a:rPr>
              <a:t>Result</a:t>
            </a:r>
            <a:endParaRPr lang="en-US" sz="1050" dirty="0"/>
          </a:p>
        </p:txBody>
      </p:sp>
      <p:sp>
        <p:nvSpPr>
          <p:cNvPr id="15" name="Text 13"/>
          <p:cNvSpPr/>
          <p:nvPr/>
        </p:nvSpPr>
        <p:spPr>
          <a:xfrm>
            <a:off x="411480" y="3941064"/>
            <a:ext cx="4069080" cy="384048"/>
          </a:xfrm>
          <a:prstGeom prst="rect">
            <a:avLst/>
          </a:prstGeom>
          <a:noFill/>
        </p:spPr>
        <p:txBody>
          <a:bodyPr wrap="square" lIns="0" tIns="0" rIns="0" bIns="0" rtlCol="0" anchor="ctr"/>
          <a:lstStyle/>
          <a:p>
            <a:pPr marL="0" indent="0">
              <a:buNone/>
            </a:pPr>
            <a:r>
              <a:rPr lang="en-US" sz="950" dirty="0">
                <a:solidFill>
                  <a:srgbClr val="1A2B40"/>
                </a:solidFill>
                <a:latin typeface="Calibri" pitchFamily="34" charset="0"/>
                <a:ea typeface="Calibri" pitchFamily="34" charset="-122"/>
                <a:cs typeface="Calibri" pitchFamily="34" charset="-120"/>
              </a:rPr>
              <a:t>End-to-end cert lifecycle managed by CLM. Minimal human intervention required (only PR review/merge if automated).</a:t>
            </a:r>
            <a:endParaRPr lang="en-US" sz="950" dirty="0"/>
          </a:p>
        </p:txBody>
      </p:sp>
      <p:sp>
        <p:nvSpPr>
          <p:cNvPr id="16" name="Shape 14"/>
          <p:cNvSpPr/>
          <p:nvPr/>
        </p:nvSpPr>
        <p:spPr>
          <a:xfrm>
            <a:off x="4828032" y="877824"/>
            <a:ext cx="4041648" cy="4160520"/>
          </a:xfrm>
          <a:prstGeom prst="rect">
            <a:avLst/>
          </a:prstGeom>
          <a:solidFill>
            <a:srgbClr val="FDE8EC"/>
          </a:solidFill>
          <a:ln w="15240">
            <a:solidFill>
              <a:srgbClr val="C8102E"/>
            </a:solidFill>
            <a:prstDash val="solid"/>
          </a:ln>
          <a:effectLst>
            <a:outerShdw blurRad="63500" dist="25400" dir="8100000" algn="bl" rotWithShape="0">
              <a:srgbClr val="000000">
                <a:alpha val="7000"/>
              </a:srgbClr>
            </a:outerShdw>
          </a:effectLst>
        </p:spPr>
      </p:sp>
      <p:sp>
        <p:nvSpPr>
          <p:cNvPr id="17" name="Shape 15"/>
          <p:cNvSpPr/>
          <p:nvPr/>
        </p:nvSpPr>
        <p:spPr>
          <a:xfrm>
            <a:off x="4828032" y="877824"/>
            <a:ext cx="4041648" cy="457200"/>
          </a:xfrm>
          <a:prstGeom prst="rect">
            <a:avLst/>
          </a:prstGeom>
          <a:solidFill>
            <a:srgbClr val="C8102E"/>
          </a:solidFill>
          <a:ln w="12700">
            <a:solidFill>
              <a:srgbClr val="C8102E"/>
            </a:solidFill>
            <a:prstDash val="solid"/>
          </a:ln>
        </p:spPr>
      </p:sp>
      <p:sp>
        <p:nvSpPr>
          <p:cNvPr id="18" name="Text 16"/>
          <p:cNvSpPr/>
          <p:nvPr/>
        </p:nvSpPr>
        <p:spPr>
          <a:xfrm>
            <a:off x="4937760" y="905256"/>
            <a:ext cx="3840480" cy="365760"/>
          </a:xfrm>
          <a:prstGeom prst="rect">
            <a:avLst/>
          </a:prstGeom>
          <a:noFill/>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NOT HANDLED BY CLM</a:t>
            </a:r>
            <a:endParaRPr lang="en-US" sz="1200" dirty="0"/>
          </a:p>
        </p:txBody>
      </p:sp>
      <p:sp>
        <p:nvSpPr>
          <p:cNvPr id="19" name="Text 17"/>
          <p:cNvSpPr/>
          <p:nvPr/>
        </p:nvSpPr>
        <p:spPr>
          <a:xfrm>
            <a:off x="4937760" y="1463040"/>
            <a:ext cx="3840480" cy="457200"/>
          </a:xfrm>
          <a:prstGeom prst="rect">
            <a:avLst/>
          </a:prstGeom>
          <a:noFill/>
        </p:spPr>
        <p:txBody>
          <a:bodyPr wrap="square" lIns="0" tIns="0" rIns="0" bIns="0" rtlCol="0" anchor="ctr"/>
          <a:lstStyle/>
          <a:p>
            <a:pPr marL="0" indent="0">
              <a:buNone/>
            </a:pPr>
            <a:r>
              <a:rPr lang="en-US" sz="1200" b="1" dirty="0">
                <a:solidFill>
                  <a:srgbClr val="C8102E"/>
                </a:solidFill>
                <a:latin typeface="Calibri" pitchFamily="34" charset="0"/>
                <a:ea typeface="Calibri" pitchFamily="34" charset="-122"/>
                <a:cs typeface="Calibri" pitchFamily="34" charset="-120"/>
              </a:rPr>
              <a:t>Certificate embedded via script commands or raw cert data in OpenShift Route YAML</a:t>
            </a:r>
            <a:endParaRPr lang="en-US" sz="1200" dirty="0"/>
          </a:p>
        </p:txBody>
      </p:sp>
      <p:sp>
        <p:nvSpPr>
          <p:cNvPr id="20" name="Text 18"/>
          <p:cNvSpPr/>
          <p:nvPr/>
        </p:nvSpPr>
        <p:spPr>
          <a:xfrm>
            <a:off x="4937760" y="1920240"/>
            <a:ext cx="3840480" cy="219456"/>
          </a:xfrm>
          <a:prstGeom prst="rect">
            <a:avLst/>
          </a:prstGeom>
          <a:noFill/>
        </p:spPr>
        <p:txBody>
          <a:bodyPr wrap="square" lIns="0" tIns="0" rIns="0" bIns="0" rtlCol="0" anchor="ctr"/>
          <a:lstStyle/>
          <a:p>
            <a:pPr marL="0" indent="0">
              <a:buNone/>
            </a:pPr>
            <a:r>
              <a:rPr lang="en-US" sz="1000" b="1" dirty="0">
                <a:solidFill>
                  <a:srgbClr val="003B70"/>
                </a:solidFill>
                <a:latin typeface="Calibri" pitchFamily="34" charset="0"/>
                <a:ea typeface="Calibri" pitchFamily="34" charset="-122"/>
                <a:cs typeface="Calibri" pitchFamily="34" charset="-120"/>
              </a:rPr>
              <a:t>What this looks like</a:t>
            </a:r>
            <a:endParaRPr lang="en-US" sz="1000" dirty="0"/>
          </a:p>
        </p:txBody>
      </p:sp>
      <p:sp>
        <p:nvSpPr>
          <p:cNvPr id="21" name="Text 19"/>
          <p:cNvSpPr/>
          <p:nvPr/>
        </p:nvSpPr>
        <p:spPr>
          <a:xfrm>
            <a:off x="4937760" y="2157984"/>
            <a:ext cx="3840480" cy="384048"/>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Certificate data is embedded directly: raw BEGIN CERTIFICATE / END CERTIFICATE blocks in OpenShift Route YAML, or certificate values hard-coded inside shell scripts or environment variables.</a:t>
            </a:r>
            <a:endParaRPr lang="en-US" sz="900" dirty="0"/>
          </a:p>
        </p:txBody>
      </p:sp>
      <p:sp>
        <p:nvSpPr>
          <p:cNvPr id="22" name="Text 20"/>
          <p:cNvSpPr/>
          <p:nvPr/>
        </p:nvSpPr>
        <p:spPr>
          <a:xfrm>
            <a:off x="4937760" y="2576830"/>
            <a:ext cx="3840480" cy="219456"/>
          </a:xfrm>
          <a:prstGeom prst="rect">
            <a:avLst/>
          </a:prstGeom>
          <a:noFill/>
        </p:spPr>
        <p:txBody>
          <a:bodyPr wrap="square" lIns="0" tIns="0" rIns="0" bIns="0" rtlCol="0" anchor="ctr"/>
          <a:lstStyle/>
          <a:p>
            <a:pPr marL="0" indent="0">
              <a:buNone/>
            </a:pPr>
            <a:r>
              <a:rPr lang="en-US" sz="1000" b="1" dirty="0">
                <a:solidFill>
                  <a:srgbClr val="003B70"/>
                </a:solidFill>
                <a:latin typeface="Calibri" pitchFamily="34" charset="0"/>
                <a:ea typeface="Calibri" pitchFamily="34" charset="-122"/>
                <a:cs typeface="Calibri" pitchFamily="34" charset="-120"/>
              </a:rPr>
              <a:t>Why CLM cannot handle it</a:t>
            </a:r>
            <a:endParaRPr lang="en-US" sz="1000" dirty="0"/>
          </a:p>
        </p:txBody>
      </p:sp>
      <p:sp>
        <p:nvSpPr>
          <p:cNvPr id="23" name="Text 21"/>
          <p:cNvSpPr/>
          <p:nvPr/>
        </p:nvSpPr>
        <p:spPr>
          <a:xfrm>
            <a:off x="4937760" y="2876804"/>
            <a:ext cx="3840480" cy="384048"/>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CLM's renewal automation is anchored to NGC Vault Order IDs and Nicknames. If a certificate is not stored in NGC Vault and referenced via Order ID/Nickname, CLM has no way to discover, track, or renew it automatically.</a:t>
            </a:r>
            <a:endParaRPr lang="en-US" sz="900" dirty="0"/>
          </a:p>
        </p:txBody>
      </p:sp>
      <p:sp>
        <p:nvSpPr>
          <p:cNvPr id="24" name="Text 22"/>
          <p:cNvSpPr/>
          <p:nvPr/>
        </p:nvSpPr>
        <p:spPr>
          <a:xfrm>
            <a:off x="4937760" y="3349498"/>
            <a:ext cx="3840480" cy="219456"/>
          </a:xfrm>
          <a:prstGeom prst="rect">
            <a:avLst/>
          </a:prstGeom>
          <a:noFill/>
        </p:spPr>
        <p:txBody>
          <a:bodyPr wrap="square" lIns="0" tIns="0" rIns="0" bIns="0" rtlCol="0" anchor="ctr"/>
          <a:lstStyle/>
          <a:p>
            <a:pPr marL="0" indent="0">
              <a:buNone/>
            </a:pPr>
            <a:r>
              <a:rPr lang="en-US" sz="1000" b="1" dirty="0">
                <a:solidFill>
                  <a:srgbClr val="003B70"/>
                </a:solidFill>
                <a:latin typeface="Calibri" pitchFamily="34" charset="0"/>
                <a:ea typeface="Calibri" pitchFamily="34" charset="-122"/>
                <a:cs typeface="Calibri" pitchFamily="34" charset="-120"/>
              </a:rPr>
              <a:t>What happens instead</a:t>
            </a:r>
            <a:endParaRPr lang="en-US" sz="1000" dirty="0"/>
          </a:p>
        </p:txBody>
      </p:sp>
      <p:sp>
        <p:nvSpPr>
          <p:cNvPr id="25" name="Text 23"/>
          <p:cNvSpPr/>
          <p:nvPr/>
        </p:nvSpPr>
        <p:spPr>
          <a:xfrm>
            <a:off x="4937760" y="3596132"/>
            <a:ext cx="3840480" cy="384048"/>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CLM may identify the location (if scanned), but will send a manual alert to the team with the new certificate details. The team must manually update the embedded certificate in the YAML or script and redeploy.</a:t>
            </a:r>
            <a:endParaRPr lang="en-US" sz="900" dirty="0"/>
          </a:p>
        </p:txBody>
      </p:sp>
      <p:sp>
        <p:nvSpPr>
          <p:cNvPr id="26" name="Text 24"/>
          <p:cNvSpPr/>
          <p:nvPr/>
        </p:nvSpPr>
        <p:spPr>
          <a:xfrm>
            <a:off x="4937760" y="4033520"/>
            <a:ext cx="3840480" cy="219456"/>
          </a:xfrm>
          <a:prstGeom prst="rect">
            <a:avLst/>
          </a:prstGeom>
          <a:noFill/>
        </p:spPr>
        <p:txBody>
          <a:bodyPr wrap="square" lIns="0" tIns="0" rIns="0" bIns="0" rtlCol="0" anchor="ctr"/>
          <a:lstStyle/>
          <a:p>
            <a:pPr marL="0" indent="0">
              <a:buNone/>
            </a:pPr>
            <a:r>
              <a:rPr lang="en-US" sz="1000" b="1" dirty="0">
                <a:solidFill>
                  <a:srgbClr val="003B70"/>
                </a:solidFill>
                <a:latin typeface="Calibri" pitchFamily="34" charset="0"/>
                <a:ea typeface="Calibri" pitchFamily="34" charset="-122"/>
                <a:cs typeface="Calibri" pitchFamily="34" charset="-120"/>
              </a:rPr>
              <a:t>Action required</a:t>
            </a:r>
            <a:endParaRPr lang="en-US" sz="1000" dirty="0"/>
          </a:p>
        </p:txBody>
      </p:sp>
      <p:sp>
        <p:nvSpPr>
          <p:cNvPr id="27" name="Text 25"/>
          <p:cNvSpPr/>
          <p:nvPr/>
        </p:nvSpPr>
        <p:spPr>
          <a:xfrm>
            <a:off x="4937760" y="4271264"/>
            <a:ext cx="3840480" cy="384048"/>
          </a:xfrm>
          <a:prstGeom prst="rect">
            <a:avLst/>
          </a:prstGeom>
          <a:noFill/>
        </p:spPr>
        <p:txBody>
          <a:bodyPr wrap="square" lIns="0" tIns="0" rIns="0" bIns="0" rtlCol="0" anchor="ctr"/>
          <a:lstStyle/>
          <a:p>
            <a:pPr marL="0" indent="0">
              <a:buNone/>
            </a:pPr>
            <a:r>
              <a:rPr lang="en-US" sz="900" dirty="0">
                <a:solidFill>
                  <a:srgbClr val="1A2B40"/>
                </a:solidFill>
                <a:latin typeface="Calibri" pitchFamily="34" charset="0"/>
                <a:ea typeface="Calibri" pitchFamily="34" charset="-122"/>
                <a:cs typeface="Calibri" pitchFamily="34" charset="-120"/>
              </a:rPr>
              <a:t>Application teams using embedded certificates must: migrate to NGC Vault + Order ID pattern (recommended), or take full ownership of manual renewal tracking for these certificates.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Getting Started — CSI Onboarding</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What application teams need to do once to enable full CLM lifecycle management</a:t>
            </a:r>
            <a:endParaRPr lang="en-US" sz="1050" dirty="0"/>
          </a:p>
        </p:txBody>
      </p:sp>
      <p:sp>
        <p:nvSpPr>
          <p:cNvPr id="6" name="Shape 4"/>
          <p:cNvSpPr/>
          <p:nvPr/>
        </p:nvSpPr>
        <p:spPr>
          <a:xfrm>
            <a:off x="457200" y="960120"/>
            <a:ext cx="1874520" cy="248716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7" name="Shape 5"/>
          <p:cNvSpPr/>
          <p:nvPr/>
        </p:nvSpPr>
        <p:spPr>
          <a:xfrm>
            <a:off x="1033272" y="1051560"/>
            <a:ext cx="731520" cy="731520"/>
          </a:xfrm>
          <a:prstGeom prst="ellipse">
            <a:avLst/>
          </a:prstGeom>
          <a:solidFill>
            <a:srgbClr val="003B70"/>
          </a:solidFill>
          <a:ln w="12700">
            <a:solidFill>
              <a:srgbClr val="003B70"/>
            </a:solidFill>
            <a:prstDash val="solid"/>
          </a:ln>
        </p:spPr>
      </p:sp>
      <p:sp>
        <p:nvSpPr>
          <p:cNvPr id="8" name="Text 6"/>
          <p:cNvSpPr/>
          <p:nvPr/>
        </p:nvSpPr>
        <p:spPr>
          <a:xfrm>
            <a:off x="1033272" y="1078992"/>
            <a:ext cx="73152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548640" y="1901952"/>
            <a:ext cx="1691640" cy="475488"/>
          </a:xfrm>
          <a:prstGeom prst="rect">
            <a:avLst/>
          </a:prstGeom>
          <a:noFill/>
        </p:spPr>
        <p:txBody>
          <a:bodyPr wrap="square" lIns="0" tIns="0" rIns="0" bIns="0" rtlCol="0" anchor="ctr"/>
          <a:lstStyle/>
          <a:p>
            <a:pPr marL="0" indent="0" algn="ctr">
              <a:buNone/>
            </a:pPr>
            <a:r>
              <a:rPr lang="en-US" sz="1050" b="1" dirty="0">
                <a:solidFill>
                  <a:srgbClr val="003B70"/>
                </a:solidFill>
                <a:latin typeface="Calibri" pitchFamily="34" charset="0"/>
                <a:ea typeface="Calibri" pitchFamily="34" charset="-122"/>
                <a:cs typeface="Calibri" pitchFamily="34" charset="-120"/>
              </a:rPr>
              <a:t>Raise Access</a:t>
            </a:r>
            <a:endParaRPr lang="en-US" sz="1050" dirty="0"/>
          </a:p>
          <a:p>
            <a:pPr marL="0" indent="0" algn="ctr">
              <a:buNone/>
            </a:pPr>
            <a:r>
              <a:rPr lang="en-US" sz="1050" b="1" dirty="0">
                <a:solidFill>
                  <a:srgbClr val="003B70"/>
                </a:solidFill>
                <a:latin typeface="Calibri" pitchFamily="34" charset="0"/>
                <a:ea typeface="Calibri" pitchFamily="34" charset="-122"/>
                <a:cs typeface="Calibri" pitchFamily="34" charset="-120"/>
              </a:rPr>
              <a:t>Request</a:t>
            </a:r>
            <a:endParaRPr lang="en-US" sz="1050" dirty="0"/>
          </a:p>
        </p:txBody>
      </p:sp>
      <p:sp>
        <p:nvSpPr>
          <p:cNvPr id="10" name="Text 8"/>
          <p:cNvSpPr/>
          <p:nvPr/>
        </p:nvSpPr>
        <p:spPr>
          <a:xfrm>
            <a:off x="548640" y="2423160"/>
            <a:ext cx="1691640" cy="914400"/>
          </a:xfrm>
          <a:prstGeom prst="rect">
            <a:avLst/>
          </a:prstGeom>
          <a:noFill/>
        </p:spPr>
        <p:txBody>
          <a:bodyPr wrap="square" lIns="0" tIns="0" rIns="0" bIns="0"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Prod: CMP Marketplace order</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Dev/UAT: Email PFY DL</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(SOEID, Role, Team Name, Reason)</a:t>
            </a:r>
            <a:endParaRPr lang="en-US" sz="900" dirty="0"/>
          </a:p>
        </p:txBody>
      </p:sp>
      <p:sp>
        <p:nvSpPr>
          <p:cNvPr id="11" name="Shape 9"/>
          <p:cNvSpPr/>
          <p:nvPr/>
        </p:nvSpPr>
        <p:spPr>
          <a:xfrm>
            <a:off x="2331720" y="1344168"/>
            <a:ext cx="274320" cy="54864"/>
          </a:xfrm>
          <a:prstGeom prst="rect">
            <a:avLst/>
          </a:prstGeom>
          <a:solidFill>
            <a:srgbClr val="056DAE"/>
          </a:solidFill>
          <a:ln w="12700">
            <a:solidFill>
              <a:srgbClr val="056DAE"/>
            </a:solidFill>
            <a:prstDash val="solid"/>
          </a:ln>
        </p:spPr>
      </p:sp>
      <p:sp>
        <p:nvSpPr>
          <p:cNvPr id="12" name="Shape 10"/>
          <p:cNvSpPr/>
          <p:nvPr/>
        </p:nvSpPr>
        <p:spPr>
          <a:xfrm>
            <a:off x="2606040" y="960120"/>
            <a:ext cx="1874520" cy="248716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13" name="Shape 11"/>
          <p:cNvSpPr/>
          <p:nvPr/>
        </p:nvSpPr>
        <p:spPr>
          <a:xfrm>
            <a:off x="3182112" y="1051560"/>
            <a:ext cx="731520" cy="731520"/>
          </a:xfrm>
          <a:prstGeom prst="ellipse">
            <a:avLst/>
          </a:prstGeom>
          <a:solidFill>
            <a:srgbClr val="003B70"/>
          </a:solidFill>
          <a:ln w="12700">
            <a:solidFill>
              <a:srgbClr val="003B70"/>
            </a:solidFill>
            <a:prstDash val="solid"/>
          </a:ln>
        </p:spPr>
      </p:sp>
      <p:sp>
        <p:nvSpPr>
          <p:cNvPr id="14" name="Text 12"/>
          <p:cNvSpPr/>
          <p:nvPr/>
        </p:nvSpPr>
        <p:spPr>
          <a:xfrm>
            <a:off x="3182112" y="1078992"/>
            <a:ext cx="73152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2697480" y="1901952"/>
            <a:ext cx="1691640" cy="475488"/>
          </a:xfrm>
          <a:prstGeom prst="rect">
            <a:avLst/>
          </a:prstGeom>
          <a:noFill/>
        </p:spPr>
        <p:txBody>
          <a:bodyPr wrap="square" lIns="0" tIns="0" rIns="0" bIns="0" rtlCol="0" anchor="ctr"/>
          <a:lstStyle/>
          <a:p>
            <a:pPr marL="0" indent="0" algn="ctr">
              <a:buNone/>
            </a:pPr>
            <a:r>
              <a:rPr lang="en-US" sz="1050" b="1" dirty="0">
                <a:solidFill>
                  <a:srgbClr val="003B70"/>
                </a:solidFill>
                <a:latin typeface="Calibri" pitchFamily="34" charset="0"/>
                <a:ea typeface="Calibri" pitchFamily="34" charset="-122"/>
                <a:cs typeface="Calibri" pitchFamily="34" charset="-120"/>
              </a:rPr>
              <a:t>Onboard CSI</a:t>
            </a:r>
            <a:endParaRPr lang="en-US" sz="1050" dirty="0"/>
          </a:p>
          <a:p>
            <a:pPr marL="0" indent="0" algn="ctr">
              <a:buNone/>
            </a:pPr>
            <a:r>
              <a:rPr lang="en-US" sz="1050" b="1" dirty="0">
                <a:solidFill>
                  <a:srgbClr val="003B70"/>
                </a:solidFill>
                <a:latin typeface="Calibri" pitchFamily="34" charset="0"/>
                <a:ea typeface="Calibri" pitchFamily="34" charset="-122"/>
                <a:cs typeface="Calibri" pitchFamily="34" charset="-120"/>
              </a:rPr>
              <a:t>in PFY Portal</a:t>
            </a:r>
            <a:endParaRPr lang="en-US" sz="1050" dirty="0"/>
          </a:p>
        </p:txBody>
      </p:sp>
      <p:sp>
        <p:nvSpPr>
          <p:cNvPr id="16" name="Text 14"/>
          <p:cNvSpPr/>
          <p:nvPr/>
        </p:nvSpPr>
        <p:spPr>
          <a:xfrm>
            <a:off x="2697480" y="2423160"/>
            <a:ext cx="1691640" cy="914400"/>
          </a:xfrm>
          <a:prstGeom prst="rect">
            <a:avLst/>
          </a:prstGeom>
          <a:noFill/>
        </p:spPr>
        <p:txBody>
          <a:bodyPr wrap="square" lIns="0" tIns="0" rIns="0" bIns="0"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Provide: CSI ID, Email DL,</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SNOW DL, Primary SOEID,</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Module Subscription, BB/GitHub URL</a:t>
            </a:r>
            <a:endParaRPr lang="en-US" sz="900" dirty="0"/>
          </a:p>
        </p:txBody>
      </p:sp>
      <p:sp>
        <p:nvSpPr>
          <p:cNvPr id="17" name="Shape 15"/>
          <p:cNvSpPr/>
          <p:nvPr/>
        </p:nvSpPr>
        <p:spPr>
          <a:xfrm>
            <a:off x="4480560" y="1344168"/>
            <a:ext cx="274320" cy="54864"/>
          </a:xfrm>
          <a:prstGeom prst="rect">
            <a:avLst/>
          </a:prstGeom>
          <a:solidFill>
            <a:srgbClr val="056DAE"/>
          </a:solidFill>
          <a:ln w="12700">
            <a:solidFill>
              <a:srgbClr val="056DAE"/>
            </a:solidFill>
            <a:prstDash val="solid"/>
          </a:ln>
        </p:spPr>
      </p:sp>
      <p:sp>
        <p:nvSpPr>
          <p:cNvPr id="18" name="Shape 16"/>
          <p:cNvSpPr/>
          <p:nvPr/>
        </p:nvSpPr>
        <p:spPr>
          <a:xfrm>
            <a:off x="4754880" y="960120"/>
            <a:ext cx="1874520" cy="248716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19" name="Shape 17"/>
          <p:cNvSpPr/>
          <p:nvPr/>
        </p:nvSpPr>
        <p:spPr>
          <a:xfrm>
            <a:off x="5330952" y="1051560"/>
            <a:ext cx="731520" cy="731520"/>
          </a:xfrm>
          <a:prstGeom prst="ellipse">
            <a:avLst/>
          </a:prstGeom>
          <a:solidFill>
            <a:srgbClr val="003B70"/>
          </a:solidFill>
          <a:ln w="12700">
            <a:solidFill>
              <a:srgbClr val="003B70"/>
            </a:solidFill>
            <a:prstDash val="solid"/>
          </a:ln>
        </p:spPr>
      </p:sp>
      <p:sp>
        <p:nvSpPr>
          <p:cNvPr id="20" name="Text 18"/>
          <p:cNvSpPr/>
          <p:nvPr/>
        </p:nvSpPr>
        <p:spPr>
          <a:xfrm>
            <a:off x="5330952" y="1078992"/>
            <a:ext cx="73152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4846320" y="1901952"/>
            <a:ext cx="1691640" cy="475488"/>
          </a:xfrm>
          <a:prstGeom prst="rect">
            <a:avLst/>
          </a:prstGeom>
          <a:noFill/>
        </p:spPr>
        <p:txBody>
          <a:bodyPr wrap="square" lIns="0" tIns="0" rIns="0" bIns="0" rtlCol="0" anchor="ctr"/>
          <a:lstStyle/>
          <a:p>
            <a:pPr marL="0" indent="0" algn="ctr">
              <a:buNone/>
            </a:pPr>
            <a:r>
              <a:rPr lang="en-US" sz="1050" b="1" dirty="0">
                <a:solidFill>
                  <a:srgbClr val="003B70"/>
                </a:solidFill>
                <a:latin typeface="Calibri" pitchFamily="34" charset="0"/>
                <a:ea typeface="Calibri" pitchFamily="34" charset="-122"/>
                <a:cs typeface="Calibri" pitchFamily="34" charset="-120"/>
              </a:rPr>
              <a:t>SSH Keys</a:t>
            </a:r>
            <a:endParaRPr lang="en-US" sz="1050" dirty="0"/>
          </a:p>
          <a:p>
            <a:pPr marL="0" indent="0" algn="ctr">
              <a:buNone/>
            </a:pPr>
            <a:r>
              <a:rPr lang="en-US" sz="1050" b="1" dirty="0">
                <a:solidFill>
                  <a:srgbClr val="003B70"/>
                </a:solidFill>
                <a:latin typeface="Calibri" pitchFamily="34" charset="0"/>
                <a:ea typeface="Calibri" pitchFamily="34" charset="-122"/>
                <a:cs typeface="Calibri" pitchFamily="34" charset="-120"/>
              </a:rPr>
              <a:t>Deployed (VM)</a:t>
            </a:r>
            <a:endParaRPr lang="en-US" sz="1050" dirty="0"/>
          </a:p>
        </p:txBody>
      </p:sp>
      <p:sp>
        <p:nvSpPr>
          <p:cNvPr id="22" name="Text 20"/>
          <p:cNvSpPr/>
          <p:nvPr/>
        </p:nvSpPr>
        <p:spPr>
          <a:xfrm>
            <a:off x="4846320" y="2423160"/>
            <a:ext cx="1691640" cy="914400"/>
          </a:xfrm>
          <a:prstGeom prst="rect">
            <a:avLst/>
          </a:prstGeom>
          <a:noFill/>
        </p:spPr>
        <p:txBody>
          <a:bodyPr wrap="square" lIns="0" tIns="0" rIns="0" bIns="0"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Raise SNOW CR for System Admin</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to deploy SSH keys to</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Ansible converge node</a:t>
            </a:r>
            <a:endParaRPr lang="en-US" sz="900" dirty="0"/>
          </a:p>
        </p:txBody>
      </p:sp>
      <p:sp>
        <p:nvSpPr>
          <p:cNvPr id="23" name="Shape 21"/>
          <p:cNvSpPr/>
          <p:nvPr/>
        </p:nvSpPr>
        <p:spPr>
          <a:xfrm>
            <a:off x="6629400" y="1344168"/>
            <a:ext cx="274320" cy="54864"/>
          </a:xfrm>
          <a:prstGeom prst="rect">
            <a:avLst/>
          </a:prstGeom>
          <a:solidFill>
            <a:srgbClr val="056DAE"/>
          </a:solidFill>
          <a:ln w="12700">
            <a:solidFill>
              <a:srgbClr val="056DAE"/>
            </a:solidFill>
            <a:prstDash val="solid"/>
          </a:ln>
        </p:spPr>
      </p:sp>
      <p:sp>
        <p:nvSpPr>
          <p:cNvPr id="24" name="Shape 22"/>
          <p:cNvSpPr/>
          <p:nvPr/>
        </p:nvSpPr>
        <p:spPr>
          <a:xfrm>
            <a:off x="6903720" y="960120"/>
            <a:ext cx="1874520" cy="248716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25" name="Shape 23"/>
          <p:cNvSpPr/>
          <p:nvPr/>
        </p:nvSpPr>
        <p:spPr>
          <a:xfrm>
            <a:off x="7479792" y="1051560"/>
            <a:ext cx="731520" cy="731520"/>
          </a:xfrm>
          <a:prstGeom prst="ellipse">
            <a:avLst/>
          </a:prstGeom>
          <a:solidFill>
            <a:srgbClr val="003B70"/>
          </a:solidFill>
          <a:ln w="12700">
            <a:solidFill>
              <a:srgbClr val="003B70"/>
            </a:solidFill>
            <a:prstDash val="solid"/>
          </a:ln>
        </p:spPr>
      </p:sp>
      <p:sp>
        <p:nvSpPr>
          <p:cNvPr id="26" name="Text 24"/>
          <p:cNvSpPr/>
          <p:nvPr/>
        </p:nvSpPr>
        <p:spPr>
          <a:xfrm>
            <a:off x="7479792" y="1078992"/>
            <a:ext cx="731520" cy="640080"/>
          </a:xfrm>
          <a:prstGeom prst="rect">
            <a:avLst/>
          </a:prstGeom>
          <a:noFill/>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Text 25"/>
          <p:cNvSpPr/>
          <p:nvPr/>
        </p:nvSpPr>
        <p:spPr>
          <a:xfrm>
            <a:off x="6995160" y="1901952"/>
            <a:ext cx="1691640" cy="475488"/>
          </a:xfrm>
          <a:prstGeom prst="rect">
            <a:avLst/>
          </a:prstGeom>
          <a:noFill/>
        </p:spPr>
        <p:txBody>
          <a:bodyPr wrap="square" lIns="0" tIns="0" rIns="0" bIns="0" rtlCol="0" anchor="ctr"/>
          <a:lstStyle/>
          <a:p>
            <a:pPr marL="0" indent="0" algn="ctr">
              <a:buNone/>
            </a:pPr>
            <a:r>
              <a:rPr lang="en-US" sz="1050" b="1" dirty="0">
                <a:solidFill>
                  <a:srgbClr val="003B70"/>
                </a:solidFill>
                <a:latin typeface="Calibri" pitchFamily="34" charset="0"/>
                <a:ea typeface="Calibri" pitchFamily="34" charset="-122"/>
                <a:cs typeface="Calibri" pitchFamily="34" charset="-120"/>
              </a:rPr>
              <a:t>CLM Activates</a:t>
            </a:r>
            <a:endParaRPr lang="en-US" sz="1050" dirty="0"/>
          </a:p>
          <a:p>
            <a:pPr marL="0" indent="0" algn="ctr">
              <a:buNone/>
            </a:pPr>
            <a:r>
              <a:rPr lang="en-US" sz="1050" b="1" dirty="0">
                <a:solidFill>
                  <a:srgbClr val="003B70"/>
                </a:solidFill>
                <a:latin typeface="Calibri" pitchFamily="34" charset="0"/>
                <a:ea typeface="Calibri" pitchFamily="34" charset="-122"/>
                <a:cs typeface="Calibri" pitchFamily="34" charset="-120"/>
              </a:rPr>
              <a:t>Scan &amp;</a:t>
            </a:r>
            <a:endParaRPr lang="en-US" sz="1050" dirty="0"/>
          </a:p>
          <a:p>
            <a:pPr marL="0" indent="0" algn="ctr">
              <a:buNone/>
            </a:pPr>
            <a:r>
              <a:rPr lang="en-US" sz="1050" b="1" dirty="0">
                <a:solidFill>
                  <a:srgbClr val="003B70"/>
                </a:solidFill>
                <a:latin typeface="Calibri" pitchFamily="34" charset="0"/>
                <a:ea typeface="Calibri" pitchFamily="34" charset="-122"/>
                <a:cs typeface="Calibri" pitchFamily="34" charset="-120"/>
              </a:rPr>
              <a:t>Monitoring</a:t>
            </a:r>
            <a:endParaRPr lang="en-US" sz="1050" dirty="0"/>
          </a:p>
        </p:txBody>
      </p:sp>
      <p:sp>
        <p:nvSpPr>
          <p:cNvPr id="28" name="Text 26"/>
          <p:cNvSpPr/>
          <p:nvPr/>
        </p:nvSpPr>
        <p:spPr>
          <a:xfrm>
            <a:off x="6995160" y="2423160"/>
            <a:ext cx="1691640" cy="914400"/>
          </a:xfrm>
          <a:prstGeom prst="rect">
            <a:avLst/>
          </a:prstGeom>
          <a:noFill/>
        </p:spPr>
        <p:txBody>
          <a:bodyPr wrap="square" lIns="0" tIns="0" rIns="0" bIns="0"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CLM fetches inventory,</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tests Ansible connectivity,</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builds cert inventory, begins</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60-day SLA monitoring</a:t>
            </a:r>
            <a:endParaRPr lang="en-US" sz="900" dirty="0"/>
          </a:p>
        </p:txBody>
      </p:sp>
      <p:sp>
        <p:nvSpPr>
          <p:cNvPr id="29" name="Shape 27"/>
          <p:cNvSpPr/>
          <p:nvPr/>
        </p:nvSpPr>
        <p:spPr>
          <a:xfrm>
            <a:off x="274320" y="3566160"/>
            <a:ext cx="8595360" cy="320040"/>
          </a:xfrm>
          <a:prstGeom prst="rect">
            <a:avLst/>
          </a:prstGeom>
          <a:solidFill>
            <a:srgbClr val="003B70"/>
          </a:solidFill>
          <a:ln w="12700">
            <a:solidFill>
              <a:srgbClr val="003B70"/>
            </a:solidFill>
            <a:prstDash val="solid"/>
          </a:ln>
        </p:spPr>
      </p:sp>
      <p:sp>
        <p:nvSpPr>
          <p:cNvPr id="30" name="Text 28"/>
          <p:cNvSpPr/>
          <p:nvPr/>
        </p:nvSpPr>
        <p:spPr>
          <a:xfrm>
            <a:off x="384048" y="3584448"/>
            <a:ext cx="8321040" cy="256032"/>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CLM does automatically after onboarding:</a:t>
            </a:r>
            <a:endParaRPr lang="en-US" sz="1100" dirty="0"/>
          </a:p>
        </p:txBody>
      </p:sp>
      <p:sp>
        <p:nvSpPr>
          <p:cNvPr id="31" name="Shape 29"/>
          <p:cNvSpPr/>
          <p:nvPr/>
        </p:nvSpPr>
        <p:spPr>
          <a:xfrm>
            <a:off x="292608" y="3950208"/>
            <a:ext cx="2084832" cy="106984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32" name="Text 30"/>
          <p:cNvSpPr/>
          <p:nvPr/>
        </p:nvSpPr>
        <p:spPr>
          <a:xfrm>
            <a:off x="384048" y="4005072"/>
            <a:ext cx="1920240" cy="256032"/>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Weekly Discovery</a:t>
            </a:r>
            <a:endParaRPr lang="en-US" sz="950" dirty="0"/>
          </a:p>
        </p:txBody>
      </p:sp>
      <p:sp>
        <p:nvSpPr>
          <p:cNvPr id="33" name="Text 31"/>
          <p:cNvSpPr/>
          <p:nvPr/>
        </p:nvSpPr>
        <p:spPr>
          <a:xfrm>
            <a:off x="384048" y="4297680"/>
            <a:ext cx="1920240" cy="658368"/>
          </a:xfrm>
          <a:prstGeom prst="rect">
            <a:avLst/>
          </a:prstGeom>
          <a:noFill/>
        </p:spPr>
        <p:txBody>
          <a:bodyPr wrap="square" lIns="0" tIns="0" rIns="0" bIns="0" rtlCol="0" anchor="ctr"/>
          <a:lstStyle/>
          <a:p>
            <a:pPr marL="0" indent="0">
              <a:buNone/>
            </a:pPr>
            <a:r>
              <a:rPr lang="en-US" sz="850" dirty="0">
                <a:solidFill>
                  <a:srgbClr val="1A2B40"/>
                </a:solidFill>
                <a:latin typeface="Calibri" pitchFamily="34" charset="0"/>
                <a:ea typeface="Calibri" pitchFamily="34" charset="-122"/>
                <a:cs typeface="Calibri" pitchFamily="34" charset="-120"/>
              </a:rPr>
              <a:t>Scans all connected servers / NGC Vault certificates on a scheduled basis. Maintains real-time certificate inventory.</a:t>
            </a:r>
            <a:endParaRPr lang="en-US" sz="850" dirty="0"/>
          </a:p>
        </p:txBody>
      </p:sp>
      <p:sp>
        <p:nvSpPr>
          <p:cNvPr id="34" name="Shape 32"/>
          <p:cNvSpPr/>
          <p:nvPr/>
        </p:nvSpPr>
        <p:spPr>
          <a:xfrm>
            <a:off x="2505456" y="3950208"/>
            <a:ext cx="2084832" cy="106984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35" name="Text 33"/>
          <p:cNvSpPr/>
          <p:nvPr/>
        </p:nvSpPr>
        <p:spPr>
          <a:xfrm>
            <a:off x="2596896" y="4005072"/>
            <a:ext cx="1920240" cy="256032"/>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SLA Enforcement</a:t>
            </a:r>
            <a:endParaRPr lang="en-US" sz="950" dirty="0"/>
          </a:p>
        </p:txBody>
      </p:sp>
      <p:sp>
        <p:nvSpPr>
          <p:cNvPr id="36" name="Text 34"/>
          <p:cNvSpPr/>
          <p:nvPr/>
        </p:nvSpPr>
        <p:spPr>
          <a:xfrm>
            <a:off x="2596896" y="4297680"/>
            <a:ext cx="1920240" cy="658368"/>
          </a:xfrm>
          <a:prstGeom prst="rect">
            <a:avLst/>
          </a:prstGeom>
          <a:noFill/>
        </p:spPr>
        <p:txBody>
          <a:bodyPr wrap="square" lIns="0" tIns="0" rIns="0" bIns="0" rtlCol="0" anchor="ctr"/>
          <a:lstStyle/>
          <a:p>
            <a:pPr marL="0" indent="0">
              <a:buNone/>
            </a:pPr>
            <a:r>
              <a:rPr lang="en-US" sz="850" dirty="0">
                <a:solidFill>
                  <a:srgbClr val="1A2B40"/>
                </a:solidFill>
                <a:latin typeface="Calibri" pitchFamily="34" charset="0"/>
                <a:ea typeface="Calibri" pitchFamily="34" charset="-122"/>
                <a:cs typeface="Calibri" pitchFamily="34" charset="-120"/>
              </a:rPr>
              <a:t>Tracks every certificate's expiry. Triggers renewal 60 days before expiry — automatically, without human prompt.</a:t>
            </a:r>
            <a:endParaRPr lang="en-US" sz="850" dirty="0"/>
          </a:p>
        </p:txBody>
      </p:sp>
      <p:sp>
        <p:nvSpPr>
          <p:cNvPr id="37" name="Shape 35"/>
          <p:cNvSpPr/>
          <p:nvPr/>
        </p:nvSpPr>
        <p:spPr>
          <a:xfrm>
            <a:off x="4718304" y="3950208"/>
            <a:ext cx="2084832" cy="106984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38" name="Text 36"/>
          <p:cNvSpPr/>
          <p:nvPr/>
        </p:nvSpPr>
        <p:spPr>
          <a:xfrm>
            <a:off x="4809744" y="4005072"/>
            <a:ext cx="1920240" cy="256032"/>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Renewal &amp; Deployment</a:t>
            </a:r>
            <a:endParaRPr lang="en-US" sz="950" dirty="0"/>
          </a:p>
        </p:txBody>
      </p:sp>
      <p:sp>
        <p:nvSpPr>
          <p:cNvPr id="39" name="Text 37"/>
          <p:cNvSpPr/>
          <p:nvPr/>
        </p:nvSpPr>
        <p:spPr>
          <a:xfrm>
            <a:off x="4809744" y="4297680"/>
            <a:ext cx="1920240" cy="658368"/>
          </a:xfrm>
          <a:prstGeom prst="rect">
            <a:avLst/>
          </a:prstGeom>
          <a:noFill/>
        </p:spPr>
        <p:txBody>
          <a:bodyPr wrap="square" lIns="0" tIns="0" rIns="0" bIns="0" rtlCol="0" anchor="ctr"/>
          <a:lstStyle/>
          <a:p>
            <a:pPr marL="0" indent="0">
              <a:buNone/>
            </a:pPr>
            <a:r>
              <a:rPr lang="en-US" sz="850" dirty="0">
                <a:solidFill>
                  <a:srgbClr val="1A2B40"/>
                </a:solidFill>
                <a:latin typeface="Calibri" pitchFamily="34" charset="0"/>
                <a:ea typeface="Calibri" pitchFamily="34" charset="-122"/>
                <a:cs typeface="Calibri" pitchFamily="34" charset="-120"/>
              </a:rPr>
              <a:t>Renews MSPKI certificates from CA. Deploys via IO Orchestrator (VM) or NGC Vault + PR (Container). Notifies teams at every step.</a:t>
            </a:r>
            <a:endParaRPr lang="en-US" sz="850" dirty="0"/>
          </a:p>
        </p:txBody>
      </p:sp>
      <p:sp>
        <p:nvSpPr>
          <p:cNvPr id="40" name="Shape 38"/>
          <p:cNvSpPr/>
          <p:nvPr/>
        </p:nvSpPr>
        <p:spPr>
          <a:xfrm>
            <a:off x="6931152" y="3950208"/>
            <a:ext cx="2084832" cy="1069848"/>
          </a:xfrm>
          <a:prstGeom prst="rect">
            <a:avLst/>
          </a:prstGeom>
          <a:solidFill>
            <a:srgbClr val="EBF4FB"/>
          </a:solidFill>
          <a:ln w="12700">
            <a:solidFill>
              <a:srgbClr val="D6E8F5"/>
            </a:solidFill>
            <a:prstDash val="solid"/>
          </a:ln>
          <a:effectLst>
            <a:outerShdw blurRad="63500" dist="25400" dir="8100000" algn="bl" rotWithShape="0">
              <a:srgbClr val="000000">
                <a:alpha val="7000"/>
              </a:srgbClr>
            </a:outerShdw>
          </a:effectLst>
        </p:spPr>
      </p:sp>
      <p:sp>
        <p:nvSpPr>
          <p:cNvPr id="41" name="Text 39"/>
          <p:cNvSpPr/>
          <p:nvPr/>
        </p:nvSpPr>
        <p:spPr>
          <a:xfrm>
            <a:off x="7022592" y="4005072"/>
            <a:ext cx="1920240" cy="256032"/>
          </a:xfrm>
          <a:prstGeom prst="rect">
            <a:avLst/>
          </a:prstGeom>
          <a:noFill/>
        </p:spPr>
        <p:txBody>
          <a:bodyPr wrap="square" lIns="0" tIns="0" rIns="0" bIns="0" rtlCol="0" anchor="ctr"/>
          <a:lstStyle/>
          <a:p>
            <a:pPr marL="0" indent="0">
              <a:buNone/>
            </a:pPr>
            <a:r>
              <a:rPr lang="en-US" sz="950" b="1" dirty="0">
                <a:solidFill>
                  <a:srgbClr val="003B70"/>
                </a:solidFill>
                <a:latin typeface="Calibri" pitchFamily="34" charset="0"/>
                <a:ea typeface="Calibri" pitchFamily="34" charset="-122"/>
                <a:cs typeface="Calibri" pitchFamily="34" charset="-120"/>
              </a:rPr>
              <a:t>Audit &amp; Governance</a:t>
            </a:r>
            <a:endParaRPr lang="en-US" sz="950" dirty="0"/>
          </a:p>
        </p:txBody>
      </p:sp>
      <p:sp>
        <p:nvSpPr>
          <p:cNvPr id="42" name="Text 40"/>
          <p:cNvSpPr/>
          <p:nvPr/>
        </p:nvSpPr>
        <p:spPr>
          <a:xfrm>
            <a:off x="7022592" y="4297680"/>
            <a:ext cx="1920240" cy="658368"/>
          </a:xfrm>
          <a:prstGeom prst="rect">
            <a:avLst/>
          </a:prstGeom>
          <a:noFill/>
        </p:spPr>
        <p:txBody>
          <a:bodyPr wrap="square" lIns="0" tIns="0" rIns="0" bIns="0" rtlCol="0" anchor="ctr"/>
          <a:lstStyle/>
          <a:p>
            <a:pPr marL="0" indent="0">
              <a:buNone/>
            </a:pPr>
            <a:r>
              <a:rPr lang="en-US" sz="850" dirty="0">
                <a:solidFill>
                  <a:srgbClr val="1A2B40"/>
                </a:solidFill>
                <a:latin typeface="Calibri" pitchFamily="34" charset="0"/>
                <a:ea typeface="Calibri" pitchFamily="34" charset="-122"/>
                <a:cs typeface="Calibri" pitchFamily="34" charset="-120"/>
              </a:rPr>
              <a:t>Logs every action to MongoDB. Raises SNOW CRs. Sends 11 types of notifications — from renewal initiation to escalation.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3B70"/>
          </a:solidFill>
          <a:ln w="12700">
            <a:solidFill>
              <a:srgbClr val="003B70"/>
            </a:solidFill>
            <a:prstDash val="solid"/>
          </a:ln>
        </p:spPr>
      </p:sp>
      <p:sp>
        <p:nvSpPr>
          <p:cNvPr id="3" name="Shape 1"/>
          <p:cNvSpPr/>
          <p:nvPr/>
        </p:nvSpPr>
        <p:spPr>
          <a:xfrm>
            <a:off x="201168" y="0"/>
            <a:ext cx="8942832" cy="64008"/>
          </a:xfrm>
          <a:prstGeom prst="rect">
            <a:avLst/>
          </a:prstGeom>
          <a:solidFill>
            <a:srgbClr val="056DAE"/>
          </a:solidFill>
          <a:ln w="12700">
            <a:solidFill>
              <a:srgbClr val="056DAE"/>
            </a:solidFill>
            <a:prstDash val="solid"/>
          </a:ln>
        </p:spPr>
      </p:sp>
      <p:sp>
        <p:nvSpPr>
          <p:cNvPr id="4" name="Text 2"/>
          <p:cNvSpPr/>
          <p:nvPr/>
        </p:nvSpPr>
        <p:spPr>
          <a:xfrm>
            <a:off x="347472" y="109728"/>
            <a:ext cx="8595360" cy="438912"/>
          </a:xfrm>
          <a:prstGeom prst="rect">
            <a:avLst/>
          </a:prstGeom>
          <a:noFill/>
        </p:spPr>
        <p:txBody>
          <a:bodyPr wrap="square" lIns="0" tIns="0" rIns="0" bIns="0" rtlCol="0" anchor="ctr"/>
          <a:lstStyle/>
          <a:p>
            <a:pPr marL="0" indent="0">
              <a:buNone/>
            </a:pPr>
            <a:r>
              <a:rPr lang="en-US" sz="1900" b="1" dirty="0">
                <a:solidFill>
                  <a:srgbClr val="003B70"/>
                </a:solidFill>
                <a:latin typeface="Calibri" pitchFamily="34" charset="0"/>
                <a:ea typeface="Calibri" pitchFamily="34" charset="-122"/>
                <a:cs typeface="Calibri" pitchFamily="34" charset="-120"/>
              </a:rPr>
              <a:t>CLM Roadmap — Current Capabilities, In Progress &amp; Planned</a:t>
            </a:r>
            <a:endParaRPr lang="en-US" sz="1900" dirty="0"/>
          </a:p>
        </p:txBody>
      </p:sp>
      <p:sp>
        <p:nvSpPr>
          <p:cNvPr id="5" name="Text 3"/>
          <p:cNvSpPr/>
          <p:nvPr/>
        </p:nvSpPr>
        <p:spPr>
          <a:xfrm>
            <a:off x="347472" y="548640"/>
            <a:ext cx="8595360" cy="237744"/>
          </a:xfrm>
          <a:prstGeom prst="rect">
            <a:avLst/>
          </a:prstGeom>
          <a:noFill/>
        </p:spPr>
        <p:txBody>
          <a:bodyPr wrap="square" lIns="0" tIns="0" rIns="0" bIns="0"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Transparent view of where we are and where we are heading</a:t>
            </a:r>
            <a:endParaRPr lang="en-US" sz="1050" dirty="0"/>
          </a:p>
        </p:txBody>
      </p:sp>
      <p:sp>
        <p:nvSpPr>
          <p:cNvPr id="6" name="Shape 4"/>
          <p:cNvSpPr/>
          <p:nvPr/>
        </p:nvSpPr>
        <p:spPr>
          <a:xfrm>
            <a:off x="274320" y="886968"/>
            <a:ext cx="2834640" cy="4133088"/>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7" name="Shape 5"/>
          <p:cNvSpPr/>
          <p:nvPr/>
        </p:nvSpPr>
        <p:spPr>
          <a:xfrm>
            <a:off x="274320" y="886968"/>
            <a:ext cx="2834640" cy="402336"/>
          </a:xfrm>
          <a:prstGeom prst="rect">
            <a:avLst/>
          </a:prstGeom>
          <a:solidFill>
            <a:srgbClr val="003B70"/>
          </a:solidFill>
          <a:ln w="12700">
            <a:solidFill>
              <a:srgbClr val="003B70"/>
            </a:solidFill>
            <a:prstDash val="solid"/>
          </a:ln>
        </p:spPr>
      </p:sp>
      <p:sp>
        <p:nvSpPr>
          <p:cNvPr id="8" name="Text 6"/>
          <p:cNvSpPr/>
          <p:nvPr/>
        </p:nvSpPr>
        <p:spPr>
          <a:xfrm>
            <a:off x="365760" y="905256"/>
            <a:ext cx="2706624" cy="347472"/>
          </a:xfrm>
          <a:prstGeom prst="rect">
            <a:avLst/>
          </a:prstGeom>
          <a:noFill/>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NOW — Live in Production</a:t>
            </a:r>
            <a:endParaRPr lang="en-US" sz="1150" dirty="0"/>
          </a:p>
        </p:txBody>
      </p:sp>
      <p:sp>
        <p:nvSpPr>
          <p:cNvPr id="9" name="Text 7"/>
          <p:cNvSpPr/>
          <p:nvPr/>
        </p:nvSpPr>
        <p:spPr>
          <a:xfrm>
            <a:off x="402336" y="1371600"/>
            <a:ext cx="2633472" cy="3566160"/>
          </a:xfrm>
          <a:prstGeom prst="rect">
            <a:avLst/>
          </a:prstGeom>
          <a:noFill/>
        </p:spPr>
        <p:txBody>
          <a:bodyPr wrap="square" rtlCol="0" anchor="ctr"/>
          <a:lstStyle/>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VM cert management: AutoScan, auto-renewal, Ansible deployment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60-day SLA enforcement — proactive auto-renewal triggered</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Venafi integration — no approval required for procurement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IO Orchestrator integration for playbook execution (VM)</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Container: NGC Vault discovery + CMP renewal + Bitbucket PR (POC validated)</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Automated CRs: Deployment CR + Standard Read-Only CR</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11 notification types — full lifecycle coverage</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CSI onboarding — 8-step automated process with role-based access</a:t>
            </a:r>
            <a:endParaRPr lang="en-US" sz="950" dirty="0"/>
          </a:p>
        </p:txBody>
      </p:sp>
      <p:sp>
        <p:nvSpPr>
          <p:cNvPr id="10" name="Shape 8"/>
          <p:cNvSpPr/>
          <p:nvPr/>
        </p:nvSpPr>
        <p:spPr>
          <a:xfrm>
            <a:off x="3255264" y="886968"/>
            <a:ext cx="2834640" cy="4133088"/>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11" name="Shape 9"/>
          <p:cNvSpPr/>
          <p:nvPr/>
        </p:nvSpPr>
        <p:spPr>
          <a:xfrm>
            <a:off x="3255264" y="886968"/>
            <a:ext cx="2834640" cy="402336"/>
          </a:xfrm>
          <a:prstGeom prst="rect">
            <a:avLst/>
          </a:prstGeom>
          <a:solidFill>
            <a:srgbClr val="056DAE"/>
          </a:solidFill>
          <a:ln w="12700">
            <a:solidFill>
              <a:srgbClr val="056DAE"/>
            </a:solidFill>
            <a:prstDash val="solid"/>
          </a:ln>
        </p:spPr>
      </p:sp>
      <p:sp>
        <p:nvSpPr>
          <p:cNvPr id="12" name="Text 10"/>
          <p:cNvSpPr/>
          <p:nvPr/>
        </p:nvSpPr>
        <p:spPr>
          <a:xfrm>
            <a:off x="3346704" y="905256"/>
            <a:ext cx="2706624" cy="347472"/>
          </a:xfrm>
          <a:prstGeom prst="rect">
            <a:avLst/>
          </a:prstGeom>
          <a:noFill/>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IN PROGRESS</a:t>
            </a:r>
            <a:endParaRPr lang="en-US" sz="1150" dirty="0"/>
          </a:p>
        </p:txBody>
      </p:sp>
      <p:sp>
        <p:nvSpPr>
          <p:cNvPr id="13" name="Text 11"/>
          <p:cNvSpPr/>
          <p:nvPr/>
        </p:nvSpPr>
        <p:spPr>
          <a:xfrm>
            <a:off x="3383280" y="1371600"/>
            <a:ext cx="2633472" cy="3566160"/>
          </a:xfrm>
          <a:prstGeom prst="rect">
            <a:avLst/>
          </a:prstGeom>
          <a:noFill/>
        </p:spPr>
        <p:txBody>
          <a:bodyPr wrap="square" rtlCol="0" anchor="ctr"/>
          <a:lstStyle/>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Container: OpenShift Route YAML certificate scanning</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Container: GitHub repository integration (alongside Bitbucket)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Container: Auto-merge PR capability (currently requires team merge)</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VM: Improved seamless coexistence of old and new certificates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Enhanced weekly inventory reports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BCM (Baseline Configuration Management) module</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EOVS (End-of-Vendor-Support) vulnerability assessment</a:t>
            </a:r>
            <a:endParaRPr lang="en-US" sz="950" dirty="0"/>
          </a:p>
        </p:txBody>
      </p:sp>
      <p:sp>
        <p:nvSpPr>
          <p:cNvPr id="14" name="Shape 12"/>
          <p:cNvSpPr/>
          <p:nvPr/>
        </p:nvSpPr>
        <p:spPr>
          <a:xfrm>
            <a:off x="6236208" y="886968"/>
            <a:ext cx="2834640" cy="4133088"/>
          </a:xfrm>
          <a:prstGeom prst="rect">
            <a:avLst/>
          </a:prstGeom>
          <a:solidFill>
            <a:srgbClr val="EBF4FB"/>
          </a:solidFill>
          <a:ln w="6350">
            <a:solidFill>
              <a:srgbClr val="D6E8F5"/>
            </a:solidFill>
            <a:prstDash val="solid"/>
          </a:ln>
          <a:effectLst>
            <a:outerShdw blurRad="63500" dist="25400" dir="8100000" algn="bl" rotWithShape="0">
              <a:srgbClr val="000000">
                <a:alpha val="7000"/>
              </a:srgbClr>
            </a:outerShdw>
          </a:effectLst>
        </p:spPr>
      </p:sp>
      <p:sp>
        <p:nvSpPr>
          <p:cNvPr id="15" name="Shape 13"/>
          <p:cNvSpPr/>
          <p:nvPr/>
        </p:nvSpPr>
        <p:spPr>
          <a:xfrm>
            <a:off x="6236208" y="886968"/>
            <a:ext cx="2834640" cy="402336"/>
          </a:xfrm>
          <a:prstGeom prst="rect">
            <a:avLst/>
          </a:prstGeom>
          <a:solidFill>
            <a:srgbClr val="4A6080"/>
          </a:solidFill>
          <a:ln w="12700">
            <a:solidFill>
              <a:srgbClr val="4A6080"/>
            </a:solidFill>
            <a:prstDash val="solid"/>
          </a:ln>
        </p:spPr>
      </p:sp>
      <p:sp>
        <p:nvSpPr>
          <p:cNvPr id="16" name="Text 14"/>
          <p:cNvSpPr/>
          <p:nvPr/>
        </p:nvSpPr>
        <p:spPr>
          <a:xfrm>
            <a:off x="6327648" y="905256"/>
            <a:ext cx="2706624" cy="347472"/>
          </a:xfrm>
          <a:prstGeom prst="rect">
            <a:avLst/>
          </a:prstGeom>
          <a:noFill/>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PLANNED / FUTURE</a:t>
            </a:r>
            <a:endParaRPr lang="en-US" sz="1150" dirty="0"/>
          </a:p>
        </p:txBody>
      </p:sp>
      <p:sp>
        <p:nvSpPr>
          <p:cNvPr id="17" name="Text 15"/>
          <p:cNvSpPr/>
          <p:nvPr/>
        </p:nvSpPr>
        <p:spPr>
          <a:xfrm>
            <a:off x="6364224" y="1371600"/>
            <a:ext cx="2633472" cy="3566160"/>
          </a:xfrm>
          <a:prstGeom prst="rect">
            <a:avLst/>
          </a:prstGeom>
          <a:noFill/>
        </p:spPr>
        <p:txBody>
          <a:bodyPr wrap="square" rtlCol="0" anchor="ctr"/>
          <a:lstStyle/>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Provisioning Portal API integration (alternative cert provider)</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ACM (AWS Certificate Manager) provider support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Full application-level connection validation post-deployment</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Expanded VM product support beyond current 10 products</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Self-service CSI onboarding without PFY team intervention</a:t>
            </a:r>
            <a:endParaRPr lang="en-US" sz="950" dirty="0"/>
          </a:p>
          <a:p>
            <a:pPr marL="342900" indent="-342900">
              <a:spcAft>
                <a:spcPts val="500"/>
              </a:spcAft>
              <a:buSzPct val="100000"/>
              <a:buChar char="•"/>
            </a:pPr>
            <a:r>
              <a:rPr lang="en-US" sz="950" dirty="0">
                <a:solidFill>
                  <a:srgbClr val="1A2B40"/>
                </a:solidFill>
                <a:latin typeface="Calibri" pitchFamily="34" charset="0"/>
                <a:ea typeface="Calibri" pitchFamily="34" charset="-122"/>
                <a:cs typeface="Calibri" pitchFamily="34" charset="-120"/>
              </a:rPr>
              <a:t>Real-time cert health dashboard — centralised visibility for all CSIs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3B7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56DAE"/>
          </a:solidFill>
          <a:ln w="12700">
            <a:solidFill>
              <a:srgbClr val="056DAE"/>
            </a:solidFill>
            <a:prstDash val="solid"/>
          </a:ln>
        </p:spPr>
      </p:sp>
      <p:sp>
        <p:nvSpPr>
          <p:cNvPr id="3" name="Shape 1"/>
          <p:cNvSpPr/>
          <p:nvPr/>
        </p:nvSpPr>
        <p:spPr>
          <a:xfrm>
            <a:off x="201168" y="0"/>
            <a:ext cx="8942832" cy="73152"/>
          </a:xfrm>
          <a:prstGeom prst="rect">
            <a:avLst/>
          </a:prstGeom>
          <a:solidFill>
            <a:srgbClr val="056DAE"/>
          </a:solidFill>
          <a:ln w="12700">
            <a:solidFill>
              <a:srgbClr val="056DAE"/>
            </a:solidFill>
            <a:prstDash val="solid"/>
          </a:ln>
        </p:spPr>
      </p:sp>
      <p:sp>
        <p:nvSpPr>
          <p:cNvPr id="4" name="Text 2"/>
          <p:cNvSpPr/>
          <p:nvPr/>
        </p:nvSpPr>
        <p:spPr>
          <a:xfrm>
            <a:off x="384048" y="164592"/>
            <a:ext cx="8412480" cy="475488"/>
          </a:xfrm>
          <a:prstGeom prst="rect">
            <a:avLst/>
          </a:prstGeom>
          <a:noFill/>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CLM Is Close to the Ideal State</a:t>
            </a:r>
            <a:endParaRPr lang="en-US" sz="2200" dirty="0"/>
          </a:p>
        </p:txBody>
      </p:sp>
      <p:sp>
        <p:nvSpPr>
          <p:cNvPr id="5" name="Text 3"/>
          <p:cNvSpPr/>
          <p:nvPr/>
        </p:nvSpPr>
        <p:spPr>
          <a:xfrm>
            <a:off x="384048" y="640080"/>
            <a:ext cx="8412480" cy="256032"/>
          </a:xfrm>
          <a:prstGeom prst="rect">
            <a:avLst/>
          </a:prstGeom>
          <a:noFill/>
        </p:spPr>
        <p:txBody>
          <a:bodyPr wrap="square" lIns="0" tIns="0" rIns="0" bIns="0" rtlCol="0" anchor="ctr"/>
          <a:lstStyle/>
          <a:p>
            <a:pPr marL="0" indent="0">
              <a:buNone/>
            </a:pPr>
            <a:r>
              <a:rPr lang="en-US" sz="1100" i="1" dirty="0">
                <a:solidFill>
                  <a:srgbClr val="D6E8F5"/>
                </a:solidFill>
                <a:latin typeface="Calibri" pitchFamily="34" charset="0"/>
                <a:ea typeface="Calibri" pitchFamily="34" charset="-122"/>
                <a:cs typeface="Calibri" pitchFamily="34" charset="-120"/>
              </a:rPr>
              <a:t>Honest assessment of where CLM delivers and where the journey continues</a:t>
            </a:r>
            <a:endParaRPr lang="en-US" sz="1100" dirty="0"/>
          </a:p>
        </p:txBody>
      </p:sp>
      <p:sp>
        <p:nvSpPr>
          <p:cNvPr id="6" name="Shape 4"/>
          <p:cNvSpPr/>
          <p:nvPr/>
        </p:nvSpPr>
        <p:spPr>
          <a:xfrm>
            <a:off x="347472" y="987552"/>
            <a:ext cx="4206240" cy="274320"/>
          </a:xfrm>
          <a:prstGeom prst="rect">
            <a:avLst/>
          </a:prstGeom>
          <a:solidFill>
            <a:srgbClr val="056DAE">
              <a:alpha val="40000"/>
            </a:srgbClr>
          </a:solidFill>
          <a:ln w="12700">
            <a:solidFill>
              <a:srgbClr val="056DAE">
                <a:alpha val="60000"/>
              </a:srgbClr>
            </a:solidFill>
            <a:prstDash val="solid"/>
          </a:ln>
        </p:spPr>
      </p:sp>
      <p:sp>
        <p:nvSpPr>
          <p:cNvPr id="7" name="Text 5"/>
          <p:cNvSpPr/>
          <p:nvPr/>
        </p:nvSpPr>
        <p:spPr>
          <a:xfrm>
            <a:off x="438912" y="1005840"/>
            <a:ext cx="1280160" cy="219456"/>
          </a:xfrm>
          <a:prstGeom prst="rect">
            <a:avLst/>
          </a:prstGeom>
          <a:noFill/>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Ideal State Pillar</a:t>
            </a:r>
            <a:endParaRPr lang="en-US" sz="900" dirty="0"/>
          </a:p>
        </p:txBody>
      </p:sp>
      <p:sp>
        <p:nvSpPr>
          <p:cNvPr id="8" name="Text 6"/>
          <p:cNvSpPr/>
          <p:nvPr/>
        </p:nvSpPr>
        <p:spPr>
          <a:xfrm>
            <a:off x="1810512" y="1005840"/>
            <a:ext cx="914400" cy="219456"/>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VM</a:t>
            </a:r>
            <a:endParaRPr lang="en-US" sz="900" dirty="0"/>
          </a:p>
        </p:txBody>
      </p:sp>
      <p:sp>
        <p:nvSpPr>
          <p:cNvPr id="9" name="Text 7"/>
          <p:cNvSpPr/>
          <p:nvPr/>
        </p:nvSpPr>
        <p:spPr>
          <a:xfrm>
            <a:off x="2770632" y="1005840"/>
            <a:ext cx="1097280" cy="219456"/>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Container</a:t>
            </a:r>
            <a:endParaRPr lang="en-US" sz="900" dirty="0"/>
          </a:p>
        </p:txBody>
      </p:sp>
      <p:sp>
        <p:nvSpPr>
          <p:cNvPr id="10" name="Shape 8"/>
          <p:cNvSpPr/>
          <p:nvPr/>
        </p:nvSpPr>
        <p:spPr>
          <a:xfrm>
            <a:off x="347472" y="1316736"/>
            <a:ext cx="4206240" cy="566928"/>
          </a:xfrm>
          <a:prstGeom prst="rect">
            <a:avLst/>
          </a:prstGeom>
          <a:solidFill>
            <a:srgbClr val="FFFFFF">
              <a:alpha val="12000"/>
            </a:srgbClr>
          </a:solidFill>
          <a:ln w="12700">
            <a:solidFill>
              <a:srgbClr val="056DAE">
                <a:alpha val="25000"/>
              </a:srgbClr>
            </a:solidFill>
            <a:prstDash val="solid"/>
          </a:ln>
        </p:spPr>
      </p:sp>
      <p:sp>
        <p:nvSpPr>
          <p:cNvPr id="11" name="Text 9"/>
          <p:cNvSpPr/>
          <p:nvPr/>
        </p:nvSpPr>
        <p:spPr>
          <a:xfrm>
            <a:off x="438912" y="1463040"/>
            <a:ext cx="1298448" cy="256032"/>
          </a:xfrm>
          <a:prstGeom prst="rect">
            <a:avLst/>
          </a:prstGeom>
          <a:noFill/>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Full Visibility</a:t>
            </a:r>
            <a:endParaRPr lang="en-US" sz="950" dirty="0"/>
          </a:p>
        </p:txBody>
      </p:sp>
      <p:sp>
        <p:nvSpPr>
          <p:cNvPr id="12" name="Text 10"/>
          <p:cNvSpPr/>
          <p:nvPr/>
        </p:nvSpPr>
        <p:spPr>
          <a:xfrm>
            <a:off x="1810512" y="1463040"/>
            <a:ext cx="91440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13" name="Text 11"/>
          <p:cNvSpPr/>
          <p:nvPr/>
        </p:nvSpPr>
        <p:spPr>
          <a:xfrm>
            <a:off x="2770632" y="1463040"/>
            <a:ext cx="109728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14" name="Text 12"/>
          <p:cNvSpPr/>
          <p:nvPr/>
        </p:nvSpPr>
        <p:spPr>
          <a:xfrm>
            <a:off x="4800600" y="1408176"/>
            <a:ext cx="4005072" cy="384048"/>
          </a:xfrm>
          <a:prstGeom prst="rect">
            <a:avLst/>
          </a:prstGeom>
          <a:noFill/>
        </p:spPr>
        <p:txBody>
          <a:bodyPr wrap="square" lIns="0" tIns="0" rIns="0" bIns="0" rtlCol="0" anchor="ctr"/>
          <a:lstStyle/>
          <a:p>
            <a:pPr marL="0" indent="0">
              <a:buNone/>
            </a:pPr>
            <a:r>
              <a:rPr lang="en-US" sz="900" dirty="0">
                <a:solidFill>
                  <a:srgbClr val="D6E8F5"/>
                </a:solidFill>
                <a:latin typeface="Calibri" pitchFamily="34" charset="0"/>
                <a:ea typeface="Calibri" pitchFamily="34" charset="-122"/>
                <a:cs typeface="Calibri" pitchFamily="34" charset="-120"/>
              </a:rPr>
              <a:t>VM: 10 products via AutoScan  |  Container: NGC Vault-stored certs</a:t>
            </a:r>
            <a:endParaRPr lang="en-US" sz="900" dirty="0"/>
          </a:p>
        </p:txBody>
      </p:sp>
      <p:sp>
        <p:nvSpPr>
          <p:cNvPr id="15" name="Shape 13"/>
          <p:cNvSpPr/>
          <p:nvPr/>
        </p:nvSpPr>
        <p:spPr>
          <a:xfrm>
            <a:off x="347472" y="1920240"/>
            <a:ext cx="4206240" cy="566928"/>
          </a:xfrm>
          <a:prstGeom prst="rect">
            <a:avLst/>
          </a:prstGeom>
          <a:solidFill>
            <a:srgbClr val="D6E8F5">
              <a:alpha val="12000"/>
            </a:srgbClr>
          </a:solidFill>
          <a:ln w="12700">
            <a:solidFill>
              <a:srgbClr val="056DAE">
                <a:alpha val="25000"/>
              </a:srgbClr>
            </a:solidFill>
            <a:prstDash val="solid"/>
          </a:ln>
        </p:spPr>
      </p:sp>
      <p:sp>
        <p:nvSpPr>
          <p:cNvPr id="16" name="Text 14"/>
          <p:cNvSpPr/>
          <p:nvPr/>
        </p:nvSpPr>
        <p:spPr>
          <a:xfrm>
            <a:off x="438912" y="2066544"/>
            <a:ext cx="1298448" cy="256032"/>
          </a:xfrm>
          <a:prstGeom prst="rect">
            <a:avLst/>
          </a:prstGeom>
          <a:noFill/>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Zero-Touch Renewal</a:t>
            </a:r>
            <a:endParaRPr lang="en-US" sz="950" dirty="0"/>
          </a:p>
        </p:txBody>
      </p:sp>
      <p:sp>
        <p:nvSpPr>
          <p:cNvPr id="17" name="Text 15"/>
          <p:cNvSpPr/>
          <p:nvPr/>
        </p:nvSpPr>
        <p:spPr>
          <a:xfrm>
            <a:off x="1810512" y="2066544"/>
            <a:ext cx="91440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18" name="Text 16"/>
          <p:cNvSpPr/>
          <p:nvPr/>
        </p:nvSpPr>
        <p:spPr>
          <a:xfrm>
            <a:off x="2770632" y="2066544"/>
            <a:ext cx="109728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19" name="Text 17"/>
          <p:cNvSpPr/>
          <p:nvPr/>
        </p:nvSpPr>
        <p:spPr>
          <a:xfrm>
            <a:off x="4800600" y="2011680"/>
            <a:ext cx="4005072" cy="384048"/>
          </a:xfrm>
          <a:prstGeom prst="rect">
            <a:avLst/>
          </a:prstGeom>
          <a:noFill/>
        </p:spPr>
        <p:txBody>
          <a:bodyPr wrap="square" lIns="0" tIns="0" rIns="0" bIns="0" rtlCol="0" anchor="ctr"/>
          <a:lstStyle/>
          <a:p>
            <a:pPr marL="0" indent="0">
              <a:buNone/>
            </a:pPr>
            <a:r>
              <a:rPr lang="en-US" sz="900" dirty="0">
                <a:solidFill>
                  <a:srgbClr val="D6E8F5"/>
                </a:solidFill>
                <a:latin typeface="Calibri" pitchFamily="34" charset="0"/>
                <a:ea typeface="Calibri" pitchFamily="34" charset="-122"/>
                <a:cs typeface="Calibri" pitchFamily="34" charset="-120"/>
              </a:rPr>
              <a:t>Both: 60-day SLA auto-renewal. Container: PR auto-created if FID write access</a:t>
            </a:r>
            <a:endParaRPr lang="en-US" sz="900" dirty="0"/>
          </a:p>
        </p:txBody>
      </p:sp>
      <p:sp>
        <p:nvSpPr>
          <p:cNvPr id="20" name="Shape 18"/>
          <p:cNvSpPr/>
          <p:nvPr/>
        </p:nvSpPr>
        <p:spPr>
          <a:xfrm>
            <a:off x="347472" y="2523744"/>
            <a:ext cx="4206240" cy="566928"/>
          </a:xfrm>
          <a:prstGeom prst="rect">
            <a:avLst/>
          </a:prstGeom>
          <a:solidFill>
            <a:srgbClr val="FFFFFF">
              <a:alpha val="12000"/>
            </a:srgbClr>
          </a:solidFill>
          <a:ln w="12700">
            <a:solidFill>
              <a:srgbClr val="056DAE">
                <a:alpha val="25000"/>
              </a:srgbClr>
            </a:solidFill>
            <a:prstDash val="solid"/>
          </a:ln>
        </p:spPr>
      </p:sp>
      <p:sp>
        <p:nvSpPr>
          <p:cNvPr id="21" name="Text 19"/>
          <p:cNvSpPr/>
          <p:nvPr/>
        </p:nvSpPr>
        <p:spPr>
          <a:xfrm>
            <a:off x="438912" y="2670048"/>
            <a:ext cx="1298448" cy="256032"/>
          </a:xfrm>
          <a:prstGeom prst="rect">
            <a:avLst/>
          </a:prstGeom>
          <a:noFill/>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Impact Awareness</a:t>
            </a:r>
            <a:endParaRPr lang="en-US" sz="950" dirty="0"/>
          </a:p>
        </p:txBody>
      </p:sp>
      <p:sp>
        <p:nvSpPr>
          <p:cNvPr id="22" name="Text 20"/>
          <p:cNvSpPr/>
          <p:nvPr/>
        </p:nvSpPr>
        <p:spPr>
          <a:xfrm>
            <a:off x="1810512" y="2670048"/>
            <a:ext cx="914400" cy="256032"/>
          </a:xfrm>
          <a:prstGeom prst="rect">
            <a:avLst/>
          </a:prstGeom>
          <a:noFill/>
        </p:spPr>
        <p:txBody>
          <a:bodyPr wrap="square" lIns="0" tIns="0" rIns="0" bIns="0" rtlCol="0" anchor="ctr"/>
          <a:lstStyle/>
          <a:p>
            <a:pPr marL="0" indent="0" algn="ctr">
              <a:buNone/>
            </a:pPr>
            <a:r>
              <a:rPr lang="en-US" sz="900" b="1" dirty="0">
                <a:solidFill>
                  <a:srgbClr val="7C5C00"/>
                </a:solidFill>
                <a:latin typeface="Calibri" pitchFamily="34" charset="0"/>
                <a:ea typeface="Calibri" pitchFamily="34" charset="-122"/>
                <a:cs typeface="Calibri" pitchFamily="34" charset="-120"/>
              </a:rPr>
              <a:t>⚡ Partial</a:t>
            </a:r>
            <a:endParaRPr lang="en-US" sz="900" dirty="0"/>
          </a:p>
        </p:txBody>
      </p:sp>
      <p:sp>
        <p:nvSpPr>
          <p:cNvPr id="23" name="Text 21"/>
          <p:cNvSpPr/>
          <p:nvPr/>
        </p:nvSpPr>
        <p:spPr>
          <a:xfrm>
            <a:off x="2770632" y="2670048"/>
            <a:ext cx="1097280" cy="256032"/>
          </a:xfrm>
          <a:prstGeom prst="rect">
            <a:avLst/>
          </a:prstGeom>
          <a:noFill/>
        </p:spPr>
        <p:txBody>
          <a:bodyPr wrap="square" lIns="0" tIns="0" rIns="0" bIns="0" rtlCol="0" anchor="ctr"/>
          <a:lstStyle/>
          <a:p>
            <a:pPr marL="0" indent="0" algn="ctr">
              <a:buNone/>
            </a:pPr>
            <a:r>
              <a:rPr lang="en-US" sz="900" b="1" dirty="0">
                <a:solidFill>
                  <a:srgbClr val="7C5C00"/>
                </a:solidFill>
                <a:latin typeface="Calibri" pitchFamily="34" charset="0"/>
                <a:ea typeface="Calibri" pitchFamily="34" charset="-122"/>
                <a:cs typeface="Calibri" pitchFamily="34" charset="-120"/>
              </a:rPr>
              <a:t>⚡ Partial</a:t>
            </a:r>
            <a:endParaRPr lang="en-US" sz="900" dirty="0"/>
          </a:p>
        </p:txBody>
      </p:sp>
      <p:sp>
        <p:nvSpPr>
          <p:cNvPr id="24" name="Text 22"/>
          <p:cNvSpPr/>
          <p:nvPr/>
        </p:nvSpPr>
        <p:spPr>
          <a:xfrm>
            <a:off x="4800600" y="2615184"/>
            <a:ext cx="4005072" cy="384048"/>
          </a:xfrm>
          <a:prstGeom prst="rect">
            <a:avLst/>
          </a:prstGeom>
          <a:noFill/>
        </p:spPr>
        <p:txBody>
          <a:bodyPr wrap="square" lIns="0" tIns="0" rIns="0" bIns="0" rtlCol="0" anchor="ctr"/>
          <a:lstStyle/>
          <a:p>
            <a:pPr marL="0" indent="0">
              <a:buNone/>
            </a:pPr>
            <a:r>
              <a:rPr lang="en-US" sz="900" dirty="0">
                <a:solidFill>
                  <a:srgbClr val="D6E8F5"/>
                </a:solidFill>
                <a:latin typeface="Calibri" pitchFamily="34" charset="0"/>
                <a:ea typeface="Calibri" pitchFamily="34" charset="-122"/>
                <a:cs typeface="Calibri" pitchFamily="34" charset="-120"/>
              </a:rPr>
              <a:t>VM: AppD+Server Scan  |  Container: BB/GitHub scan. Gap: repo URL must be configured</a:t>
            </a:r>
            <a:endParaRPr lang="en-US" sz="900" dirty="0"/>
          </a:p>
        </p:txBody>
      </p:sp>
      <p:sp>
        <p:nvSpPr>
          <p:cNvPr id="25" name="Shape 23"/>
          <p:cNvSpPr/>
          <p:nvPr/>
        </p:nvSpPr>
        <p:spPr>
          <a:xfrm>
            <a:off x="347472" y="3127248"/>
            <a:ext cx="4206240" cy="566928"/>
          </a:xfrm>
          <a:prstGeom prst="rect">
            <a:avLst/>
          </a:prstGeom>
          <a:solidFill>
            <a:srgbClr val="D6E8F5">
              <a:alpha val="12000"/>
            </a:srgbClr>
          </a:solidFill>
          <a:ln w="12700">
            <a:solidFill>
              <a:srgbClr val="056DAE">
                <a:alpha val="25000"/>
              </a:srgbClr>
            </a:solidFill>
            <a:prstDash val="solid"/>
          </a:ln>
        </p:spPr>
      </p:sp>
      <p:sp>
        <p:nvSpPr>
          <p:cNvPr id="26" name="Text 24"/>
          <p:cNvSpPr/>
          <p:nvPr/>
        </p:nvSpPr>
        <p:spPr>
          <a:xfrm>
            <a:off x="438912" y="3273552"/>
            <a:ext cx="1298448" cy="256032"/>
          </a:xfrm>
          <a:prstGeom prst="rect">
            <a:avLst/>
          </a:prstGeom>
          <a:noFill/>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Automated in Greenzone Time</a:t>
            </a:r>
            <a:endParaRPr lang="en-US" sz="950" dirty="0"/>
          </a:p>
        </p:txBody>
      </p:sp>
      <p:sp>
        <p:nvSpPr>
          <p:cNvPr id="27" name="Text 25"/>
          <p:cNvSpPr/>
          <p:nvPr/>
        </p:nvSpPr>
        <p:spPr>
          <a:xfrm>
            <a:off x="1810512" y="3273552"/>
            <a:ext cx="91440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28" name="Text 26"/>
          <p:cNvSpPr/>
          <p:nvPr/>
        </p:nvSpPr>
        <p:spPr>
          <a:xfrm>
            <a:off x="2770632" y="3273552"/>
            <a:ext cx="1097280" cy="256032"/>
          </a:xfrm>
          <a:prstGeom prst="rect">
            <a:avLst/>
          </a:prstGeom>
          <a:noFill/>
        </p:spPr>
        <p:txBody>
          <a:bodyPr wrap="square" lIns="0" tIns="0" rIns="0" bIns="0" rtlCol="0" anchor="ctr"/>
          <a:lstStyle/>
          <a:p>
            <a:pPr marL="0" indent="0" algn="ctr">
              <a:buNone/>
            </a:pPr>
            <a:r>
              <a:rPr lang="en-US" sz="900" b="1" dirty="0">
                <a:solidFill>
                  <a:srgbClr val="7C5C00"/>
                </a:solidFill>
                <a:latin typeface="Calibri" pitchFamily="34" charset="0"/>
                <a:ea typeface="Calibri" pitchFamily="34" charset="-122"/>
                <a:cs typeface="Calibri" pitchFamily="34" charset="-120"/>
              </a:rPr>
              <a:t>⚡ Partial</a:t>
            </a:r>
            <a:endParaRPr lang="en-US" sz="900" dirty="0"/>
          </a:p>
        </p:txBody>
      </p:sp>
      <p:sp>
        <p:nvSpPr>
          <p:cNvPr id="29" name="Text 27"/>
          <p:cNvSpPr/>
          <p:nvPr/>
        </p:nvSpPr>
        <p:spPr>
          <a:xfrm>
            <a:off x="4800600" y="3218688"/>
            <a:ext cx="4005072" cy="384048"/>
          </a:xfrm>
          <a:prstGeom prst="rect">
            <a:avLst/>
          </a:prstGeom>
          <a:noFill/>
        </p:spPr>
        <p:txBody>
          <a:bodyPr wrap="square" lIns="0" tIns="0" rIns="0" bIns="0" rtlCol="0" anchor="ctr"/>
          <a:lstStyle/>
          <a:p>
            <a:pPr marL="0" indent="0">
              <a:buNone/>
            </a:pPr>
            <a:r>
              <a:rPr lang="en-US" sz="900" dirty="0">
                <a:solidFill>
                  <a:srgbClr val="D6E8F5"/>
                </a:solidFill>
                <a:latin typeface="Calibri" pitchFamily="34" charset="0"/>
                <a:ea typeface="Calibri" pitchFamily="34" charset="-122"/>
                <a:cs typeface="Calibri" pitchFamily="34" charset="-120"/>
              </a:rPr>
              <a:t>VM: Full Ansible automation  |  Container: PR merge still needs team action</a:t>
            </a:r>
            <a:endParaRPr lang="en-US" sz="900" dirty="0"/>
          </a:p>
        </p:txBody>
      </p:sp>
      <p:sp>
        <p:nvSpPr>
          <p:cNvPr id="30" name="Shape 28"/>
          <p:cNvSpPr/>
          <p:nvPr/>
        </p:nvSpPr>
        <p:spPr>
          <a:xfrm>
            <a:off x="347472" y="3730752"/>
            <a:ext cx="4206240" cy="566928"/>
          </a:xfrm>
          <a:prstGeom prst="rect">
            <a:avLst/>
          </a:prstGeom>
          <a:solidFill>
            <a:srgbClr val="FFFFFF">
              <a:alpha val="12000"/>
            </a:srgbClr>
          </a:solidFill>
          <a:ln w="12700">
            <a:solidFill>
              <a:srgbClr val="056DAE">
                <a:alpha val="25000"/>
              </a:srgbClr>
            </a:solidFill>
            <a:prstDash val="solid"/>
          </a:ln>
        </p:spPr>
      </p:sp>
      <p:sp>
        <p:nvSpPr>
          <p:cNvPr id="31" name="Text 29"/>
          <p:cNvSpPr/>
          <p:nvPr/>
        </p:nvSpPr>
        <p:spPr>
          <a:xfrm>
            <a:off x="438912" y="3877056"/>
            <a:ext cx="1298448" cy="256032"/>
          </a:xfrm>
          <a:prstGeom prst="rect">
            <a:avLst/>
          </a:prstGeom>
          <a:noFill/>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Full Audit &amp; Compliance</a:t>
            </a:r>
            <a:endParaRPr lang="en-US" sz="950" dirty="0"/>
          </a:p>
        </p:txBody>
      </p:sp>
      <p:sp>
        <p:nvSpPr>
          <p:cNvPr id="32" name="Text 30"/>
          <p:cNvSpPr/>
          <p:nvPr/>
        </p:nvSpPr>
        <p:spPr>
          <a:xfrm>
            <a:off x="1810512" y="3877056"/>
            <a:ext cx="91440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33" name="Text 31"/>
          <p:cNvSpPr/>
          <p:nvPr/>
        </p:nvSpPr>
        <p:spPr>
          <a:xfrm>
            <a:off x="2770632" y="3877056"/>
            <a:ext cx="109728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34" name="Text 32"/>
          <p:cNvSpPr/>
          <p:nvPr/>
        </p:nvSpPr>
        <p:spPr>
          <a:xfrm>
            <a:off x="4800600" y="3822192"/>
            <a:ext cx="4005072" cy="384048"/>
          </a:xfrm>
          <a:prstGeom prst="rect">
            <a:avLst/>
          </a:prstGeom>
          <a:noFill/>
        </p:spPr>
        <p:txBody>
          <a:bodyPr wrap="square" lIns="0" tIns="0" rIns="0" bIns="0" rtlCol="0" anchor="ctr"/>
          <a:lstStyle/>
          <a:p>
            <a:pPr marL="0" indent="0">
              <a:buNone/>
            </a:pPr>
            <a:r>
              <a:rPr lang="en-US" sz="900" dirty="0">
                <a:solidFill>
                  <a:srgbClr val="D6E8F5"/>
                </a:solidFill>
                <a:latin typeface="Calibri" pitchFamily="34" charset="0"/>
                <a:ea typeface="Calibri" pitchFamily="34" charset="-122"/>
                <a:cs typeface="Calibri" pitchFamily="34" charset="-120"/>
              </a:rPr>
              <a:t>MongoDB audit log, SNOW CR, 11 notification types — both workloads</a:t>
            </a:r>
            <a:endParaRPr lang="en-US" sz="900" dirty="0"/>
          </a:p>
        </p:txBody>
      </p:sp>
      <p:sp>
        <p:nvSpPr>
          <p:cNvPr id="35" name="Shape 33"/>
          <p:cNvSpPr/>
          <p:nvPr/>
        </p:nvSpPr>
        <p:spPr>
          <a:xfrm>
            <a:off x="347472" y="4334256"/>
            <a:ext cx="4206240" cy="566928"/>
          </a:xfrm>
          <a:prstGeom prst="rect">
            <a:avLst/>
          </a:prstGeom>
          <a:solidFill>
            <a:srgbClr val="D6E8F5">
              <a:alpha val="12000"/>
            </a:srgbClr>
          </a:solidFill>
          <a:ln w="12700">
            <a:solidFill>
              <a:srgbClr val="056DAE">
                <a:alpha val="25000"/>
              </a:srgbClr>
            </a:solidFill>
            <a:prstDash val="solid"/>
          </a:ln>
        </p:spPr>
      </p:sp>
      <p:sp>
        <p:nvSpPr>
          <p:cNvPr id="36" name="Text 34"/>
          <p:cNvSpPr/>
          <p:nvPr/>
        </p:nvSpPr>
        <p:spPr>
          <a:xfrm>
            <a:off x="438912" y="4480560"/>
            <a:ext cx="1298448" cy="256032"/>
          </a:xfrm>
          <a:prstGeom prst="rect">
            <a:avLst/>
          </a:prstGeom>
          <a:noFill/>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Proactive Governance</a:t>
            </a:r>
            <a:endParaRPr lang="en-US" sz="950" dirty="0"/>
          </a:p>
        </p:txBody>
      </p:sp>
      <p:sp>
        <p:nvSpPr>
          <p:cNvPr id="37" name="Text 35"/>
          <p:cNvSpPr/>
          <p:nvPr/>
        </p:nvSpPr>
        <p:spPr>
          <a:xfrm>
            <a:off x="1810512" y="4480560"/>
            <a:ext cx="91440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38" name="Text 36"/>
          <p:cNvSpPr/>
          <p:nvPr/>
        </p:nvSpPr>
        <p:spPr>
          <a:xfrm>
            <a:off x="2770632" y="4480560"/>
            <a:ext cx="1097280" cy="256032"/>
          </a:xfrm>
          <a:prstGeom prst="rect">
            <a:avLst/>
          </a:prstGeom>
          <a:noFill/>
        </p:spPr>
        <p:txBody>
          <a:bodyPr wrap="square" lIns="0" tIns="0" rIns="0" bIns="0" rtlCol="0" anchor="ctr"/>
          <a:lstStyle/>
          <a:p>
            <a:pPr marL="0" indent="0" algn="ctr">
              <a:buNone/>
            </a:pPr>
            <a:r>
              <a:rPr lang="en-US" sz="900" b="1" dirty="0">
                <a:solidFill>
                  <a:srgbClr val="1A6632"/>
                </a:solidFill>
                <a:latin typeface="Calibri" pitchFamily="34" charset="0"/>
                <a:ea typeface="Calibri" pitchFamily="34" charset="-122"/>
                <a:cs typeface="Calibri" pitchFamily="34" charset="-120"/>
              </a:rPr>
              <a:t>✅ Achieved</a:t>
            </a:r>
            <a:endParaRPr lang="en-US" sz="900" dirty="0"/>
          </a:p>
        </p:txBody>
      </p:sp>
      <p:sp>
        <p:nvSpPr>
          <p:cNvPr id="39" name="Text 37"/>
          <p:cNvSpPr/>
          <p:nvPr/>
        </p:nvSpPr>
        <p:spPr>
          <a:xfrm>
            <a:off x="4800600" y="4425696"/>
            <a:ext cx="4005072" cy="384048"/>
          </a:xfrm>
          <a:prstGeom prst="rect">
            <a:avLst/>
          </a:prstGeom>
          <a:noFill/>
        </p:spPr>
        <p:txBody>
          <a:bodyPr wrap="square" lIns="0" tIns="0" rIns="0" bIns="0" rtlCol="0" anchor="ctr"/>
          <a:lstStyle/>
          <a:p>
            <a:pPr marL="0" indent="0">
              <a:buNone/>
            </a:pPr>
            <a:r>
              <a:rPr lang="en-US" sz="900" dirty="0">
                <a:solidFill>
                  <a:srgbClr val="D6E8F5"/>
                </a:solidFill>
                <a:latin typeface="Calibri" pitchFamily="34" charset="0"/>
                <a:ea typeface="Calibri" pitchFamily="34" charset="-122"/>
                <a:cs typeface="Calibri" pitchFamily="34" charset="-120"/>
              </a:rPr>
              <a:t>RBAC, escalation matrix, notification framework — fully live</a:t>
            </a:r>
            <a:endParaRPr lang="en-US" sz="900" dirty="0"/>
          </a:p>
        </p:txBody>
      </p:sp>
      <p:sp>
        <p:nvSpPr>
          <p:cNvPr id="40" name="Text 38"/>
          <p:cNvSpPr/>
          <p:nvPr/>
        </p:nvSpPr>
        <p:spPr>
          <a:xfrm>
            <a:off x="347472" y="4800600"/>
            <a:ext cx="8412480" cy="256032"/>
          </a:xfrm>
          <a:prstGeom prst="rect">
            <a:avLst/>
          </a:prstGeom>
          <a:noFill/>
        </p:spPr>
        <p:txBody>
          <a:bodyPr wrap="square" lIns="0" tIns="0" rIns="0" bIns="0" rtlCol="0" anchor="ctr"/>
          <a:lstStyle/>
          <a:p>
            <a:pPr marL="0" indent="0">
              <a:buNone/>
            </a:pPr>
            <a:r>
              <a:rPr lang="en-US" sz="1100" b="1" i="1" dirty="0">
                <a:solidFill>
                  <a:srgbClr val="056DAE"/>
                </a:solidFill>
                <a:latin typeface="Calibri" pitchFamily="34" charset="0"/>
                <a:ea typeface="Calibri" pitchFamily="34" charset="-122"/>
                <a:cs typeface="Calibri" pitchFamily="34" charset="-120"/>
              </a:rPr>
              <a:t>CLM achieves or substantially meets 5 of 6 ideal state pillars for VM certificates today. Container management is accelerating — 4 pillars achieved, 2 in active progress.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19952</Words>
  <Application>WPS Writer</Application>
  <PresentationFormat>On-screen Show (16:9)</PresentationFormat>
  <Paragraphs>619</Paragraphs>
  <Slides>14</Slides>
  <Notes>14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Calibri</vt:lpstr>
      <vt:lpstr>Helvetica Neue</vt:lpstr>
      <vt:lpstr>Calibri</vt:lpstr>
      <vt:lpstr>Calibri</vt:lpstr>
      <vt:lpstr>Microsoft YaHei</vt:lpstr>
      <vt:lpstr>汉仪旗黑</vt:lpstr>
      <vt:lpstr>Arial Unicode MS</vt:lpstr>
      <vt:lpstr>宋体-简</vt:lpstr>
      <vt:lpstr>Apple Color Emoji</vt:lpstr>
      <vt:lpstr>Apple Symbols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CLM – Certificate Lifecycle Management</dc:title>
  <dc:creator>PptxGenJS</dc:creator>
  <dc:subject>PptxGenJS Presentation</dc:subject>
  <cp:lastModifiedBy>RamyaRakesh</cp:lastModifiedBy>
  <cp:revision>7</cp:revision>
  <dcterms:created xsi:type="dcterms:W3CDTF">2026-03-21T10:44:27Z</dcterms:created>
  <dcterms:modified xsi:type="dcterms:W3CDTF">2026-03-21T10:44:27Z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1033-5.7.1.8093</vt:lpwstr>
  </property>
</Properties>
</file>